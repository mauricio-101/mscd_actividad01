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Buenos días/tardes. El día de hoy hablaremos de los Sistemas Expertos, una de las ramas más influyentes de la Inteligencia Artificial. Durante los próximos minutos veremos qué son, cómo se construyen, cómo funcionan internamente, y por qué, a pesar de tener más de cincuenta años de historia, siguen vigentes en la IA moderna. El objetivo es que al final comprendan no solo la teoría, sino también ejemplos reales como DENDRAL, MYCIN y XCON.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Comencemos preguntándonos algo simple: ¿qué pasa cuando un experto humano no está disponible? Un médico especialista, un ingeniero senior o un analista financiero con veinte años de experiencia no pueden estar en todos lados al mismo tiempo. Los Sistemas Expertos surgen exactamente de ese problema: tomar el conocimiento de ese experto, codificarlo, y ponerlo a disposición de quien lo necesite, las veces que se necesite, sin fatiga y sin que el experto esté físicamente presente. Es una rama de la Inteligencia Artificial simbólica, y la veremos a detalle en las siguientes diapositivas.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Formalmente, un Sistema Experto es un programa de cómputo diseñado para simular la capacidad de toma de decisiones de un experto humano, pero solo dentro de un dominio acotado: no es inteligencia general, es inteligencia muy especializada. La idea clave que quiero que se queden es esta ecuación: Base de Conocimiento más Motor de Inferencia es igual a Sistema Experto. Sin conocimiento no hay nada que razonar, y sin un motor de inferencia ese conocimiento es solo una lista estática de datos. Además, algo que los distingue de muchos modelos de IA actuales es que pueden explicar el porqué de su conclusión, no solo darla.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historia de los Sistemas Expertos empieza en 1965 con DENDRAL, en Stanford, que interpretaba espectros de masas para identificar la estructura de moléculas orgánicas: fue el primer Sistema Experto reconocido. Poco después, entre 1972 y 1976, aparece MYCIN, que usaba alrededor de 600 reglas para diagnosticar infecciones bacterianas y sugerir antibióticos; aunque nunca se usó clínicamente por temas éticos y legales, demostró que el enfoque funcionaba. En 1980, XCON, también llamado R1, se convirtió en el primer gran éxito comercial: configuraba automáticamente computadoras VAX para Digital Equipment Corporation, ahorrando millones de dólares. Esto disparó un auge comercial en los años 80 con herramientas como EMYCIN, pero hacia 1987 llegó el llamado invierno de los Sistemas Expertos: mantenerlos resultó muy costoso y rígido frente a dominios cambiantes. Desde los años 2000, su lógica se integra con machine learning en sistemas híbridos.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Antes de hablar de la base de conocimiento, conviene aclarar qué entendemos por “conocimiento”. Usamos la jerarquía Dato-Información-Conocimiento-Sabiduría. Un dato es un hecho aislado, por ejemplo 38.5 grados. Si le damos contexto, por ejemplo que es la temperatura corporal de un paciente, se convierte en información. Cuando interpretamos esa información con experiencia y concluimos algo —fiebre alta, posible infección— ya hablamos de conocimiento. Y la sabiduría es saber cuándo y cómo aplicar ese conocimiento en la práctica. Los Sistemas Expertos trabajan principalmente con conocimiento explícito, es decir, documentable; el conocimiento tácito, la intuición que un experto no siempre puede poner en palabras, sigue siendo el reto más grande al construir estos sistemas.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base de conocimiento es, literalmente, la memoria del Sistema Experto: ahí viven los hechos y las reglas del dominio. No se escribe de la nada; se construye mediante un proceso llamado ingeniería del conocimiento, donde un especialista entrevista al experto humano, observa casos reales y revisa documentación técnica para traducir ese saber en una forma que la máquina pueda procesar. Existen varias formas de representarlo, pero la más común, sobre todo en los primeros Sistemas Expertos, son las reglas de producción tipo SI-ENTONCES, como la que ven en pantalla. Algo fundamental: si la base de conocimiento tiene errores o está incompleta, el sistema completo falla, sin importar qué tan bueno sea el motor de inferencia.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 la base de conocimiento es la memoria, el motor de inferencia es el cerebro: es quien efectivamente razona. Lo hace principalmente de dos formas. El encadenamiento hacia adelante parte de los hechos que ya conocemos y va activando reglas hasta llegar a una conclusión nueva; es como ir sumando evidencia hasta llegar a un diagnóstico. El encadenamiento hacia atrás funciona al revés: parte de una hipótesis —por ejemplo, “sospecho que es neumonía”— y busca específicamente los hechos que confirmarían o refutarían esa hipótesis, algo muy parecido a como razona un médico cuando ya tiene una sospecha diagnóstica. Cuando varias reglas podrían aplicar al mismo tiempo, el motor también necesita una estrategia para decidir cuál disparar primero.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Pongamos ahora todas las piezas juntas. Un experto humano alimenta, mediante un módulo de adquisición de conocimiento, la base de conocimiento. Esa base se conecta directamente con el motor de inferencia, que es quien procesa las reglas. El motor de inferencia se comunica con la interfaz de usuario, que es el puente con la persona que usa el sistema. Y, de forma transversal, el módulo de explicación permite que, en cualquier momento, el sistema justifique frente al usuario por qué llegó a determinada conclusión, mostrando qué reglas se activaron y en qué orden. Estos cinco elementos —experto, base de conocimiento, motor de inferencia, interfaz y módulo de explicación— son el esqueleto común a prácticamente todos los Sistemas Expertos, sin importar el dominio en el que se apliquen.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Veamos el ciclo completo en acción, paso a paso. Primero, el usuario captura datos del problema a través de la interfaz: síntomas, mediciones, parámetros, lo que sea relevante para el dominio. Segundo, el motor de inferencia compara esos hechos contra todas las reglas disponibles en la base de conocimiento. Tercero, se activan únicamente las reglas cuya condición se cumple; esto puede repetirse varias veces, encadenando una regla tras otra, hasta que ya no se puedan activar más reglas nuevas. Cuarto, el sistema llega a una conclusión: un diagnóstico, una recomendación, una clasificación. Y quinto, si el usuario lo solicita, el módulo de explicación puede mostrar exactamente qué camino de reglas se siguió para llegar ahí.</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todos los Sistemas Expertos razonan igual. Los basados en reglas son el tipo clásico y el más extendido, y son el tema de la siguiente diapositiva. Los basados en casos, o CBR por sus siglas en inglés, en lugar de aplicar reglas abstractas resuelven un problema nuevo buscando el caso más parecido que ya se resolvió antes y adaptando esa solución. Los basados en lógica difusa permiten trabajar con términos imprecisos del lenguaje natural, como “temperatura alta” o “riesgo moderado”, en vez de exigir umbrales exactos. Y finalmente los híbridos combinan estas técnicas simbólicas con redes neuronales o aprendizaje automático, aprovechando lo mejor de ambos mundos.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Profundicemos en el tipo más representativo: los Sistemas Expertos basados en reglas. Su unidad básica es la regla de producción, con la estructura SI-condición-ENTONCES-conclusión, igual a la que vimos para la base de conocimiento. Su gran ventaja es que cada regla es legible y auditable por separado: un experto puede revisar la regla 247 sin tener que entender todo el sistema. El ejemplo histórico obligado es MYCIN, desarrollado en Stanford entre 1972 y 1976, que llegó a tener alrededor de 600 reglas para diagnosticar infecciones bacterianas graves y recomendar el antibiótico adecuado; en pruebas controladas, igualó o superó a médicos especialistas, aunque nunca se desplegó clínicamente por cuestiones éticas y de responsabilidad legal. La gran limitación de este enfoque es que, conforme el dominio crece, el número de reglas puede dispararse y generar conflictos entre ellas, complicando el mantenimiento.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Como toda tecnología, los Sistemas Expertos tienen un balance claro de pros y contras. Entre las ventajas: están disponibles las 24 horas, no se cansan ni olvidan, y cada decisión que toman es consistente y se puede rastrear regla por regla. Esto los hace excelentes para preservar conocimiento experto que de otra forma se perdería al jubilarse esa persona, y para capacitar más rápido a personal nuevo. Pero también tienen límites importantes: no tienen sentido común fuera de su dominio exacto —si MYCIN recibe una pregunta de finanzas, simplemente no sabe qué hacer—; son costosos de construir y, sobre todo, de mantener, porque cada cambio en el dominio implica revisar y actualizar reglas manualmente; y, a diferencia del machine learning, no aprenden solos de la experiencia: alguien tiene que enseñarles explícitamente cada regla nueva.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Lejos de ser tecnología obsoleta, los Sistemas Expertos siguen trabajando hoy en cuatro áreas muy concretas. En medicina, dan apoyo al diagnóstico y a la recomendación de tratamientos, siendo herederos directos de lo que MYCIN demostró hace cincuenta años. En finanzas, evalúan riesgo crediticio, detectan patrones de fraude y asisten en decisiones de inversión, todo basado en reglas auditables, algo crítico en un sector tan regulado. En la industria, automatizan la configuración de productos complejos —retomando exactamente lo que hacía XCON con las computadoras VAX— y apoyan el mantenimiento predictivo de maquinaria. Y en ciberseguridad, son la base de los sistemas de detección de intrusos y de las reglas que definen cómo responder automáticamente ante un incidente, algo muy presente en áreas como la gestión de un SGSI.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 cerrar el bloque técnico, ubiquemos a los Sistemas Expertos dentro del mapa general de la Inteligencia Artificial. La IA siempre se ha dividido, a grandes rasgos, en dos grandes corrientes: la IA simbólica, donde el conocimiento se representa de forma explícita mediante reglas y lógica —aquí viven los Sistemas Expertos— y la IA basada en datos, donde modelos como las redes neuronales o los grandes modelos de lenguaje aprenden patrones a partir de enormes cantidades de ejemplos, sin que nadie programe reglas a mano. La IA moderna no vino a sustituir a los Sistemas Expertos: en muchos casos los combina, dando lugar a sistemas híbridos neuro-simbólicos. Y es interesante notar que ideas centrales de los Sistemas Expertos, como la explicabilidad y el razonamiento paso a paso, están resurgiendo hoy en los modelos de lenguaje más avanzados, por ejemplo a través de las llamadas cadenas de pensamiento.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 cerrar: los Sistemas Expertos demostraron, desde los años 60, que el conocimiento de un experto humano puede codificarse en reglas y automatizarse para tomar decisiones confiables y trazables. Sentaron conceptos —base de conocimiento, motor de inferencia, explicabilidad— que siguen siendo la columna vertebral de muchos sistemas de IA actuales. Y aunque hoy convivan con el machine learning y los modelos de lenguaje, sus aplicaciones en medicina, finanzas, industria y ciberseguridad siguen totalmente vigentes. Entender los Sistemas Expertos no es solo mirar al pasado de la Inteligencia Artificial: es entender una pieza que sigue viva en su presente. Muchas gracias por su atención, quedo abierto a sus preguntas.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1.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slideLayout" Target="../slideLayouts/slideLayout1.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1.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1.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1.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slideLayout" Target="../slideLayouts/slideLayout1.xml"/><Relationship Id="rId6"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4A"/>
        </a:solidFill>
      </p:bgPr>
    </p:bg>
    <p:spTree>
      <p:nvGrpSpPr>
        <p:cNvPr id="1" name=""/>
        <p:cNvGrpSpPr/>
        <p:nvPr/>
      </p:nvGrpSpPr>
      <p:grpSpPr>
        <a:xfrm>
          <a:off x="0" y="0"/>
          <a:ext cx="0" cy="0"/>
          <a:chOff x="0" y="0"/>
          <a:chExt cx="0" cy="0"/>
        </a:xfrm>
      </p:grpSpPr>
      <p:sp>
        <p:nvSpPr>
          <p:cNvPr id="2" name="Shape 0"/>
          <p:cNvSpPr/>
          <p:nvPr/>
        </p:nvSpPr>
        <p:spPr>
          <a:xfrm>
            <a:off x="7223760" y="-1005840"/>
            <a:ext cx="3840480" cy="3840480"/>
          </a:xfrm>
          <a:prstGeom prst="ellipse">
            <a:avLst/>
          </a:prstGeom>
          <a:solidFill>
            <a:srgbClr val="24365C"/>
          </a:solidFill>
          <a:ln/>
        </p:spPr>
      </p:sp>
      <p:sp>
        <p:nvSpPr>
          <p:cNvPr id="3" name="Shape 1"/>
          <p:cNvSpPr/>
          <p:nvPr/>
        </p:nvSpPr>
        <p:spPr>
          <a:xfrm>
            <a:off x="-1188720" y="3291840"/>
            <a:ext cx="3108960" cy="3108960"/>
          </a:xfrm>
          <a:prstGeom prst="ellipse">
            <a:avLst/>
          </a:prstGeom>
          <a:solidFill>
            <a:srgbClr val="24365C"/>
          </a:solidFill>
          <a:ln/>
        </p:spPr>
      </p:sp>
      <p:sp>
        <p:nvSpPr>
          <p:cNvPr id="4" name="Shape 2"/>
          <p:cNvSpPr/>
          <p:nvPr/>
        </p:nvSpPr>
        <p:spPr>
          <a:xfrm>
            <a:off x="4160520" y="777240"/>
            <a:ext cx="868680" cy="868680"/>
          </a:xfrm>
          <a:prstGeom prst="ellipse">
            <a:avLst/>
          </a:prstGeom>
          <a:solidFill>
            <a:srgbClr val="E0A458"/>
          </a:solidFill>
          <a:ln/>
        </p:spPr>
      </p:sp>
      <p:pic>
        <p:nvPicPr>
          <p:cNvPr id="5" name="Image 0" descr="preencoded.png">    </p:cNvPr>
          <p:cNvPicPr>
            <a:picLocks noChangeAspect="1"/>
          </p:cNvPicPr>
          <p:nvPr/>
        </p:nvPicPr>
        <p:blipFill>
          <a:blip r:embed="rId1"/>
          <a:stretch>
            <a:fillRect/>
          </a:stretch>
        </p:blipFill>
        <p:spPr>
          <a:xfrm>
            <a:off x="4299509" y="916229"/>
            <a:ext cx="590702" cy="590702"/>
          </a:xfrm>
          <a:prstGeom prst="rect">
            <a:avLst/>
          </a:prstGeom>
        </p:spPr>
      </p:pic>
      <p:sp>
        <p:nvSpPr>
          <p:cNvPr id="6" name="Text 3"/>
          <p:cNvSpPr/>
          <p:nvPr/>
        </p:nvSpPr>
        <p:spPr>
          <a:xfrm>
            <a:off x="0" y="1874520"/>
            <a:ext cx="9144000" cy="292608"/>
          </a:xfrm>
          <a:prstGeom prst="rect">
            <a:avLst/>
          </a:prstGeom>
          <a:noFill/>
          <a:ln/>
        </p:spPr>
        <p:txBody>
          <a:bodyPr wrap="square" lIns="0" tIns="0" rIns="0" bIns="0" rtlCol="0" anchor="t"/>
          <a:lstStyle/>
          <a:p>
            <a:pPr algn="ctr" indent="0" marL="0">
              <a:buNone/>
            </a:pPr>
            <a:r>
              <a:rPr lang="en-US" sz="1300" b="1" spc="300" kern="0" dirty="0">
                <a:solidFill>
                  <a:srgbClr val="E0A458"/>
                </a:solidFill>
                <a:latin typeface="Calibri" pitchFamily="34" charset="0"/>
                <a:ea typeface="Calibri" pitchFamily="34" charset="-122"/>
                <a:cs typeface="Calibri" pitchFamily="34" charset="-120"/>
              </a:rPr>
              <a:t>INTELIGENCIA ARTIFICIAL · IA SIMBÓLICA</a:t>
            </a:r>
            <a:endParaRPr lang="en-US" sz="1300" dirty="0"/>
          </a:p>
        </p:txBody>
      </p:sp>
      <p:sp>
        <p:nvSpPr>
          <p:cNvPr id="7" name="Text 4"/>
          <p:cNvSpPr/>
          <p:nvPr/>
        </p:nvSpPr>
        <p:spPr>
          <a:xfrm>
            <a:off x="0" y="2194560"/>
            <a:ext cx="9144000" cy="914400"/>
          </a:xfrm>
          <a:prstGeom prst="rect">
            <a:avLst/>
          </a:prstGeom>
          <a:noFill/>
          <a:ln/>
        </p:spPr>
        <p:txBody>
          <a:bodyPr wrap="square" lIns="0" tIns="0" rIns="0" bIns="0" rtlCol="0" anchor="t"/>
          <a:lstStyle/>
          <a:p>
            <a:pPr algn="ctr" indent="0" marL="0">
              <a:buNone/>
            </a:pPr>
            <a:r>
              <a:rPr lang="en-US" sz="4400" b="1" dirty="0">
                <a:solidFill>
                  <a:srgbClr val="FFFFFF"/>
                </a:solidFill>
                <a:latin typeface="Cambria" pitchFamily="34" charset="0"/>
                <a:ea typeface="Cambria" pitchFamily="34" charset="-122"/>
                <a:cs typeface="Cambria" pitchFamily="34" charset="-120"/>
              </a:rPr>
              <a:t>Sistemas Expertos</a:t>
            </a:r>
            <a:endParaRPr lang="en-US" sz="4400" dirty="0"/>
          </a:p>
        </p:txBody>
      </p:sp>
      <p:sp>
        <p:nvSpPr>
          <p:cNvPr id="8" name="Text 5"/>
          <p:cNvSpPr/>
          <p:nvPr/>
        </p:nvSpPr>
        <p:spPr>
          <a:xfrm>
            <a:off x="1188720" y="3154680"/>
            <a:ext cx="6766560" cy="548640"/>
          </a:xfrm>
          <a:prstGeom prst="rect">
            <a:avLst/>
          </a:prstGeom>
          <a:noFill/>
          <a:ln/>
        </p:spPr>
        <p:txBody>
          <a:bodyPr wrap="square" lIns="0" tIns="0" rIns="0" bIns="0" rtlCol="0" anchor="t"/>
          <a:lstStyle/>
          <a:p>
            <a:pPr algn="ctr" indent="0" marL="0">
              <a:buNone/>
            </a:pPr>
            <a:r>
              <a:rPr lang="en-US" sz="1500" i="1" dirty="0">
                <a:solidFill>
                  <a:srgbClr val="CADCFC"/>
                </a:solidFill>
                <a:latin typeface="Calibri" pitchFamily="34" charset="0"/>
                <a:ea typeface="Calibri" pitchFamily="34" charset="-122"/>
                <a:cs typeface="Calibri" pitchFamily="34" charset="-120"/>
              </a:rPr>
              <a:t>Cómo la inteligencia artificial captura y aplica el conocimiento humano especializado</a:t>
            </a:r>
            <a:endParaRPr lang="en-US" sz="1500" dirty="0"/>
          </a:p>
        </p:txBody>
      </p:sp>
      <p:sp>
        <p:nvSpPr>
          <p:cNvPr id="9" name="Text 6"/>
          <p:cNvSpPr/>
          <p:nvPr/>
        </p:nvSpPr>
        <p:spPr>
          <a:xfrm>
            <a:off x="0" y="4617720"/>
            <a:ext cx="9144000" cy="274320"/>
          </a:xfrm>
          <a:prstGeom prst="rect">
            <a:avLst/>
          </a:prstGeom>
          <a:noFill/>
          <a:ln/>
        </p:spPr>
        <p:txBody>
          <a:bodyPr wrap="square" lIns="0" tIns="0" rIns="0" bIns="0" rtlCol="0" anchor="t"/>
          <a:lstStyle/>
          <a:p>
            <a:pPr algn="ctr" indent="0" marL="0">
              <a:buNone/>
            </a:pPr>
            <a:r>
              <a:rPr lang="en-US" sz="1100" dirty="0">
                <a:solidFill>
                  <a:srgbClr val="8FA3C7"/>
                </a:solidFill>
                <a:latin typeface="Calibri" pitchFamily="34" charset="0"/>
                <a:ea typeface="Calibri" pitchFamily="34" charset="-122"/>
                <a:cs typeface="Calibri" pitchFamily="34" charset="-120"/>
              </a:rPr>
              <a:t>Presentación académica  ·  Sistemas Basados en Conocimiento</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7772400" cy="274320"/>
          </a:xfrm>
          <a:prstGeom prst="rect">
            <a:avLst/>
          </a:prstGeom>
          <a:noFill/>
          <a:ln/>
        </p:spPr>
        <p:txBody>
          <a:bodyPr wrap="square" lIns="0" tIns="0" rIns="0" bIns="0" rtlCol="0" anchor="ctr"/>
          <a:lstStyle/>
          <a:p>
            <a:pPr indent="0" marL="0">
              <a:buNone/>
            </a:pPr>
            <a:r>
              <a:rPr lang="en-US" sz="1200" b="1" spc="200" kern="0" dirty="0">
                <a:solidFill>
                  <a:srgbClr val="E0A458"/>
                </a:solidFill>
                <a:latin typeface="Calibri" pitchFamily="34" charset="0"/>
                <a:ea typeface="Calibri" pitchFamily="34" charset="-122"/>
                <a:cs typeface="Calibri" pitchFamily="34" charset="-120"/>
              </a:rPr>
              <a:t>01 · INTRODUCCIÓN</a:t>
            </a:r>
            <a:endParaRPr lang="en-US" sz="1200" dirty="0"/>
          </a:p>
        </p:txBody>
      </p:sp>
      <p:sp>
        <p:nvSpPr>
          <p:cNvPr id="3" name="Text 1"/>
          <p:cNvSpPr/>
          <p:nvPr/>
        </p:nvSpPr>
        <p:spPr>
          <a:xfrm>
            <a:off x="502920" y="566928"/>
            <a:ext cx="8138160" cy="658368"/>
          </a:xfrm>
          <a:prstGeom prst="rect">
            <a:avLst/>
          </a:prstGeom>
          <a:noFill/>
          <a:ln/>
        </p:spPr>
        <p:txBody>
          <a:bodyPr wrap="square" lIns="0" tIns="0" rIns="0" bIns="0" rtlCol="0" anchor="ctr"/>
          <a:lstStyle/>
          <a:p>
            <a:pPr indent="0" marL="0">
              <a:buNone/>
            </a:pPr>
            <a:r>
              <a:rPr lang="en-US" sz="2900" b="1" dirty="0">
                <a:solidFill>
                  <a:srgbClr val="1B2A4A"/>
                </a:solidFill>
                <a:latin typeface="Cambria" pitchFamily="34" charset="0"/>
                <a:ea typeface="Cambria" pitchFamily="34" charset="-122"/>
                <a:cs typeface="Cambria" pitchFamily="34" charset="-120"/>
              </a:rPr>
              <a:t>¿Por qué existen los Sistemas Expertos?</a:t>
            </a:r>
            <a:endParaRPr lang="en-US" sz="2900" dirty="0"/>
          </a:p>
        </p:txBody>
      </p:sp>
      <p:sp>
        <p:nvSpPr>
          <p:cNvPr id="4" name="Text 2"/>
          <p:cNvSpPr/>
          <p:nvPr/>
        </p:nvSpPr>
        <p:spPr>
          <a:xfrm>
            <a:off x="502920" y="1481328"/>
            <a:ext cx="5074920" cy="3246120"/>
          </a:xfrm>
          <a:prstGeom prst="rect">
            <a:avLst/>
          </a:prstGeom>
          <a:noFill/>
          <a:ln/>
        </p:spPr>
        <p:txBody>
          <a:bodyPr wrap="square" lIns="0" tIns="0" rIns="0" bIns="0" rtlCol="0" anchor="t"/>
          <a:lstStyle/>
          <a:p>
            <a:pPr marL="228600" indent="-228600">
              <a:lnSpc>
                <a:spcPct val="105000"/>
              </a:lnSpc>
              <a:spcAft>
                <a:spcPts val="1400"/>
              </a:spcAft>
              <a:buSzPct val="100000"/>
              <a:buChar char="•"/>
            </a:pPr>
            <a:r>
              <a:rPr lang="en-US" sz="1450" dirty="0">
                <a:solidFill>
                  <a:srgbClr val="33415C"/>
                </a:solidFill>
                <a:latin typeface="Calibri" pitchFamily="34" charset="0"/>
                <a:ea typeface="Calibri" pitchFamily="34" charset="-122"/>
                <a:cs typeface="Calibri" pitchFamily="34" charset="-120"/>
              </a:rPr>
              <a:t>Rama de la Inteligencia Artificial que resuelve problemas complejos aplicando conocimiento especializado de un dominio concreto</a:t>
            </a:r>
            <a:endParaRPr lang="en-US" sz="1450" dirty="0"/>
          </a:p>
          <a:p>
            <a:pPr marL="228600" indent="-228600">
              <a:lnSpc>
                <a:spcPct val="105000"/>
              </a:lnSpc>
              <a:spcAft>
                <a:spcPts val="1400"/>
              </a:spcAft>
              <a:buSzPct val="100000"/>
              <a:buChar char="•"/>
            </a:pPr>
            <a:r>
              <a:rPr lang="en-US" sz="1450" dirty="0">
                <a:solidFill>
                  <a:srgbClr val="33415C"/>
                </a:solidFill>
                <a:latin typeface="Calibri" pitchFamily="34" charset="0"/>
                <a:ea typeface="Calibri" pitchFamily="34" charset="-122"/>
                <a:cs typeface="Calibri" pitchFamily="34" charset="-120"/>
              </a:rPr>
              <a:t>Buscan reproducir el razonamiento y la toma de decisiones de un experto humano, disponibles en todo momento</a:t>
            </a:r>
            <a:endParaRPr lang="en-US" sz="1450" dirty="0"/>
          </a:p>
          <a:p>
            <a:pPr marL="228600" indent="-228600">
              <a:lnSpc>
                <a:spcPct val="105000"/>
              </a:lnSpc>
              <a:spcAft>
                <a:spcPts val="1400"/>
              </a:spcAft>
              <a:buSzPct val="100000"/>
              <a:buChar char="•"/>
            </a:pPr>
            <a:r>
              <a:rPr lang="en-US" sz="1450" dirty="0">
                <a:solidFill>
                  <a:srgbClr val="33415C"/>
                </a:solidFill>
                <a:latin typeface="Calibri" pitchFamily="34" charset="0"/>
                <a:ea typeface="Calibri" pitchFamily="34" charset="-122"/>
                <a:cs typeface="Calibri" pitchFamily="34" charset="-120"/>
              </a:rPr>
              <a:t>Nacen de un problema real: el conocimiento experto es escaso, costoso y difícil de transferir</a:t>
            </a:r>
            <a:endParaRPr lang="en-US" sz="1450" dirty="0"/>
          </a:p>
          <a:p>
            <a:pPr marL="228600" indent="-228600">
              <a:lnSpc>
                <a:spcPct val="105000"/>
              </a:lnSpc>
              <a:spcAft>
                <a:spcPts val="1400"/>
              </a:spcAft>
              <a:buSzPct val="100000"/>
              <a:buChar char="•"/>
            </a:pPr>
            <a:r>
              <a:rPr lang="en-US" sz="1450" dirty="0">
                <a:solidFill>
                  <a:srgbClr val="33415C"/>
                </a:solidFill>
                <a:latin typeface="Calibri" pitchFamily="34" charset="0"/>
                <a:ea typeface="Calibri" pitchFamily="34" charset="-122"/>
                <a:cs typeface="Calibri" pitchFamily="34" charset="-120"/>
              </a:rPr>
              <a:t>Hoy operan detrás de diagnósticos médicos, filtros antifraude y sistemas de control industrial</a:t>
            </a:r>
            <a:endParaRPr lang="en-US" sz="1450" dirty="0"/>
          </a:p>
        </p:txBody>
      </p:sp>
      <p:sp>
        <p:nvSpPr>
          <p:cNvPr id="5" name="Shape 3"/>
          <p:cNvSpPr/>
          <p:nvPr/>
        </p:nvSpPr>
        <p:spPr>
          <a:xfrm>
            <a:off x="6400800" y="1554480"/>
            <a:ext cx="914400" cy="914400"/>
          </a:xfrm>
          <a:prstGeom prst="ellipse">
            <a:avLst/>
          </a:prstGeom>
          <a:solidFill>
            <a:srgbClr val="3D5A80"/>
          </a:solidFill>
          <a:ln/>
        </p:spPr>
      </p:sp>
      <p:pic>
        <p:nvPicPr>
          <p:cNvPr id="6" name="Image 0" descr="preencoded.png">    </p:cNvPr>
          <p:cNvPicPr>
            <a:picLocks noChangeAspect="1"/>
          </p:cNvPicPr>
          <p:nvPr/>
        </p:nvPicPr>
        <p:blipFill>
          <a:blip r:embed="rId1"/>
          <a:stretch>
            <a:fillRect/>
          </a:stretch>
        </p:blipFill>
        <p:spPr>
          <a:xfrm>
            <a:off x="6547104" y="1700784"/>
            <a:ext cx="621792" cy="621792"/>
          </a:xfrm>
          <a:prstGeom prst="rect">
            <a:avLst/>
          </a:prstGeom>
        </p:spPr>
      </p:pic>
      <p:sp>
        <p:nvSpPr>
          <p:cNvPr id="7" name="Text 4"/>
          <p:cNvSpPr/>
          <p:nvPr/>
        </p:nvSpPr>
        <p:spPr>
          <a:xfrm>
            <a:off x="7479792" y="1554480"/>
            <a:ext cx="1554480" cy="914400"/>
          </a:xfrm>
          <a:prstGeom prst="rect">
            <a:avLst/>
          </a:prstGeom>
          <a:noFill/>
          <a:ln/>
        </p:spPr>
        <p:txBody>
          <a:bodyPr wrap="square" lIns="0" tIns="0" rIns="0" bIns="0" rtlCol="0" anchor="ctr"/>
          <a:lstStyle/>
          <a:p>
            <a:pPr algn="l" indent="0" marL="0">
              <a:buNone/>
            </a:pPr>
            <a:r>
              <a:rPr lang="en-US" sz="1250" b="1" dirty="0">
                <a:solidFill>
                  <a:srgbClr val="1B2A4A"/>
                </a:solidFill>
                <a:latin typeface="Calibri" pitchFamily="34" charset="0"/>
                <a:ea typeface="Calibri" pitchFamily="34" charset="-122"/>
                <a:cs typeface="Calibri" pitchFamily="34" charset="-120"/>
              </a:rPr>
              <a:t>Experto</a:t>
            </a:r>
            <a:endParaRPr lang="en-US" sz="1250" dirty="0"/>
          </a:p>
          <a:p>
            <a:pPr algn="l" indent="0" marL="0">
              <a:buNone/>
            </a:pPr>
            <a:r>
              <a:rPr lang="en-US" sz="1250" b="1" dirty="0">
                <a:solidFill>
                  <a:srgbClr val="1B2A4A"/>
                </a:solidFill>
                <a:latin typeface="Calibri" pitchFamily="34" charset="0"/>
                <a:ea typeface="Calibri" pitchFamily="34" charset="-122"/>
                <a:cs typeface="Calibri" pitchFamily="34" charset="-120"/>
              </a:rPr>
              <a:t>humano</a:t>
            </a:r>
            <a:endParaRPr lang="en-US" sz="1250" dirty="0"/>
          </a:p>
        </p:txBody>
      </p:sp>
      <p:sp>
        <p:nvSpPr>
          <p:cNvPr id="8" name="Text 5"/>
          <p:cNvSpPr/>
          <p:nvPr/>
        </p:nvSpPr>
        <p:spPr>
          <a:xfrm>
            <a:off x="6720840" y="2468880"/>
            <a:ext cx="274320" cy="228600"/>
          </a:xfrm>
          <a:prstGeom prst="rect">
            <a:avLst/>
          </a:prstGeom>
          <a:noFill/>
          <a:ln/>
        </p:spPr>
        <p:txBody>
          <a:bodyPr wrap="square" lIns="0" tIns="0" rIns="0" bIns="0" rtlCol="0" anchor="ctr"/>
          <a:lstStyle/>
          <a:p>
            <a:pPr algn="ctr" indent="0" marL="0">
              <a:buNone/>
            </a:pPr>
            <a:r>
              <a:rPr lang="en-US" sz="2000" b="1" dirty="0">
                <a:solidFill>
                  <a:srgbClr val="3D5A80"/>
                </a:solidFill>
                <a:latin typeface="Arial" pitchFamily="34" charset="0"/>
                <a:ea typeface="Arial" pitchFamily="34" charset="-122"/>
                <a:cs typeface="Arial" pitchFamily="34" charset="-120"/>
              </a:rPr>
              <a:t>↓</a:t>
            </a:r>
            <a:endParaRPr lang="en-US" sz="2000" dirty="0"/>
          </a:p>
        </p:txBody>
      </p:sp>
      <p:sp>
        <p:nvSpPr>
          <p:cNvPr id="9" name="Shape 6"/>
          <p:cNvSpPr/>
          <p:nvPr/>
        </p:nvSpPr>
        <p:spPr>
          <a:xfrm>
            <a:off x="6400800" y="2697480"/>
            <a:ext cx="914400" cy="914400"/>
          </a:xfrm>
          <a:prstGeom prst="ellipse">
            <a:avLst/>
          </a:prstGeom>
          <a:solidFill>
            <a:srgbClr val="1B2A4A"/>
          </a:solidFill>
          <a:ln/>
        </p:spPr>
      </p:sp>
      <p:pic>
        <p:nvPicPr>
          <p:cNvPr id="10" name="Image 1" descr="preencoded.png">    </p:cNvPr>
          <p:cNvPicPr>
            <a:picLocks noChangeAspect="1"/>
          </p:cNvPicPr>
          <p:nvPr/>
        </p:nvPicPr>
        <p:blipFill>
          <a:blip r:embed="rId2"/>
          <a:stretch>
            <a:fillRect/>
          </a:stretch>
        </p:blipFill>
        <p:spPr>
          <a:xfrm>
            <a:off x="6547104" y="2843784"/>
            <a:ext cx="621792" cy="621792"/>
          </a:xfrm>
          <a:prstGeom prst="rect">
            <a:avLst/>
          </a:prstGeom>
        </p:spPr>
      </p:pic>
      <p:sp>
        <p:nvSpPr>
          <p:cNvPr id="11" name="Text 7"/>
          <p:cNvSpPr/>
          <p:nvPr/>
        </p:nvSpPr>
        <p:spPr>
          <a:xfrm>
            <a:off x="7479792" y="2697480"/>
            <a:ext cx="1554480" cy="914400"/>
          </a:xfrm>
          <a:prstGeom prst="rect">
            <a:avLst/>
          </a:prstGeom>
          <a:noFill/>
          <a:ln/>
        </p:spPr>
        <p:txBody>
          <a:bodyPr wrap="square" lIns="0" tIns="0" rIns="0" bIns="0" rtlCol="0" anchor="ctr"/>
          <a:lstStyle/>
          <a:p>
            <a:pPr algn="l" indent="0" marL="0">
              <a:buNone/>
            </a:pPr>
            <a:r>
              <a:rPr lang="en-US" sz="1250" b="1" dirty="0">
                <a:solidFill>
                  <a:srgbClr val="1B2A4A"/>
                </a:solidFill>
                <a:latin typeface="Calibri" pitchFamily="34" charset="0"/>
                <a:ea typeface="Calibri" pitchFamily="34" charset="-122"/>
                <a:cs typeface="Calibri" pitchFamily="34" charset="-120"/>
              </a:rPr>
              <a:t>Sistema</a:t>
            </a:r>
            <a:endParaRPr lang="en-US" sz="1250" dirty="0"/>
          </a:p>
          <a:p>
            <a:pPr algn="l" indent="0" marL="0">
              <a:buNone/>
            </a:pPr>
            <a:r>
              <a:rPr lang="en-US" sz="1250" b="1" dirty="0">
                <a:solidFill>
                  <a:srgbClr val="1B2A4A"/>
                </a:solidFill>
                <a:latin typeface="Calibri" pitchFamily="34" charset="0"/>
                <a:ea typeface="Calibri" pitchFamily="34" charset="-122"/>
                <a:cs typeface="Calibri" pitchFamily="34" charset="-120"/>
              </a:rPr>
              <a:t>Experto</a:t>
            </a:r>
            <a:endParaRPr lang="en-US" sz="1250" dirty="0"/>
          </a:p>
        </p:txBody>
      </p:sp>
      <p:sp>
        <p:nvSpPr>
          <p:cNvPr id="12" name="Text 8"/>
          <p:cNvSpPr/>
          <p:nvPr/>
        </p:nvSpPr>
        <p:spPr>
          <a:xfrm>
            <a:off x="6720840" y="3611880"/>
            <a:ext cx="274320" cy="228600"/>
          </a:xfrm>
          <a:prstGeom prst="rect">
            <a:avLst/>
          </a:prstGeom>
          <a:noFill/>
          <a:ln/>
        </p:spPr>
        <p:txBody>
          <a:bodyPr wrap="square" lIns="0" tIns="0" rIns="0" bIns="0" rtlCol="0" anchor="ctr"/>
          <a:lstStyle/>
          <a:p>
            <a:pPr algn="ctr" indent="0" marL="0">
              <a:buNone/>
            </a:pPr>
            <a:r>
              <a:rPr lang="en-US" sz="2000" b="1" dirty="0">
                <a:solidFill>
                  <a:srgbClr val="3D5A80"/>
                </a:solidFill>
                <a:latin typeface="Arial" pitchFamily="34" charset="0"/>
                <a:ea typeface="Arial" pitchFamily="34" charset="-122"/>
                <a:cs typeface="Arial" pitchFamily="34" charset="-120"/>
              </a:rPr>
              <a:t>↓</a:t>
            </a:r>
            <a:endParaRPr lang="en-US" sz="2000" dirty="0"/>
          </a:p>
        </p:txBody>
      </p:sp>
      <p:sp>
        <p:nvSpPr>
          <p:cNvPr id="13" name="Shape 9"/>
          <p:cNvSpPr/>
          <p:nvPr/>
        </p:nvSpPr>
        <p:spPr>
          <a:xfrm>
            <a:off x="6400800" y="3840480"/>
            <a:ext cx="914400" cy="914400"/>
          </a:xfrm>
          <a:prstGeom prst="ellipse">
            <a:avLst/>
          </a:prstGeom>
          <a:solidFill>
            <a:srgbClr val="E0A458"/>
          </a:solidFill>
          <a:ln/>
        </p:spPr>
      </p:sp>
      <p:pic>
        <p:nvPicPr>
          <p:cNvPr id="14" name="Image 2" descr="preencoded.png">    </p:cNvPr>
          <p:cNvPicPr>
            <a:picLocks noChangeAspect="1"/>
          </p:cNvPicPr>
          <p:nvPr/>
        </p:nvPicPr>
        <p:blipFill>
          <a:blip r:embed="rId3"/>
          <a:stretch>
            <a:fillRect/>
          </a:stretch>
        </p:blipFill>
        <p:spPr>
          <a:xfrm>
            <a:off x="6547104" y="3986784"/>
            <a:ext cx="621792" cy="621792"/>
          </a:xfrm>
          <a:prstGeom prst="rect">
            <a:avLst/>
          </a:prstGeom>
        </p:spPr>
      </p:pic>
      <p:sp>
        <p:nvSpPr>
          <p:cNvPr id="15" name="Text 10"/>
          <p:cNvSpPr/>
          <p:nvPr/>
        </p:nvSpPr>
        <p:spPr>
          <a:xfrm>
            <a:off x="7479792" y="3840480"/>
            <a:ext cx="1554480" cy="914400"/>
          </a:xfrm>
          <a:prstGeom prst="rect">
            <a:avLst/>
          </a:prstGeom>
          <a:noFill/>
          <a:ln/>
        </p:spPr>
        <p:txBody>
          <a:bodyPr wrap="square" lIns="0" tIns="0" rIns="0" bIns="0" rtlCol="0" anchor="ctr"/>
          <a:lstStyle/>
          <a:p>
            <a:pPr algn="l" indent="0" marL="0">
              <a:buNone/>
            </a:pPr>
            <a:r>
              <a:rPr lang="en-US" sz="1250" b="1" dirty="0">
                <a:solidFill>
                  <a:srgbClr val="1B2A4A"/>
                </a:solidFill>
                <a:latin typeface="Calibri" pitchFamily="34" charset="0"/>
                <a:ea typeface="Calibri" pitchFamily="34" charset="-122"/>
                <a:cs typeface="Calibri" pitchFamily="34" charset="-120"/>
              </a:rPr>
              <a:t>Decisión /</a:t>
            </a:r>
            <a:endParaRPr lang="en-US" sz="1250" dirty="0"/>
          </a:p>
          <a:p>
            <a:pPr algn="l" indent="0" marL="0">
              <a:buNone/>
            </a:pPr>
            <a:r>
              <a:rPr lang="en-US" sz="1250" b="1" dirty="0">
                <a:solidFill>
                  <a:srgbClr val="1B2A4A"/>
                </a:solidFill>
                <a:latin typeface="Calibri" pitchFamily="34" charset="0"/>
                <a:ea typeface="Calibri" pitchFamily="34" charset="-122"/>
                <a:cs typeface="Calibri" pitchFamily="34" charset="-120"/>
              </a:rPr>
              <a:t>Usuario</a:t>
            </a:r>
            <a:endParaRPr lang="en-US" sz="1250" dirty="0"/>
          </a:p>
        </p:txBody>
      </p:sp>
      <p:sp>
        <p:nvSpPr>
          <p:cNvPr id="16" name="Text 11"/>
          <p:cNvSpPr/>
          <p:nvPr/>
        </p:nvSpPr>
        <p:spPr>
          <a:xfrm>
            <a:off x="8366760" y="4864608"/>
            <a:ext cx="457200" cy="228600"/>
          </a:xfrm>
          <a:prstGeom prst="rect">
            <a:avLst/>
          </a:prstGeom>
          <a:noFill/>
          <a:ln/>
        </p:spPr>
        <p:txBody>
          <a:bodyPr wrap="square" lIns="0" tIns="0" rIns="0" bIns="0" rtlCol="0" anchor="ctr"/>
          <a:lstStyle/>
          <a:p>
            <a:pPr algn="r" indent="0" marL="0">
              <a:buNone/>
            </a:pPr>
            <a:r>
              <a:rPr lang="en-US" sz="900" dirty="0">
                <a:solidFill>
                  <a:srgbClr val="667186"/>
                </a:solidFill>
                <a:latin typeface="Calibri" pitchFamily="34" charset="0"/>
                <a:ea typeface="Calibri" pitchFamily="34" charset="-122"/>
                <a:cs typeface="Calibri" pitchFamily="34" charset="-120"/>
              </a:rPr>
              <a:t>02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7772400" cy="274320"/>
          </a:xfrm>
          <a:prstGeom prst="rect">
            <a:avLst/>
          </a:prstGeom>
          <a:noFill/>
          <a:ln/>
        </p:spPr>
        <p:txBody>
          <a:bodyPr wrap="square" lIns="0" tIns="0" rIns="0" bIns="0" rtlCol="0" anchor="ctr"/>
          <a:lstStyle/>
          <a:p>
            <a:pPr indent="0" marL="0">
              <a:buNone/>
            </a:pPr>
            <a:r>
              <a:rPr lang="en-US" sz="1200" b="1" spc="200" kern="0" dirty="0">
                <a:solidFill>
                  <a:srgbClr val="E0A458"/>
                </a:solidFill>
                <a:latin typeface="Calibri" pitchFamily="34" charset="0"/>
                <a:ea typeface="Calibri" pitchFamily="34" charset="-122"/>
                <a:cs typeface="Calibri" pitchFamily="34" charset="-120"/>
              </a:rPr>
              <a:t>02 · DEFINICIÓN</a:t>
            </a:r>
            <a:endParaRPr lang="en-US" sz="1200" dirty="0"/>
          </a:p>
        </p:txBody>
      </p:sp>
      <p:sp>
        <p:nvSpPr>
          <p:cNvPr id="3" name="Text 1"/>
          <p:cNvSpPr/>
          <p:nvPr/>
        </p:nvSpPr>
        <p:spPr>
          <a:xfrm>
            <a:off x="502920" y="566928"/>
            <a:ext cx="8138160" cy="658368"/>
          </a:xfrm>
          <a:prstGeom prst="rect">
            <a:avLst/>
          </a:prstGeom>
          <a:noFill/>
          <a:ln/>
        </p:spPr>
        <p:txBody>
          <a:bodyPr wrap="square" lIns="0" tIns="0" rIns="0" bIns="0" rtlCol="0" anchor="ctr"/>
          <a:lstStyle/>
          <a:p>
            <a:pPr indent="0" marL="0">
              <a:buNone/>
            </a:pPr>
            <a:r>
              <a:rPr lang="en-US" sz="2900" b="1" dirty="0">
                <a:solidFill>
                  <a:srgbClr val="1B2A4A"/>
                </a:solidFill>
                <a:latin typeface="Cambria" pitchFamily="34" charset="0"/>
                <a:ea typeface="Cambria" pitchFamily="34" charset="-122"/>
                <a:cs typeface="Cambria" pitchFamily="34" charset="-120"/>
              </a:rPr>
              <a:t>Definición de Sistema Experto</a:t>
            </a:r>
            <a:endParaRPr lang="en-US" sz="2900" dirty="0"/>
          </a:p>
        </p:txBody>
      </p:sp>
      <p:sp>
        <p:nvSpPr>
          <p:cNvPr id="4" name="Text 2"/>
          <p:cNvSpPr/>
          <p:nvPr/>
        </p:nvSpPr>
        <p:spPr>
          <a:xfrm>
            <a:off x="502920" y="1417320"/>
            <a:ext cx="8138160" cy="1965960"/>
          </a:xfrm>
          <a:prstGeom prst="rect">
            <a:avLst/>
          </a:prstGeom>
          <a:noFill/>
          <a:ln/>
        </p:spPr>
        <p:txBody>
          <a:bodyPr wrap="square" lIns="0" tIns="0" rIns="0" bIns="0" rtlCol="0" anchor="t"/>
          <a:lstStyle/>
          <a:p>
            <a:pPr marL="228600" indent="-228600">
              <a:lnSpc>
                <a:spcPct val="105000"/>
              </a:lnSpc>
              <a:spcAft>
                <a:spcPts val="1100"/>
              </a:spcAft>
              <a:buSzPct val="100000"/>
              <a:buChar char="•"/>
            </a:pPr>
            <a:r>
              <a:rPr lang="en-US" sz="1450" dirty="0">
                <a:solidFill>
                  <a:srgbClr val="33415C"/>
                </a:solidFill>
                <a:latin typeface="Calibri" pitchFamily="34" charset="0"/>
                <a:ea typeface="Calibri" pitchFamily="34" charset="-122"/>
                <a:cs typeface="Calibri" pitchFamily="34" charset="-120"/>
              </a:rPr>
              <a:t>Programa de cómputo que emula la capacidad de decisión de un experto humano en un dominio acotado</a:t>
            </a:r>
            <a:endParaRPr lang="en-US" sz="1450" dirty="0"/>
          </a:p>
          <a:p>
            <a:pPr marL="228600" indent="-228600">
              <a:lnSpc>
                <a:spcPct val="105000"/>
              </a:lnSpc>
              <a:spcAft>
                <a:spcPts val="1100"/>
              </a:spcAft>
              <a:buSzPct val="100000"/>
              <a:buChar char="•"/>
            </a:pPr>
            <a:r>
              <a:rPr lang="en-US" sz="1450" dirty="0">
                <a:solidFill>
                  <a:srgbClr val="33415C"/>
                </a:solidFill>
                <a:latin typeface="Calibri" pitchFamily="34" charset="0"/>
                <a:ea typeface="Calibri" pitchFamily="34" charset="-122"/>
                <a:cs typeface="Calibri" pitchFamily="34" charset="-120"/>
              </a:rPr>
              <a:t>Combina conocimiento codificado con un mecanismo de razonamiento automático</a:t>
            </a:r>
            <a:endParaRPr lang="en-US" sz="1450" dirty="0"/>
          </a:p>
          <a:p>
            <a:pPr marL="228600" indent="-228600">
              <a:lnSpc>
                <a:spcPct val="105000"/>
              </a:lnSpc>
              <a:spcAft>
                <a:spcPts val="1100"/>
              </a:spcAft>
              <a:buSzPct val="100000"/>
              <a:buChar char="•"/>
            </a:pPr>
            <a:r>
              <a:rPr lang="en-US" sz="1450" dirty="0">
                <a:solidFill>
                  <a:srgbClr val="33415C"/>
                </a:solidFill>
                <a:latin typeface="Calibri" pitchFamily="34" charset="0"/>
                <a:ea typeface="Calibri" pitchFamily="34" charset="-122"/>
                <a:cs typeface="Calibri" pitchFamily="34" charset="-120"/>
              </a:rPr>
              <a:t>Aplica reglas lógicas de forma sistemática: sigue un proceso explícito y trazable, no “intuye”</a:t>
            </a:r>
            <a:endParaRPr lang="en-US" sz="1450" dirty="0"/>
          </a:p>
          <a:p>
            <a:pPr marL="228600" indent="-228600">
              <a:lnSpc>
                <a:spcPct val="105000"/>
              </a:lnSpc>
              <a:spcAft>
                <a:spcPts val="1100"/>
              </a:spcAft>
              <a:buSzPct val="100000"/>
              <a:buChar char="•"/>
            </a:pPr>
            <a:r>
              <a:rPr lang="en-US" sz="1450" dirty="0">
                <a:solidFill>
                  <a:srgbClr val="33415C"/>
                </a:solidFill>
                <a:latin typeface="Calibri" pitchFamily="34" charset="0"/>
                <a:ea typeface="Calibri" pitchFamily="34" charset="-122"/>
                <a:cs typeface="Calibri" pitchFamily="34" charset="-120"/>
              </a:rPr>
              <a:t>Puede explicar el porqué de cada conclusión, a diferencia de muchos modelos de aprendizaje automático</a:t>
            </a:r>
            <a:endParaRPr lang="en-US" sz="1450" dirty="0"/>
          </a:p>
        </p:txBody>
      </p:sp>
      <p:sp>
        <p:nvSpPr>
          <p:cNvPr id="5" name="Shape 3"/>
          <p:cNvSpPr/>
          <p:nvPr/>
        </p:nvSpPr>
        <p:spPr>
          <a:xfrm>
            <a:off x="502920" y="3520440"/>
            <a:ext cx="2331720" cy="960120"/>
          </a:xfrm>
          <a:prstGeom prst="roundRect">
            <a:avLst>
              <a:gd name="adj" fmla="val 7619"/>
            </a:avLst>
          </a:prstGeom>
          <a:solidFill>
            <a:srgbClr val="F1F4F9"/>
          </a:solidFill>
          <a:ln/>
          <a:effectLst>
            <a:outerShdw sx="100000" sy="100000" kx="0" ky="0" algn="bl" rotWithShape="0" blurRad="88900" dist="25400" dir="5400000">
              <a:srgbClr val="1B2A4A">
                <a:alpha val="10000"/>
              </a:srgbClr>
            </a:outerShdw>
          </a:effectLst>
        </p:spPr>
      </p:sp>
      <p:sp>
        <p:nvSpPr>
          <p:cNvPr id="6" name="Shape 4"/>
          <p:cNvSpPr/>
          <p:nvPr/>
        </p:nvSpPr>
        <p:spPr>
          <a:xfrm>
            <a:off x="667512" y="3749040"/>
            <a:ext cx="502920" cy="502920"/>
          </a:xfrm>
          <a:prstGeom prst="ellipse">
            <a:avLst/>
          </a:prstGeom>
          <a:solidFill>
            <a:srgbClr val="3D5A80"/>
          </a:solidFill>
          <a:ln/>
        </p:spPr>
      </p:sp>
      <p:pic>
        <p:nvPicPr>
          <p:cNvPr id="7" name="Image 0" descr="preencoded.png">    </p:cNvPr>
          <p:cNvPicPr>
            <a:picLocks noChangeAspect="1"/>
          </p:cNvPicPr>
          <p:nvPr/>
        </p:nvPicPr>
        <p:blipFill>
          <a:blip r:embed="rId1"/>
          <a:stretch>
            <a:fillRect/>
          </a:stretch>
        </p:blipFill>
        <p:spPr>
          <a:xfrm>
            <a:off x="747979" y="3829507"/>
            <a:ext cx="341986" cy="341986"/>
          </a:xfrm>
          <a:prstGeom prst="rect">
            <a:avLst/>
          </a:prstGeom>
        </p:spPr>
      </p:pic>
      <p:sp>
        <p:nvSpPr>
          <p:cNvPr id="8" name="Text 5"/>
          <p:cNvSpPr/>
          <p:nvPr/>
        </p:nvSpPr>
        <p:spPr>
          <a:xfrm>
            <a:off x="1280160" y="3520440"/>
            <a:ext cx="1463040" cy="960120"/>
          </a:xfrm>
          <a:prstGeom prst="rect">
            <a:avLst/>
          </a:prstGeom>
          <a:noFill/>
          <a:ln/>
        </p:spPr>
        <p:txBody>
          <a:bodyPr wrap="square" lIns="0" tIns="0" rIns="0" bIns="0" rtlCol="0" anchor="ctr"/>
          <a:lstStyle/>
          <a:p>
            <a:pPr algn="l" indent="0" marL="0">
              <a:buNone/>
            </a:pPr>
            <a:r>
              <a:rPr lang="en-US" sz="1300" b="1" dirty="0">
                <a:solidFill>
                  <a:srgbClr val="1B2A4A"/>
                </a:solidFill>
                <a:latin typeface="Calibri" pitchFamily="34" charset="0"/>
                <a:ea typeface="Calibri" pitchFamily="34" charset="-122"/>
                <a:cs typeface="Calibri" pitchFamily="34" charset="-120"/>
              </a:rPr>
              <a:t>Base de</a:t>
            </a:r>
            <a:endParaRPr lang="en-US" sz="1300" dirty="0"/>
          </a:p>
          <a:p>
            <a:pPr algn="l" indent="0" marL="0">
              <a:buNone/>
            </a:pPr>
            <a:r>
              <a:rPr lang="en-US" sz="1300" b="1" dirty="0">
                <a:solidFill>
                  <a:srgbClr val="1B2A4A"/>
                </a:solidFill>
                <a:latin typeface="Calibri" pitchFamily="34" charset="0"/>
                <a:ea typeface="Calibri" pitchFamily="34" charset="-122"/>
                <a:cs typeface="Calibri" pitchFamily="34" charset="-120"/>
              </a:rPr>
              <a:t>Conocimiento</a:t>
            </a:r>
            <a:endParaRPr lang="en-US" sz="1300" dirty="0"/>
          </a:p>
        </p:txBody>
      </p:sp>
      <p:sp>
        <p:nvSpPr>
          <p:cNvPr id="9" name="Shape 6"/>
          <p:cNvSpPr/>
          <p:nvPr/>
        </p:nvSpPr>
        <p:spPr>
          <a:xfrm>
            <a:off x="3611880" y="3520440"/>
            <a:ext cx="2331720" cy="960120"/>
          </a:xfrm>
          <a:prstGeom prst="roundRect">
            <a:avLst>
              <a:gd name="adj" fmla="val 7619"/>
            </a:avLst>
          </a:prstGeom>
          <a:solidFill>
            <a:srgbClr val="F1F4F9"/>
          </a:solidFill>
          <a:ln/>
          <a:effectLst>
            <a:outerShdw sx="100000" sy="100000" kx="0" ky="0" algn="bl" rotWithShape="0" blurRad="88900" dist="25400" dir="5400000">
              <a:srgbClr val="1B2A4A">
                <a:alpha val="10000"/>
              </a:srgbClr>
            </a:outerShdw>
          </a:effectLst>
        </p:spPr>
      </p:sp>
      <p:sp>
        <p:nvSpPr>
          <p:cNvPr id="10" name="Shape 7"/>
          <p:cNvSpPr/>
          <p:nvPr/>
        </p:nvSpPr>
        <p:spPr>
          <a:xfrm>
            <a:off x="3776472" y="3749040"/>
            <a:ext cx="502920" cy="502920"/>
          </a:xfrm>
          <a:prstGeom prst="ellipse">
            <a:avLst/>
          </a:prstGeom>
          <a:solidFill>
            <a:srgbClr val="3D5A80"/>
          </a:solidFill>
          <a:ln/>
        </p:spPr>
      </p:sp>
      <p:pic>
        <p:nvPicPr>
          <p:cNvPr id="11" name="Image 1" descr="preencoded.png">    </p:cNvPr>
          <p:cNvPicPr>
            <a:picLocks noChangeAspect="1"/>
          </p:cNvPicPr>
          <p:nvPr/>
        </p:nvPicPr>
        <p:blipFill>
          <a:blip r:embed="rId2"/>
          <a:stretch>
            <a:fillRect/>
          </a:stretch>
        </p:blipFill>
        <p:spPr>
          <a:xfrm>
            <a:off x="3856939" y="3829507"/>
            <a:ext cx="341986" cy="341986"/>
          </a:xfrm>
          <a:prstGeom prst="rect">
            <a:avLst/>
          </a:prstGeom>
        </p:spPr>
      </p:pic>
      <p:sp>
        <p:nvSpPr>
          <p:cNvPr id="12" name="Text 8"/>
          <p:cNvSpPr/>
          <p:nvPr/>
        </p:nvSpPr>
        <p:spPr>
          <a:xfrm>
            <a:off x="4389120" y="3520440"/>
            <a:ext cx="1463040" cy="960120"/>
          </a:xfrm>
          <a:prstGeom prst="rect">
            <a:avLst/>
          </a:prstGeom>
          <a:noFill/>
          <a:ln/>
        </p:spPr>
        <p:txBody>
          <a:bodyPr wrap="square" lIns="0" tIns="0" rIns="0" bIns="0" rtlCol="0" anchor="ctr"/>
          <a:lstStyle/>
          <a:p>
            <a:pPr algn="l" indent="0" marL="0">
              <a:buNone/>
            </a:pPr>
            <a:r>
              <a:rPr lang="en-US" sz="1300" b="1" dirty="0">
                <a:solidFill>
                  <a:srgbClr val="1B2A4A"/>
                </a:solidFill>
                <a:latin typeface="Calibri" pitchFamily="34" charset="0"/>
                <a:ea typeface="Calibri" pitchFamily="34" charset="-122"/>
                <a:cs typeface="Calibri" pitchFamily="34" charset="-120"/>
              </a:rPr>
              <a:t>Motor de</a:t>
            </a:r>
            <a:endParaRPr lang="en-US" sz="1300" dirty="0"/>
          </a:p>
          <a:p>
            <a:pPr algn="l" indent="0" marL="0">
              <a:buNone/>
            </a:pPr>
            <a:r>
              <a:rPr lang="en-US" sz="1300" b="1" dirty="0">
                <a:solidFill>
                  <a:srgbClr val="1B2A4A"/>
                </a:solidFill>
                <a:latin typeface="Calibri" pitchFamily="34" charset="0"/>
                <a:ea typeface="Calibri" pitchFamily="34" charset="-122"/>
                <a:cs typeface="Calibri" pitchFamily="34" charset="-120"/>
              </a:rPr>
              <a:t>Inferencia</a:t>
            </a:r>
            <a:endParaRPr lang="en-US" sz="1300" dirty="0"/>
          </a:p>
        </p:txBody>
      </p:sp>
      <p:sp>
        <p:nvSpPr>
          <p:cNvPr id="13" name="Shape 9"/>
          <p:cNvSpPr/>
          <p:nvPr/>
        </p:nvSpPr>
        <p:spPr>
          <a:xfrm>
            <a:off x="6720840" y="3520440"/>
            <a:ext cx="2331720" cy="960120"/>
          </a:xfrm>
          <a:prstGeom prst="roundRect">
            <a:avLst>
              <a:gd name="adj" fmla="val 7619"/>
            </a:avLst>
          </a:prstGeom>
          <a:solidFill>
            <a:srgbClr val="1B2A4A"/>
          </a:solidFill>
          <a:ln/>
          <a:effectLst>
            <a:outerShdw sx="100000" sy="100000" kx="0" ky="0" algn="bl" rotWithShape="0" blurRad="88900" dist="25400" dir="5400000">
              <a:srgbClr val="1B2A4A">
                <a:alpha val="10000"/>
              </a:srgbClr>
            </a:outerShdw>
          </a:effectLst>
        </p:spPr>
      </p:sp>
      <p:sp>
        <p:nvSpPr>
          <p:cNvPr id="14" name="Shape 10"/>
          <p:cNvSpPr/>
          <p:nvPr/>
        </p:nvSpPr>
        <p:spPr>
          <a:xfrm>
            <a:off x="6885432" y="3749040"/>
            <a:ext cx="502920" cy="502920"/>
          </a:xfrm>
          <a:prstGeom prst="ellipse">
            <a:avLst/>
          </a:prstGeom>
          <a:solidFill>
            <a:srgbClr val="E0A458"/>
          </a:solidFill>
          <a:ln/>
        </p:spPr>
      </p:sp>
      <p:pic>
        <p:nvPicPr>
          <p:cNvPr id="15" name="Image 2" descr="preencoded.png">    </p:cNvPr>
          <p:cNvPicPr>
            <a:picLocks noChangeAspect="1"/>
          </p:cNvPicPr>
          <p:nvPr/>
        </p:nvPicPr>
        <p:blipFill>
          <a:blip r:embed="rId3"/>
          <a:stretch>
            <a:fillRect/>
          </a:stretch>
        </p:blipFill>
        <p:spPr>
          <a:xfrm>
            <a:off x="6965899" y="3829507"/>
            <a:ext cx="341986" cy="341986"/>
          </a:xfrm>
          <a:prstGeom prst="rect">
            <a:avLst/>
          </a:prstGeom>
        </p:spPr>
      </p:pic>
      <p:sp>
        <p:nvSpPr>
          <p:cNvPr id="16" name="Text 11"/>
          <p:cNvSpPr/>
          <p:nvPr/>
        </p:nvSpPr>
        <p:spPr>
          <a:xfrm>
            <a:off x="7498080" y="3520440"/>
            <a:ext cx="1463040" cy="96012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ea typeface="Calibri" pitchFamily="34" charset="-122"/>
                <a:cs typeface="Calibri" pitchFamily="34" charset="-120"/>
              </a:rPr>
              <a:t>Sistema</a:t>
            </a:r>
            <a:endParaRPr lang="en-US" sz="1300" dirty="0"/>
          </a:p>
          <a:p>
            <a:pPr algn="l" indent="0" marL="0">
              <a:buNone/>
            </a:pPr>
            <a:r>
              <a:rPr lang="en-US" sz="1300" b="1" dirty="0">
                <a:solidFill>
                  <a:srgbClr val="FFFFFF"/>
                </a:solidFill>
                <a:latin typeface="Calibri" pitchFamily="34" charset="0"/>
                <a:ea typeface="Calibri" pitchFamily="34" charset="-122"/>
                <a:cs typeface="Calibri" pitchFamily="34" charset="-120"/>
              </a:rPr>
              <a:t>Experto</a:t>
            </a:r>
            <a:endParaRPr lang="en-US" sz="1300" dirty="0"/>
          </a:p>
        </p:txBody>
      </p:sp>
      <p:sp>
        <p:nvSpPr>
          <p:cNvPr id="17" name="Text 12"/>
          <p:cNvSpPr/>
          <p:nvPr/>
        </p:nvSpPr>
        <p:spPr>
          <a:xfrm>
            <a:off x="2852928" y="3520440"/>
            <a:ext cx="640080" cy="960120"/>
          </a:xfrm>
          <a:prstGeom prst="rect">
            <a:avLst/>
          </a:prstGeom>
          <a:noFill/>
          <a:ln/>
        </p:spPr>
        <p:txBody>
          <a:bodyPr wrap="square" lIns="0" tIns="0" rIns="0" bIns="0" rtlCol="0" anchor="ctr"/>
          <a:lstStyle/>
          <a:p>
            <a:pPr algn="ctr" indent="0" marL="0">
              <a:buNone/>
            </a:pPr>
            <a:r>
              <a:rPr lang="en-US" sz="2600" b="1" dirty="0">
                <a:solidFill>
                  <a:srgbClr val="E0A458"/>
                </a:solidFill>
                <a:latin typeface="Arial" pitchFamily="34" charset="0"/>
                <a:ea typeface="Arial" pitchFamily="34" charset="-122"/>
                <a:cs typeface="Arial" pitchFamily="34" charset="-120"/>
              </a:rPr>
              <a:t>+</a:t>
            </a:r>
            <a:endParaRPr lang="en-US" sz="2600" dirty="0"/>
          </a:p>
        </p:txBody>
      </p:sp>
      <p:sp>
        <p:nvSpPr>
          <p:cNvPr id="18" name="Text 13"/>
          <p:cNvSpPr/>
          <p:nvPr/>
        </p:nvSpPr>
        <p:spPr>
          <a:xfrm>
            <a:off x="5961888" y="3520440"/>
            <a:ext cx="640080" cy="960120"/>
          </a:xfrm>
          <a:prstGeom prst="rect">
            <a:avLst/>
          </a:prstGeom>
          <a:noFill/>
          <a:ln/>
        </p:spPr>
        <p:txBody>
          <a:bodyPr wrap="square" lIns="0" tIns="0" rIns="0" bIns="0" rtlCol="0" anchor="ctr"/>
          <a:lstStyle/>
          <a:p>
            <a:pPr algn="ctr" indent="0" marL="0">
              <a:buNone/>
            </a:pPr>
            <a:r>
              <a:rPr lang="en-US" sz="2600" b="1" dirty="0">
                <a:solidFill>
                  <a:srgbClr val="E0A458"/>
                </a:solidFill>
                <a:latin typeface="Arial" pitchFamily="34" charset="0"/>
                <a:ea typeface="Arial" pitchFamily="34" charset="-122"/>
                <a:cs typeface="Arial" pitchFamily="34" charset="-120"/>
              </a:rPr>
              <a:t>=</a:t>
            </a:r>
            <a:endParaRPr lang="en-US" sz="2600" dirty="0"/>
          </a:p>
        </p:txBody>
      </p:sp>
      <p:sp>
        <p:nvSpPr>
          <p:cNvPr id="19" name="Text 14"/>
          <p:cNvSpPr/>
          <p:nvPr/>
        </p:nvSpPr>
        <p:spPr>
          <a:xfrm>
            <a:off x="8366760" y="4864608"/>
            <a:ext cx="457200" cy="228600"/>
          </a:xfrm>
          <a:prstGeom prst="rect">
            <a:avLst/>
          </a:prstGeom>
          <a:noFill/>
          <a:ln/>
        </p:spPr>
        <p:txBody>
          <a:bodyPr wrap="square" lIns="0" tIns="0" rIns="0" bIns="0" rtlCol="0" anchor="ctr"/>
          <a:lstStyle/>
          <a:p>
            <a:pPr algn="r" indent="0" marL="0">
              <a:buNone/>
            </a:pPr>
            <a:r>
              <a:rPr lang="en-US" sz="900" dirty="0">
                <a:solidFill>
                  <a:srgbClr val="667186"/>
                </a:solidFill>
                <a:latin typeface="Calibri" pitchFamily="34" charset="0"/>
                <a:ea typeface="Calibri" pitchFamily="34" charset="-122"/>
                <a:cs typeface="Calibri" pitchFamily="34" charset="-120"/>
              </a:rPr>
              <a:t>03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7772400" cy="274320"/>
          </a:xfrm>
          <a:prstGeom prst="rect">
            <a:avLst/>
          </a:prstGeom>
          <a:noFill/>
          <a:ln/>
        </p:spPr>
        <p:txBody>
          <a:bodyPr wrap="square" lIns="0" tIns="0" rIns="0" bIns="0" rtlCol="0" anchor="ctr"/>
          <a:lstStyle/>
          <a:p>
            <a:pPr indent="0" marL="0">
              <a:buNone/>
            </a:pPr>
            <a:r>
              <a:rPr lang="en-US" sz="1200" b="1" spc="200" kern="0" dirty="0">
                <a:solidFill>
                  <a:srgbClr val="E0A458"/>
                </a:solidFill>
                <a:latin typeface="Calibri" pitchFamily="34" charset="0"/>
                <a:ea typeface="Calibri" pitchFamily="34" charset="-122"/>
                <a:cs typeface="Calibri" pitchFamily="34" charset="-120"/>
              </a:rPr>
              <a:t>03 · HISTORIA Y EVOLUCIÓN</a:t>
            </a:r>
            <a:endParaRPr lang="en-US" sz="1200" dirty="0"/>
          </a:p>
        </p:txBody>
      </p:sp>
      <p:sp>
        <p:nvSpPr>
          <p:cNvPr id="3" name="Text 1"/>
          <p:cNvSpPr/>
          <p:nvPr/>
        </p:nvSpPr>
        <p:spPr>
          <a:xfrm>
            <a:off x="502920" y="566928"/>
            <a:ext cx="8138160" cy="658368"/>
          </a:xfrm>
          <a:prstGeom prst="rect">
            <a:avLst/>
          </a:prstGeom>
          <a:noFill/>
          <a:ln/>
        </p:spPr>
        <p:txBody>
          <a:bodyPr wrap="square" lIns="0" tIns="0" rIns="0" bIns="0" rtlCol="0" anchor="ctr"/>
          <a:lstStyle/>
          <a:p>
            <a:pPr indent="0" marL="0">
              <a:buNone/>
            </a:pPr>
            <a:r>
              <a:rPr lang="en-US" sz="2900" b="1" dirty="0">
                <a:solidFill>
                  <a:srgbClr val="1B2A4A"/>
                </a:solidFill>
                <a:latin typeface="Cambria" pitchFamily="34" charset="0"/>
                <a:ea typeface="Cambria" pitchFamily="34" charset="-122"/>
                <a:cs typeface="Cambria" pitchFamily="34" charset="-120"/>
              </a:rPr>
              <a:t>Línea del tiempo de los Sistemas Expertos</a:t>
            </a:r>
            <a:endParaRPr lang="en-US" sz="2900" dirty="0"/>
          </a:p>
        </p:txBody>
      </p:sp>
      <p:sp>
        <p:nvSpPr>
          <p:cNvPr id="4" name="Text 2"/>
          <p:cNvSpPr/>
          <p:nvPr/>
        </p:nvSpPr>
        <p:spPr>
          <a:xfrm>
            <a:off x="502920" y="1325880"/>
            <a:ext cx="8138160" cy="777240"/>
          </a:xfrm>
          <a:prstGeom prst="rect">
            <a:avLst/>
          </a:prstGeom>
          <a:noFill/>
          <a:ln/>
        </p:spPr>
        <p:txBody>
          <a:bodyPr wrap="square" lIns="0" tIns="0" rIns="0" bIns="0" rtlCol="0" anchor="t"/>
          <a:lstStyle/>
          <a:p>
            <a:pPr marL="228600" indent="-228600">
              <a:lnSpc>
                <a:spcPct val="105000"/>
              </a:lnSpc>
              <a:spcAft>
                <a:spcPts val="600"/>
              </a:spcAft>
              <a:buSzPct val="100000"/>
              <a:buChar char="•"/>
            </a:pPr>
            <a:r>
              <a:rPr lang="en-US" sz="1350" dirty="0">
                <a:solidFill>
                  <a:srgbClr val="33415C"/>
                </a:solidFill>
                <a:latin typeface="Calibri" pitchFamily="34" charset="0"/>
                <a:ea typeface="Calibri" pitchFamily="34" charset="-122"/>
                <a:cs typeface="Calibri" pitchFamily="34" charset="-120"/>
              </a:rPr>
              <a:t>Nacen en Stanford a mediados de los años 60, dentro de la corriente de la “IA simbólica”</a:t>
            </a:r>
            <a:endParaRPr lang="en-US" sz="1350" dirty="0"/>
          </a:p>
          <a:p>
            <a:pPr marL="228600" indent="-228600">
              <a:lnSpc>
                <a:spcPct val="105000"/>
              </a:lnSpc>
              <a:spcAft>
                <a:spcPts val="600"/>
              </a:spcAft>
              <a:buSzPct val="100000"/>
              <a:buChar char="•"/>
            </a:pPr>
            <a:r>
              <a:rPr lang="en-US" sz="1350" dirty="0">
                <a:solidFill>
                  <a:srgbClr val="33415C"/>
                </a:solidFill>
                <a:latin typeface="Calibri" pitchFamily="34" charset="0"/>
                <a:ea typeface="Calibri" pitchFamily="34" charset="-122"/>
                <a:cs typeface="Calibri" pitchFamily="34" charset="-120"/>
              </a:rPr>
              <a:t>Tras un fuerte auge comercial en los 80, entran en declive por sus altos costos de mantenimiento</a:t>
            </a:r>
            <a:endParaRPr lang="en-US" sz="1350" dirty="0"/>
          </a:p>
        </p:txBody>
      </p:sp>
      <p:sp>
        <p:nvSpPr>
          <p:cNvPr id="5" name="Shape 3"/>
          <p:cNvSpPr/>
          <p:nvPr/>
        </p:nvSpPr>
        <p:spPr>
          <a:xfrm>
            <a:off x="777240" y="3246120"/>
            <a:ext cx="7589520" cy="0"/>
          </a:xfrm>
          <a:prstGeom prst="line">
            <a:avLst/>
          </a:prstGeom>
          <a:noFill/>
          <a:ln w="25400">
            <a:solidFill>
              <a:srgbClr val="3D5A80"/>
            </a:solidFill>
            <a:prstDash val="solid"/>
          </a:ln>
        </p:spPr>
      </p:sp>
      <p:sp>
        <p:nvSpPr>
          <p:cNvPr id="6" name="Shape 4"/>
          <p:cNvSpPr/>
          <p:nvPr/>
        </p:nvSpPr>
        <p:spPr>
          <a:xfrm>
            <a:off x="548640" y="3017520"/>
            <a:ext cx="457200" cy="457200"/>
          </a:xfrm>
          <a:prstGeom prst="ellipse">
            <a:avLst/>
          </a:prstGeom>
          <a:solidFill>
            <a:srgbClr val="3D5A80"/>
          </a:solidFill>
          <a:ln/>
        </p:spPr>
      </p:sp>
      <p:pic>
        <p:nvPicPr>
          <p:cNvPr id="7" name="Image 0" descr="preencoded.png">    </p:cNvPr>
          <p:cNvPicPr>
            <a:picLocks noChangeAspect="1"/>
          </p:cNvPicPr>
          <p:nvPr/>
        </p:nvPicPr>
        <p:blipFill>
          <a:blip r:embed="rId1"/>
          <a:stretch>
            <a:fillRect/>
          </a:stretch>
        </p:blipFill>
        <p:spPr>
          <a:xfrm>
            <a:off x="621792" y="3090672"/>
            <a:ext cx="310896" cy="310896"/>
          </a:xfrm>
          <a:prstGeom prst="rect">
            <a:avLst/>
          </a:prstGeom>
        </p:spPr>
      </p:pic>
      <p:sp>
        <p:nvSpPr>
          <p:cNvPr id="8" name="Text 5"/>
          <p:cNvSpPr/>
          <p:nvPr/>
        </p:nvSpPr>
        <p:spPr>
          <a:xfrm>
            <a:off x="68580" y="1828800"/>
            <a:ext cx="1417320" cy="228600"/>
          </a:xfrm>
          <a:prstGeom prst="rect">
            <a:avLst/>
          </a:prstGeom>
          <a:noFill/>
          <a:ln/>
        </p:spPr>
        <p:txBody>
          <a:bodyPr wrap="square" lIns="0" tIns="0" rIns="0" bIns="0" rtlCol="0" anchor="t"/>
          <a:lstStyle/>
          <a:p>
            <a:pPr algn="ctr" indent="0" marL="0">
              <a:buNone/>
            </a:pPr>
            <a:r>
              <a:rPr lang="en-US" sz="1200" b="1" dirty="0">
                <a:solidFill>
                  <a:srgbClr val="E0A458"/>
                </a:solidFill>
                <a:latin typeface="Calibri" pitchFamily="34" charset="0"/>
                <a:ea typeface="Calibri" pitchFamily="34" charset="-122"/>
                <a:cs typeface="Calibri" pitchFamily="34" charset="-120"/>
              </a:rPr>
              <a:t>1965</a:t>
            </a:r>
            <a:endParaRPr lang="en-US" sz="1200" dirty="0"/>
          </a:p>
        </p:txBody>
      </p:sp>
      <p:sp>
        <p:nvSpPr>
          <p:cNvPr id="9" name="Text 6"/>
          <p:cNvSpPr/>
          <p:nvPr/>
        </p:nvSpPr>
        <p:spPr>
          <a:xfrm>
            <a:off x="68580" y="2039112"/>
            <a:ext cx="1417320" cy="228600"/>
          </a:xfrm>
          <a:prstGeom prst="rect">
            <a:avLst/>
          </a:prstGeom>
          <a:noFill/>
          <a:ln/>
        </p:spPr>
        <p:txBody>
          <a:bodyPr wrap="square" lIns="0" tIns="0" rIns="0" bIns="0" rtlCol="0" anchor="t"/>
          <a:lstStyle/>
          <a:p>
            <a:pPr algn="ctr" indent="0" marL="0">
              <a:buNone/>
            </a:pPr>
            <a:r>
              <a:rPr lang="en-US" sz="1250" b="1" dirty="0">
                <a:solidFill>
                  <a:srgbClr val="1B2A4A"/>
                </a:solidFill>
                <a:latin typeface="Calibri" pitchFamily="34" charset="0"/>
                <a:ea typeface="Calibri" pitchFamily="34" charset="-122"/>
                <a:cs typeface="Calibri" pitchFamily="34" charset="-120"/>
              </a:rPr>
              <a:t>DENDRAL</a:t>
            </a:r>
            <a:endParaRPr lang="en-US" sz="1250" dirty="0"/>
          </a:p>
        </p:txBody>
      </p:sp>
      <p:sp>
        <p:nvSpPr>
          <p:cNvPr id="10" name="Text 7"/>
          <p:cNvSpPr/>
          <p:nvPr/>
        </p:nvSpPr>
        <p:spPr>
          <a:xfrm>
            <a:off x="68580" y="2286000"/>
            <a:ext cx="1417320" cy="777240"/>
          </a:xfrm>
          <a:prstGeom prst="rect">
            <a:avLst/>
          </a:prstGeom>
          <a:noFill/>
          <a:ln/>
        </p:spPr>
        <p:txBody>
          <a:bodyPr wrap="square" lIns="0" tIns="0" rIns="0" bIns="0" rtlCol="0" anchor="t"/>
          <a:lstStyle/>
          <a:p>
            <a:pPr algn="ctr" indent="0" marL="0">
              <a:lnSpc>
                <a:spcPct val="105000"/>
              </a:lnSpc>
              <a:buNone/>
            </a:pPr>
            <a:r>
              <a:rPr lang="en-US" sz="900" dirty="0">
                <a:solidFill>
                  <a:srgbClr val="667186"/>
                </a:solidFill>
                <a:latin typeface="Calibri" pitchFamily="34" charset="0"/>
                <a:ea typeface="Calibri" pitchFamily="34" charset="-122"/>
                <a:cs typeface="Calibri" pitchFamily="34" charset="-120"/>
              </a:rPr>
              <a:t>1er Sistema Experto.</a:t>
            </a:r>
            <a:endParaRPr lang="en-US" sz="900" dirty="0"/>
          </a:p>
          <a:p>
            <a:pPr algn="ctr" indent="0" marL="0">
              <a:lnSpc>
                <a:spcPct val="105000"/>
              </a:lnSpc>
              <a:buNone/>
            </a:pPr>
            <a:r>
              <a:rPr lang="en-US" sz="900" dirty="0">
                <a:solidFill>
                  <a:srgbClr val="667186"/>
                </a:solidFill>
                <a:latin typeface="Calibri" pitchFamily="34" charset="0"/>
                <a:ea typeface="Calibri" pitchFamily="34" charset="-122"/>
                <a:cs typeface="Calibri" pitchFamily="34" charset="-120"/>
              </a:rPr>
              <a:t>Interpretaba espectros</a:t>
            </a:r>
            <a:endParaRPr lang="en-US" sz="900" dirty="0"/>
          </a:p>
          <a:p>
            <a:pPr algn="ctr" indent="0" marL="0">
              <a:lnSpc>
                <a:spcPct val="105000"/>
              </a:lnSpc>
              <a:buNone/>
            </a:pPr>
            <a:r>
              <a:rPr lang="en-US" sz="900" dirty="0">
                <a:solidFill>
                  <a:srgbClr val="667186"/>
                </a:solidFill>
                <a:latin typeface="Calibri" pitchFamily="34" charset="0"/>
                <a:ea typeface="Calibri" pitchFamily="34" charset="-122"/>
                <a:cs typeface="Calibri" pitchFamily="34" charset="-120"/>
              </a:rPr>
              <a:t>químicos (Stanford)</a:t>
            </a:r>
            <a:endParaRPr lang="en-US" sz="900" dirty="0"/>
          </a:p>
        </p:txBody>
      </p:sp>
      <p:sp>
        <p:nvSpPr>
          <p:cNvPr id="11" name="Shape 8"/>
          <p:cNvSpPr/>
          <p:nvPr/>
        </p:nvSpPr>
        <p:spPr>
          <a:xfrm>
            <a:off x="2066544" y="3017520"/>
            <a:ext cx="457200" cy="457200"/>
          </a:xfrm>
          <a:prstGeom prst="ellipse">
            <a:avLst/>
          </a:prstGeom>
          <a:solidFill>
            <a:srgbClr val="E0A458"/>
          </a:solidFill>
          <a:ln/>
        </p:spPr>
      </p:sp>
      <p:pic>
        <p:nvPicPr>
          <p:cNvPr id="12" name="Image 1" descr="preencoded.png">    </p:cNvPr>
          <p:cNvPicPr>
            <a:picLocks noChangeAspect="1"/>
          </p:cNvPicPr>
          <p:nvPr/>
        </p:nvPicPr>
        <p:blipFill>
          <a:blip r:embed="rId2"/>
          <a:stretch>
            <a:fillRect/>
          </a:stretch>
        </p:blipFill>
        <p:spPr>
          <a:xfrm>
            <a:off x="2139696" y="3090672"/>
            <a:ext cx="310896" cy="310896"/>
          </a:xfrm>
          <a:prstGeom prst="rect">
            <a:avLst/>
          </a:prstGeom>
        </p:spPr>
      </p:pic>
      <p:sp>
        <p:nvSpPr>
          <p:cNvPr id="13" name="Text 9"/>
          <p:cNvSpPr/>
          <p:nvPr/>
        </p:nvSpPr>
        <p:spPr>
          <a:xfrm>
            <a:off x="1586484" y="3566160"/>
            <a:ext cx="1417320" cy="228600"/>
          </a:xfrm>
          <a:prstGeom prst="rect">
            <a:avLst/>
          </a:prstGeom>
          <a:noFill/>
          <a:ln/>
        </p:spPr>
        <p:txBody>
          <a:bodyPr wrap="square" lIns="0" tIns="0" rIns="0" bIns="0" rtlCol="0" anchor="t"/>
          <a:lstStyle/>
          <a:p>
            <a:pPr algn="ctr" indent="0" marL="0">
              <a:buNone/>
            </a:pPr>
            <a:r>
              <a:rPr lang="en-US" sz="1200" b="1" dirty="0">
                <a:solidFill>
                  <a:srgbClr val="E0A458"/>
                </a:solidFill>
                <a:latin typeface="Calibri" pitchFamily="34" charset="0"/>
                <a:ea typeface="Calibri" pitchFamily="34" charset="-122"/>
                <a:cs typeface="Calibri" pitchFamily="34" charset="-120"/>
              </a:rPr>
              <a:t>1976</a:t>
            </a:r>
            <a:endParaRPr lang="en-US" sz="1200" dirty="0"/>
          </a:p>
        </p:txBody>
      </p:sp>
      <p:sp>
        <p:nvSpPr>
          <p:cNvPr id="14" name="Text 10"/>
          <p:cNvSpPr/>
          <p:nvPr/>
        </p:nvSpPr>
        <p:spPr>
          <a:xfrm>
            <a:off x="1586484" y="3776472"/>
            <a:ext cx="1417320" cy="228600"/>
          </a:xfrm>
          <a:prstGeom prst="rect">
            <a:avLst/>
          </a:prstGeom>
          <a:noFill/>
          <a:ln/>
        </p:spPr>
        <p:txBody>
          <a:bodyPr wrap="square" lIns="0" tIns="0" rIns="0" bIns="0" rtlCol="0" anchor="t"/>
          <a:lstStyle/>
          <a:p>
            <a:pPr algn="ctr" indent="0" marL="0">
              <a:buNone/>
            </a:pPr>
            <a:r>
              <a:rPr lang="en-US" sz="1250" b="1" dirty="0">
                <a:solidFill>
                  <a:srgbClr val="1B2A4A"/>
                </a:solidFill>
                <a:latin typeface="Calibri" pitchFamily="34" charset="0"/>
                <a:ea typeface="Calibri" pitchFamily="34" charset="-122"/>
                <a:cs typeface="Calibri" pitchFamily="34" charset="-120"/>
              </a:rPr>
              <a:t>MYCIN</a:t>
            </a:r>
            <a:endParaRPr lang="en-US" sz="1250" dirty="0"/>
          </a:p>
        </p:txBody>
      </p:sp>
      <p:sp>
        <p:nvSpPr>
          <p:cNvPr id="15" name="Text 11"/>
          <p:cNvSpPr/>
          <p:nvPr/>
        </p:nvSpPr>
        <p:spPr>
          <a:xfrm>
            <a:off x="1586484" y="4005072"/>
            <a:ext cx="1417320" cy="777240"/>
          </a:xfrm>
          <a:prstGeom prst="rect">
            <a:avLst/>
          </a:prstGeom>
          <a:noFill/>
          <a:ln/>
        </p:spPr>
        <p:txBody>
          <a:bodyPr wrap="square" lIns="0" tIns="0" rIns="0" bIns="0" rtlCol="0" anchor="t"/>
          <a:lstStyle/>
          <a:p>
            <a:pPr algn="ctr" indent="0" marL="0">
              <a:lnSpc>
                <a:spcPct val="105000"/>
              </a:lnSpc>
              <a:buNone/>
            </a:pPr>
            <a:r>
              <a:rPr lang="en-US" sz="900" dirty="0">
                <a:solidFill>
                  <a:srgbClr val="667186"/>
                </a:solidFill>
                <a:latin typeface="Calibri" pitchFamily="34" charset="0"/>
                <a:ea typeface="Calibri" pitchFamily="34" charset="-122"/>
                <a:cs typeface="Calibri" pitchFamily="34" charset="-120"/>
              </a:rPr>
              <a:t>Diagnóstico de</a:t>
            </a:r>
            <a:endParaRPr lang="en-US" sz="900" dirty="0"/>
          </a:p>
          <a:p>
            <a:pPr algn="ctr" indent="0" marL="0">
              <a:lnSpc>
                <a:spcPct val="105000"/>
              </a:lnSpc>
              <a:buNone/>
            </a:pPr>
            <a:r>
              <a:rPr lang="en-US" sz="900" dirty="0">
                <a:solidFill>
                  <a:srgbClr val="667186"/>
                </a:solidFill>
                <a:latin typeface="Calibri" pitchFamily="34" charset="0"/>
                <a:ea typeface="Calibri" pitchFamily="34" charset="-122"/>
                <a:cs typeface="Calibri" pitchFamily="34" charset="-120"/>
              </a:rPr>
              <a:t>infecciones con</a:t>
            </a:r>
            <a:endParaRPr lang="en-US" sz="900" dirty="0"/>
          </a:p>
          <a:p>
            <a:pPr algn="ctr" indent="0" marL="0">
              <a:lnSpc>
                <a:spcPct val="105000"/>
              </a:lnSpc>
              <a:buNone/>
            </a:pPr>
            <a:r>
              <a:rPr lang="en-US" sz="900" dirty="0">
                <a:solidFill>
                  <a:srgbClr val="667186"/>
                </a:solidFill>
                <a:latin typeface="Calibri" pitchFamily="34" charset="0"/>
                <a:ea typeface="Calibri" pitchFamily="34" charset="-122"/>
                <a:cs typeface="Calibri" pitchFamily="34" charset="-120"/>
              </a:rPr>
              <a:t>~600 reglas</a:t>
            </a:r>
            <a:endParaRPr lang="en-US" sz="900" dirty="0"/>
          </a:p>
        </p:txBody>
      </p:sp>
      <p:sp>
        <p:nvSpPr>
          <p:cNvPr id="16" name="Shape 12"/>
          <p:cNvSpPr/>
          <p:nvPr/>
        </p:nvSpPr>
        <p:spPr>
          <a:xfrm>
            <a:off x="3584448" y="3017520"/>
            <a:ext cx="457200" cy="457200"/>
          </a:xfrm>
          <a:prstGeom prst="ellipse">
            <a:avLst/>
          </a:prstGeom>
          <a:solidFill>
            <a:srgbClr val="3D5A80"/>
          </a:solidFill>
          <a:ln/>
        </p:spPr>
      </p:sp>
      <p:pic>
        <p:nvPicPr>
          <p:cNvPr id="17" name="Image 2" descr="preencoded.png">    </p:cNvPr>
          <p:cNvPicPr>
            <a:picLocks noChangeAspect="1"/>
          </p:cNvPicPr>
          <p:nvPr/>
        </p:nvPicPr>
        <p:blipFill>
          <a:blip r:embed="rId3"/>
          <a:stretch>
            <a:fillRect/>
          </a:stretch>
        </p:blipFill>
        <p:spPr>
          <a:xfrm>
            <a:off x="3657600" y="3090672"/>
            <a:ext cx="310896" cy="310896"/>
          </a:xfrm>
          <a:prstGeom prst="rect">
            <a:avLst/>
          </a:prstGeom>
        </p:spPr>
      </p:pic>
      <p:sp>
        <p:nvSpPr>
          <p:cNvPr id="18" name="Text 13"/>
          <p:cNvSpPr/>
          <p:nvPr/>
        </p:nvSpPr>
        <p:spPr>
          <a:xfrm>
            <a:off x="3104388" y="1828800"/>
            <a:ext cx="1417320" cy="228600"/>
          </a:xfrm>
          <a:prstGeom prst="rect">
            <a:avLst/>
          </a:prstGeom>
          <a:noFill/>
          <a:ln/>
        </p:spPr>
        <p:txBody>
          <a:bodyPr wrap="square" lIns="0" tIns="0" rIns="0" bIns="0" rtlCol="0" anchor="t"/>
          <a:lstStyle/>
          <a:p>
            <a:pPr algn="ctr" indent="0" marL="0">
              <a:buNone/>
            </a:pPr>
            <a:r>
              <a:rPr lang="en-US" sz="1200" b="1" dirty="0">
                <a:solidFill>
                  <a:srgbClr val="E0A458"/>
                </a:solidFill>
                <a:latin typeface="Calibri" pitchFamily="34" charset="0"/>
                <a:ea typeface="Calibri" pitchFamily="34" charset="-122"/>
                <a:cs typeface="Calibri" pitchFamily="34" charset="-120"/>
              </a:rPr>
              <a:t>1980</a:t>
            </a:r>
            <a:endParaRPr lang="en-US" sz="1200" dirty="0"/>
          </a:p>
        </p:txBody>
      </p:sp>
      <p:sp>
        <p:nvSpPr>
          <p:cNvPr id="19" name="Text 14"/>
          <p:cNvSpPr/>
          <p:nvPr/>
        </p:nvSpPr>
        <p:spPr>
          <a:xfrm>
            <a:off x="3104388" y="2039112"/>
            <a:ext cx="1417320" cy="228600"/>
          </a:xfrm>
          <a:prstGeom prst="rect">
            <a:avLst/>
          </a:prstGeom>
          <a:noFill/>
          <a:ln/>
        </p:spPr>
        <p:txBody>
          <a:bodyPr wrap="square" lIns="0" tIns="0" rIns="0" bIns="0" rtlCol="0" anchor="t"/>
          <a:lstStyle/>
          <a:p>
            <a:pPr algn="ctr" indent="0" marL="0">
              <a:buNone/>
            </a:pPr>
            <a:r>
              <a:rPr lang="en-US" sz="1250" b="1" dirty="0">
                <a:solidFill>
                  <a:srgbClr val="1B2A4A"/>
                </a:solidFill>
                <a:latin typeface="Calibri" pitchFamily="34" charset="0"/>
                <a:ea typeface="Calibri" pitchFamily="34" charset="-122"/>
                <a:cs typeface="Calibri" pitchFamily="34" charset="-120"/>
              </a:rPr>
              <a:t>XCON / R1</a:t>
            </a:r>
            <a:endParaRPr lang="en-US" sz="1250" dirty="0"/>
          </a:p>
        </p:txBody>
      </p:sp>
      <p:sp>
        <p:nvSpPr>
          <p:cNvPr id="20" name="Text 15"/>
          <p:cNvSpPr/>
          <p:nvPr/>
        </p:nvSpPr>
        <p:spPr>
          <a:xfrm>
            <a:off x="3104388" y="2286000"/>
            <a:ext cx="1417320" cy="777240"/>
          </a:xfrm>
          <a:prstGeom prst="rect">
            <a:avLst/>
          </a:prstGeom>
          <a:noFill/>
          <a:ln/>
        </p:spPr>
        <p:txBody>
          <a:bodyPr wrap="square" lIns="0" tIns="0" rIns="0" bIns="0" rtlCol="0" anchor="t"/>
          <a:lstStyle/>
          <a:p>
            <a:pPr algn="ctr" indent="0" marL="0">
              <a:lnSpc>
                <a:spcPct val="105000"/>
              </a:lnSpc>
              <a:buNone/>
            </a:pPr>
            <a:r>
              <a:rPr lang="en-US" sz="900" dirty="0">
                <a:solidFill>
                  <a:srgbClr val="667186"/>
                </a:solidFill>
                <a:latin typeface="Calibri" pitchFamily="34" charset="0"/>
                <a:ea typeface="Calibri" pitchFamily="34" charset="-122"/>
                <a:cs typeface="Calibri" pitchFamily="34" charset="-120"/>
              </a:rPr>
              <a:t>Configuraba</a:t>
            </a:r>
            <a:endParaRPr lang="en-US" sz="900" dirty="0"/>
          </a:p>
          <a:p>
            <a:pPr algn="ctr" indent="0" marL="0">
              <a:lnSpc>
                <a:spcPct val="105000"/>
              </a:lnSpc>
              <a:buNone/>
            </a:pPr>
            <a:r>
              <a:rPr lang="en-US" sz="900" dirty="0">
                <a:solidFill>
                  <a:srgbClr val="667186"/>
                </a:solidFill>
                <a:latin typeface="Calibri" pitchFamily="34" charset="0"/>
                <a:ea typeface="Calibri" pitchFamily="34" charset="-122"/>
                <a:cs typeface="Calibri" pitchFamily="34" charset="-120"/>
              </a:rPr>
              <a:t>computadoras VAX</a:t>
            </a:r>
            <a:endParaRPr lang="en-US" sz="900" dirty="0"/>
          </a:p>
          <a:p>
            <a:pPr algn="ctr" indent="0" marL="0">
              <a:lnSpc>
                <a:spcPct val="105000"/>
              </a:lnSpc>
              <a:buNone/>
            </a:pPr>
            <a:r>
              <a:rPr lang="en-US" sz="900" dirty="0">
                <a:solidFill>
                  <a:srgbClr val="667186"/>
                </a:solidFill>
                <a:latin typeface="Calibri" pitchFamily="34" charset="0"/>
                <a:ea typeface="Calibri" pitchFamily="34" charset="-122"/>
                <a:cs typeface="Calibri" pitchFamily="34" charset="-120"/>
              </a:rPr>
              <a:t>en DEC</a:t>
            </a:r>
            <a:endParaRPr lang="en-US" sz="900" dirty="0"/>
          </a:p>
        </p:txBody>
      </p:sp>
      <p:sp>
        <p:nvSpPr>
          <p:cNvPr id="21" name="Shape 16"/>
          <p:cNvSpPr/>
          <p:nvPr/>
        </p:nvSpPr>
        <p:spPr>
          <a:xfrm>
            <a:off x="5102352" y="3017520"/>
            <a:ext cx="457200" cy="457200"/>
          </a:xfrm>
          <a:prstGeom prst="ellipse">
            <a:avLst/>
          </a:prstGeom>
          <a:solidFill>
            <a:srgbClr val="3D5A80"/>
          </a:solidFill>
          <a:ln/>
        </p:spPr>
      </p:sp>
      <p:pic>
        <p:nvPicPr>
          <p:cNvPr id="22" name="Image 3" descr="preencoded.png">    </p:cNvPr>
          <p:cNvPicPr>
            <a:picLocks noChangeAspect="1"/>
          </p:cNvPicPr>
          <p:nvPr/>
        </p:nvPicPr>
        <p:blipFill>
          <a:blip r:embed="rId4"/>
          <a:stretch>
            <a:fillRect/>
          </a:stretch>
        </p:blipFill>
        <p:spPr>
          <a:xfrm>
            <a:off x="5175504" y="3090672"/>
            <a:ext cx="310896" cy="310896"/>
          </a:xfrm>
          <a:prstGeom prst="rect">
            <a:avLst/>
          </a:prstGeom>
        </p:spPr>
      </p:pic>
      <p:sp>
        <p:nvSpPr>
          <p:cNvPr id="23" name="Text 17"/>
          <p:cNvSpPr/>
          <p:nvPr/>
        </p:nvSpPr>
        <p:spPr>
          <a:xfrm>
            <a:off x="4622292" y="3566160"/>
            <a:ext cx="1417320" cy="228600"/>
          </a:xfrm>
          <a:prstGeom prst="rect">
            <a:avLst/>
          </a:prstGeom>
          <a:noFill/>
          <a:ln/>
        </p:spPr>
        <p:txBody>
          <a:bodyPr wrap="square" lIns="0" tIns="0" rIns="0" bIns="0" rtlCol="0" anchor="t"/>
          <a:lstStyle/>
          <a:p>
            <a:pPr algn="ctr" indent="0" marL="0">
              <a:buNone/>
            </a:pPr>
            <a:r>
              <a:rPr lang="en-US" sz="1200" b="1" dirty="0">
                <a:solidFill>
                  <a:srgbClr val="E0A458"/>
                </a:solidFill>
                <a:latin typeface="Calibri" pitchFamily="34" charset="0"/>
                <a:ea typeface="Calibri" pitchFamily="34" charset="-122"/>
                <a:cs typeface="Calibri" pitchFamily="34" charset="-120"/>
              </a:rPr>
              <a:t>1980s</a:t>
            </a:r>
            <a:endParaRPr lang="en-US" sz="1200" dirty="0"/>
          </a:p>
        </p:txBody>
      </p:sp>
      <p:sp>
        <p:nvSpPr>
          <p:cNvPr id="24" name="Text 18"/>
          <p:cNvSpPr/>
          <p:nvPr/>
        </p:nvSpPr>
        <p:spPr>
          <a:xfrm>
            <a:off x="4622292" y="3776472"/>
            <a:ext cx="1417320" cy="228600"/>
          </a:xfrm>
          <a:prstGeom prst="rect">
            <a:avLst/>
          </a:prstGeom>
          <a:noFill/>
          <a:ln/>
        </p:spPr>
        <p:txBody>
          <a:bodyPr wrap="square" lIns="0" tIns="0" rIns="0" bIns="0" rtlCol="0" anchor="t"/>
          <a:lstStyle/>
          <a:p>
            <a:pPr algn="ctr" indent="0" marL="0">
              <a:buNone/>
            </a:pPr>
            <a:r>
              <a:rPr lang="en-US" sz="1250" b="1" dirty="0">
                <a:solidFill>
                  <a:srgbClr val="1B2A4A"/>
                </a:solidFill>
                <a:latin typeface="Calibri" pitchFamily="34" charset="0"/>
                <a:ea typeface="Calibri" pitchFamily="34" charset="-122"/>
                <a:cs typeface="Calibri" pitchFamily="34" charset="-120"/>
              </a:rPr>
              <a:t>Auge comercial</a:t>
            </a:r>
            <a:endParaRPr lang="en-US" sz="1250" dirty="0"/>
          </a:p>
        </p:txBody>
      </p:sp>
      <p:sp>
        <p:nvSpPr>
          <p:cNvPr id="25" name="Text 19"/>
          <p:cNvSpPr/>
          <p:nvPr/>
        </p:nvSpPr>
        <p:spPr>
          <a:xfrm>
            <a:off x="4622292" y="4005072"/>
            <a:ext cx="1417320" cy="777240"/>
          </a:xfrm>
          <a:prstGeom prst="rect">
            <a:avLst/>
          </a:prstGeom>
          <a:noFill/>
          <a:ln/>
        </p:spPr>
        <p:txBody>
          <a:bodyPr wrap="square" lIns="0" tIns="0" rIns="0" bIns="0" rtlCol="0" anchor="t"/>
          <a:lstStyle/>
          <a:p>
            <a:pPr algn="ctr" indent="0" marL="0">
              <a:lnSpc>
                <a:spcPct val="105000"/>
              </a:lnSpc>
              <a:buNone/>
            </a:pPr>
            <a:r>
              <a:rPr lang="en-US" sz="900" dirty="0">
                <a:solidFill>
                  <a:srgbClr val="667186"/>
                </a:solidFill>
                <a:latin typeface="Calibri" pitchFamily="34" charset="0"/>
                <a:ea typeface="Calibri" pitchFamily="34" charset="-122"/>
                <a:cs typeface="Calibri" pitchFamily="34" charset="-120"/>
              </a:rPr>
              <a:t>Shells comerciales:</a:t>
            </a:r>
            <a:endParaRPr lang="en-US" sz="900" dirty="0"/>
          </a:p>
          <a:p>
            <a:pPr algn="ctr" indent="0" marL="0">
              <a:lnSpc>
                <a:spcPct val="105000"/>
              </a:lnSpc>
              <a:buNone/>
            </a:pPr>
            <a:r>
              <a:rPr lang="en-US" sz="900" dirty="0">
                <a:solidFill>
                  <a:srgbClr val="667186"/>
                </a:solidFill>
                <a:latin typeface="Calibri" pitchFamily="34" charset="0"/>
                <a:ea typeface="Calibri" pitchFamily="34" charset="-122"/>
                <a:cs typeface="Calibri" pitchFamily="34" charset="-120"/>
              </a:rPr>
              <a:t>EMYCIN, OPS5</a:t>
            </a:r>
            <a:endParaRPr lang="en-US" sz="900" dirty="0"/>
          </a:p>
        </p:txBody>
      </p:sp>
      <p:sp>
        <p:nvSpPr>
          <p:cNvPr id="26" name="Shape 20"/>
          <p:cNvSpPr/>
          <p:nvPr/>
        </p:nvSpPr>
        <p:spPr>
          <a:xfrm>
            <a:off x="6620256" y="3017520"/>
            <a:ext cx="457200" cy="457200"/>
          </a:xfrm>
          <a:prstGeom prst="ellipse">
            <a:avLst/>
          </a:prstGeom>
          <a:solidFill>
            <a:srgbClr val="3D5A80"/>
          </a:solidFill>
          <a:ln/>
        </p:spPr>
      </p:sp>
      <p:pic>
        <p:nvPicPr>
          <p:cNvPr id="27" name="Image 4" descr="preencoded.png">    </p:cNvPr>
          <p:cNvPicPr>
            <a:picLocks noChangeAspect="1"/>
          </p:cNvPicPr>
          <p:nvPr/>
        </p:nvPicPr>
        <p:blipFill>
          <a:blip r:embed="rId5"/>
          <a:stretch>
            <a:fillRect/>
          </a:stretch>
        </p:blipFill>
        <p:spPr>
          <a:xfrm>
            <a:off x="6693408" y="3090672"/>
            <a:ext cx="310896" cy="310896"/>
          </a:xfrm>
          <a:prstGeom prst="rect">
            <a:avLst/>
          </a:prstGeom>
        </p:spPr>
      </p:pic>
      <p:sp>
        <p:nvSpPr>
          <p:cNvPr id="28" name="Text 21"/>
          <p:cNvSpPr/>
          <p:nvPr/>
        </p:nvSpPr>
        <p:spPr>
          <a:xfrm>
            <a:off x="6140196" y="1828800"/>
            <a:ext cx="1417320" cy="228600"/>
          </a:xfrm>
          <a:prstGeom prst="rect">
            <a:avLst/>
          </a:prstGeom>
          <a:noFill/>
          <a:ln/>
        </p:spPr>
        <p:txBody>
          <a:bodyPr wrap="square" lIns="0" tIns="0" rIns="0" bIns="0" rtlCol="0" anchor="t"/>
          <a:lstStyle/>
          <a:p>
            <a:pPr algn="ctr" indent="0" marL="0">
              <a:buNone/>
            </a:pPr>
            <a:r>
              <a:rPr lang="en-US" sz="1200" b="1" dirty="0">
                <a:solidFill>
                  <a:srgbClr val="E0A458"/>
                </a:solidFill>
                <a:latin typeface="Calibri" pitchFamily="34" charset="0"/>
                <a:ea typeface="Calibri" pitchFamily="34" charset="-122"/>
                <a:cs typeface="Calibri" pitchFamily="34" charset="-120"/>
              </a:rPr>
              <a:t>1987</a:t>
            </a:r>
            <a:endParaRPr lang="en-US" sz="1200" dirty="0"/>
          </a:p>
        </p:txBody>
      </p:sp>
      <p:sp>
        <p:nvSpPr>
          <p:cNvPr id="29" name="Text 22"/>
          <p:cNvSpPr/>
          <p:nvPr/>
        </p:nvSpPr>
        <p:spPr>
          <a:xfrm>
            <a:off x="6140196" y="2039112"/>
            <a:ext cx="1417320" cy="228600"/>
          </a:xfrm>
          <a:prstGeom prst="rect">
            <a:avLst/>
          </a:prstGeom>
          <a:noFill/>
          <a:ln/>
        </p:spPr>
        <p:txBody>
          <a:bodyPr wrap="square" lIns="0" tIns="0" rIns="0" bIns="0" rtlCol="0" anchor="t"/>
          <a:lstStyle/>
          <a:p>
            <a:pPr algn="ctr" indent="0" marL="0">
              <a:buNone/>
            </a:pPr>
            <a:r>
              <a:rPr lang="en-US" sz="1250" b="1" dirty="0">
                <a:solidFill>
                  <a:srgbClr val="1B2A4A"/>
                </a:solidFill>
                <a:latin typeface="Calibri" pitchFamily="34" charset="0"/>
                <a:ea typeface="Calibri" pitchFamily="34" charset="-122"/>
                <a:cs typeface="Calibri" pitchFamily="34" charset="-120"/>
              </a:rPr>
              <a:t>Declive</a:t>
            </a:r>
            <a:endParaRPr lang="en-US" sz="1250" dirty="0"/>
          </a:p>
        </p:txBody>
      </p:sp>
      <p:sp>
        <p:nvSpPr>
          <p:cNvPr id="30" name="Text 23"/>
          <p:cNvSpPr/>
          <p:nvPr/>
        </p:nvSpPr>
        <p:spPr>
          <a:xfrm>
            <a:off x="6140196" y="2286000"/>
            <a:ext cx="1417320" cy="777240"/>
          </a:xfrm>
          <a:prstGeom prst="rect">
            <a:avLst/>
          </a:prstGeom>
          <a:noFill/>
          <a:ln/>
        </p:spPr>
        <p:txBody>
          <a:bodyPr wrap="square" lIns="0" tIns="0" rIns="0" bIns="0" rtlCol="0" anchor="t"/>
          <a:lstStyle/>
          <a:p>
            <a:pPr algn="ctr" indent="0" marL="0">
              <a:lnSpc>
                <a:spcPct val="105000"/>
              </a:lnSpc>
              <a:buNone/>
            </a:pPr>
            <a:r>
              <a:rPr lang="en-US" sz="900" dirty="0">
                <a:solidFill>
                  <a:srgbClr val="667186"/>
                </a:solidFill>
                <a:latin typeface="Calibri" pitchFamily="34" charset="0"/>
                <a:ea typeface="Calibri" pitchFamily="34" charset="-122"/>
                <a:cs typeface="Calibri" pitchFamily="34" charset="-120"/>
              </a:rPr>
              <a:t>“Invierno” de los SE</a:t>
            </a:r>
            <a:endParaRPr lang="en-US" sz="900" dirty="0"/>
          </a:p>
          <a:p>
            <a:pPr algn="ctr" indent="0" marL="0">
              <a:lnSpc>
                <a:spcPct val="105000"/>
              </a:lnSpc>
              <a:buNone/>
            </a:pPr>
            <a:r>
              <a:rPr lang="en-US" sz="900" dirty="0">
                <a:solidFill>
                  <a:srgbClr val="667186"/>
                </a:solidFill>
                <a:latin typeface="Calibri" pitchFamily="34" charset="0"/>
                <a:ea typeface="Calibri" pitchFamily="34" charset="-122"/>
                <a:cs typeface="Calibri" pitchFamily="34" charset="-120"/>
              </a:rPr>
              <a:t>por costo y rigidez</a:t>
            </a:r>
            <a:endParaRPr lang="en-US" sz="900" dirty="0"/>
          </a:p>
        </p:txBody>
      </p:sp>
      <p:sp>
        <p:nvSpPr>
          <p:cNvPr id="31" name="Shape 24"/>
          <p:cNvSpPr/>
          <p:nvPr/>
        </p:nvSpPr>
        <p:spPr>
          <a:xfrm>
            <a:off x="8138160" y="3017520"/>
            <a:ext cx="457200" cy="457200"/>
          </a:xfrm>
          <a:prstGeom prst="ellipse">
            <a:avLst/>
          </a:prstGeom>
          <a:solidFill>
            <a:srgbClr val="3D5A80"/>
          </a:solidFill>
          <a:ln/>
        </p:spPr>
      </p:sp>
      <p:pic>
        <p:nvPicPr>
          <p:cNvPr id="32" name="Image 5" descr="preencoded.png">    </p:cNvPr>
          <p:cNvPicPr>
            <a:picLocks noChangeAspect="1"/>
          </p:cNvPicPr>
          <p:nvPr/>
        </p:nvPicPr>
        <p:blipFill>
          <a:blip r:embed="rId6"/>
          <a:stretch>
            <a:fillRect/>
          </a:stretch>
        </p:blipFill>
        <p:spPr>
          <a:xfrm>
            <a:off x="8211312" y="3090672"/>
            <a:ext cx="310896" cy="310896"/>
          </a:xfrm>
          <a:prstGeom prst="rect">
            <a:avLst/>
          </a:prstGeom>
        </p:spPr>
      </p:pic>
      <p:sp>
        <p:nvSpPr>
          <p:cNvPr id="33" name="Text 25"/>
          <p:cNvSpPr/>
          <p:nvPr/>
        </p:nvSpPr>
        <p:spPr>
          <a:xfrm>
            <a:off x="7658100" y="3566160"/>
            <a:ext cx="1417320" cy="228600"/>
          </a:xfrm>
          <a:prstGeom prst="rect">
            <a:avLst/>
          </a:prstGeom>
          <a:noFill/>
          <a:ln/>
        </p:spPr>
        <p:txBody>
          <a:bodyPr wrap="square" lIns="0" tIns="0" rIns="0" bIns="0" rtlCol="0" anchor="t"/>
          <a:lstStyle/>
          <a:p>
            <a:pPr algn="ctr" indent="0" marL="0">
              <a:buNone/>
            </a:pPr>
            <a:r>
              <a:rPr lang="en-US" sz="1200" b="1" dirty="0">
                <a:solidFill>
                  <a:srgbClr val="E0A458"/>
                </a:solidFill>
                <a:latin typeface="Calibri" pitchFamily="34" charset="0"/>
                <a:ea typeface="Calibri" pitchFamily="34" charset="-122"/>
                <a:cs typeface="Calibri" pitchFamily="34" charset="-120"/>
              </a:rPr>
              <a:t>2000s–hoy</a:t>
            </a:r>
            <a:endParaRPr lang="en-US" sz="1200" dirty="0"/>
          </a:p>
        </p:txBody>
      </p:sp>
      <p:sp>
        <p:nvSpPr>
          <p:cNvPr id="34" name="Text 26"/>
          <p:cNvSpPr/>
          <p:nvPr/>
        </p:nvSpPr>
        <p:spPr>
          <a:xfrm>
            <a:off x="7658100" y="3776472"/>
            <a:ext cx="1417320" cy="228600"/>
          </a:xfrm>
          <a:prstGeom prst="rect">
            <a:avLst/>
          </a:prstGeom>
          <a:noFill/>
          <a:ln/>
        </p:spPr>
        <p:txBody>
          <a:bodyPr wrap="square" lIns="0" tIns="0" rIns="0" bIns="0" rtlCol="0" anchor="t"/>
          <a:lstStyle/>
          <a:p>
            <a:pPr algn="ctr" indent="0" marL="0">
              <a:buNone/>
            </a:pPr>
            <a:r>
              <a:rPr lang="en-US" sz="1250" b="1" dirty="0">
                <a:solidFill>
                  <a:srgbClr val="1B2A4A"/>
                </a:solidFill>
                <a:latin typeface="Calibri" pitchFamily="34" charset="0"/>
                <a:ea typeface="Calibri" pitchFamily="34" charset="-122"/>
                <a:cs typeface="Calibri" pitchFamily="34" charset="-120"/>
              </a:rPr>
              <a:t>Sistemas híbridos</a:t>
            </a:r>
            <a:endParaRPr lang="en-US" sz="1250" dirty="0"/>
          </a:p>
        </p:txBody>
      </p:sp>
      <p:sp>
        <p:nvSpPr>
          <p:cNvPr id="35" name="Text 27"/>
          <p:cNvSpPr/>
          <p:nvPr/>
        </p:nvSpPr>
        <p:spPr>
          <a:xfrm>
            <a:off x="7658100" y="4005072"/>
            <a:ext cx="1417320" cy="777240"/>
          </a:xfrm>
          <a:prstGeom prst="rect">
            <a:avLst/>
          </a:prstGeom>
          <a:noFill/>
          <a:ln/>
        </p:spPr>
        <p:txBody>
          <a:bodyPr wrap="square" lIns="0" tIns="0" rIns="0" bIns="0" rtlCol="0" anchor="t"/>
          <a:lstStyle/>
          <a:p>
            <a:pPr algn="ctr" indent="0" marL="0">
              <a:lnSpc>
                <a:spcPct val="105000"/>
              </a:lnSpc>
              <a:buNone/>
            </a:pPr>
            <a:r>
              <a:rPr lang="en-US" sz="900" dirty="0">
                <a:solidFill>
                  <a:srgbClr val="667186"/>
                </a:solidFill>
                <a:latin typeface="Calibri" pitchFamily="34" charset="0"/>
                <a:ea typeface="Calibri" pitchFamily="34" charset="-122"/>
                <a:cs typeface="Calibri" pitchFamily="34" charset="-120"/>
              </a:rPr>
              <a:t>Integración con</a:t>
            </a:r>
            <a:endParaRPr lang="en-US" sz="900" dirty="0"/>
          </a:p>
          <a:p>
            <a:pPr algn="ctr" indent="0" marL="0">
              <a:lnSpc>
                <a:spcPct val="105000"/>
              </a:lnSpc>
              <a:buNone/>
            </a:pPr>
            <a:r>
              <a:rPr lang="en-US" sz="900" dirty="0">
                <a:solidFill>
                  <a:srgbClr val="667186"/>
                </a:solidFill>
                <a:latin typeface="Calibri" pitchFamily="34" charset="0"/>
                <a:ea typeface="Calibri" pitchFamily="34" charset="-122"/>
                <a:cs typeface="Calibri" pitchFamily="34" charset="-120"/>
              </a:rPr>
              <a:t>Machine Learning</a:t>
            </a:r>
            <a:endParaRPr lang="en-US" sz="900" dirty="0"/>
          </a:p>
        </p:txBody>
      </p:sp>
      <p:sp>
        <p:nvSpPr>
          <p:cNvPr id="36" name="Text 28"/>
          <p:cNvSpPr/>
          <p:nvPr/>
        </p:nvSpPr>
        <p:spPr>
          <a:xfrm>
            <a:off x="8366760" y="4864608"/>
            <a:ext cx="457200" cy="228600"/>
          </a:xfrm>
          <a:prstGeom prst="rect">
            <a:avLst/>
          </a:prstGeom>
          <a:noFill/>
          <a:ln/>
        </p:spPr>
        <p:txBody>
          <a:bodyPr wrap="square" lIns="0" tIns="0" rIns="0" bIns="0" rtlCol="0" anchor="ctr"/>
          <a:lstStyle/>
          <a:p>
            <a:pPr algn="r" indent="0" marL="0">
              <a:buNone/>
            </a:pPr>
            <a:r>
              <a:rPr lang="en-US" sz="900" dirty="0">
                <a:solidFill>
                  <a:srgbClr val="667186"/>
                </a:solidFill>
                <a:latin typeface="Calibri" pitchFamily="34" charset="0"/>
                <a:ea typeface="Calibri" pitchFamily="34" charset="-122"/>
                <a:cs typeface="Calibri" pitchFamily="34" charset="-120"/>
              </a:rPr>
              <a:t>04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7772400" cy="274320"/>
          </a:xfrm>
          <a:prstGeom prst="rect">
            <a:avLst/>
          </a:prstGeom>
          <a:noFill/>
          <a:ln/>
        </p:spPr>
        <p:txBody>
          <a:bodyPr wrap="square" lIns="0" tIns="0" rIns="0" bIns="0" rtlCol="0" anchor="ctr"/>
          <a:lstStyle/>
          <a:p>
            <a:pPr indent="0" marL="0">
              <a:buNone/>
            </a:pPr>
            <a:r>
              <a:rPr lang="en-US" sz="1200" b="1" spc="200" kern="0" dirty="0">
                <a:solidFill>
                  <a:srgbClr val="E0A458"/>
                </a:solidFill>
                <a:latin typeface="Calibri" pitchFamily="34" charset="0"/>
                <a:ea typeface="Calibri" pitchFamily="34" charset="-122"/>
                <a:cs typeface="Calibri" pitchFamily="34" charset="-120"/>
              </a:rPr>
              <a:t>04 · FUNDAMENTOS</a:t>
            </a:r>
            <a:endParaRPr lang="en-US" sz="1200" dirty="0"/>
          </a:p>
        </p:txBody>
      </p:sp>
      <p:sp>
        <p:nvSpPr>
          <p:cNvPr id="3" name="Text 1"/>
          <p:cNvSpPr/>
          <p:nvPr/>
        </p:nvSpPr>
        <p:spPr>
          <a:xfrm>
            <a:off x="502920" y="566928"/>
            <a:ext cx="8138160" cy="658368"/>
          </a:xfrm>
          <a:prstGeom prst="rect">
            <a:avLst/>
          </a:prstGeom>
          <a:noFill/>
          <a:ln/>
        </p:spPr>
        <p:txBody>
          <a:bodyPr wrap="square" lIns="0" tIns="0" rIns="0" bIns="0" rtlCol="0" anchor="ctr"/>
          <a:lstStyle/>
          <a:p>
            <a:pPr indent="0" marL="0">
              <a:buNone/>
            </a:pPr>
            <a:r>
              <a:rPr lang="en-US" sz="2900" b="1" dirty="0">
                <a:solidFill>
                  <a:srgbClr val="1B2A4A"/>
                </a:solidFill>
                <a:latin typeface="Cambria" pitchFamily="34" charset="0"/>
                <a:ea typeface="Cambria" pitchFamily="34" charset="-122"/>
                <a:cs typeface="Cambria" pitchFamily="34" charset="-120"/>
              </a:rPr>
              <a:t>El concepto de conocimiento</a:t>
            </a:r>
            <a:endParaRPr lang="en-US" sz="2900" dirty="0"/>
          </a:p>
        </p:txBody>
      </p:sp>
      <p:sp>
        <p:nvSpPr>
          <p:cNvPr id="4" name="Shape 2"/>
          <p:cNvSpPr/>
          <p:nvPr/>
        </p:nvSpPr>
        <p:spPr>
          <a:xfrm>
            <a:off x="1760220" y="1481328"/>
            <a:ext cx="1143000" cy="566928"/>
          </a:xfrm>
          <a:prstGeom prst="rect">
            <a:avLst/>
          </a:prstGeom>
          <a:solidFill>
            <a:srgbClr val="E0A458"/>
          </a:solidFill>
          <a:ln/>
        </p:spPr>
      </p:sp>
      <p:sp>
        <p:nvSpPr>
          <p:cNvPr id="5" name="Text 3"/>
          <p:cNvSpPr/>
          <p:nvPr/>
        </p:nvSpPr>
        <p:spPr>
          <a:xfrm>
            <a:off x="1760220" y="1481328"/>
            <a:ext cx="1143000" cy="566928"/>
          </a:xfrm>
          <a:prstGeom prst="rect">
            <a:avLst/>
          </a:prstGeom>
          <a:noFill/>
          <a:ln/>
        </p:spPr>
        <p:txBody>
          <a:bodyPr wrap="square" lIns="0" tIns="0" rIns="0" bIns="0" rtlCol="0" anchor="ctr"/>
          <a:lstStyle/>
          <a:p>
            <a:pPr algn="ctr" indent="0" marL="0">
              <a:buNone/>
            </a:pPr>
            <a:r>
              <a:rPr lang="en-US" sz="1250" b="1" dirty="0">
                <a:solidFill>
                  <a:srgbClr val="1B2A4A"/>
                </a:solidFill>
                <a:latin typeface="Calibri" pitchFamily="34" charset="0"/>
                <a:ea typeface="Calibri" pitchFamily="34" charset="-122"/>
                <a:cs typeface="Calibri" pitchFamily="34" charset="-120"/>
              </a:rPr>
              <a:t>Sabiduría</a:t>
            </a:r>
            <a:endParaRPr lang="en-US" sz="1250" dirty="0"/>
          </a:p>
        </p:txBody>
      </p:sp>
      <p:sp>
        <p:nvSpPr>
          <p:cNvPr id="6" name="Text 4"/>
          <p:cNvSpPr/>
          <p:nvPr/>
        </p:nvSpPr>
        <p:spPr>
          <a:xfrm>
            <a:off x="4160520" y="1481328"/>
            <a:ext cx="4434840" cy="566928"/>
          </a:xfrm>
          <a:prstGeom prst="rect">
            <a:avLst/>
          </a:prstGeom>
          <a:noFill/>
          <a:ln/>
        </p:spPr>
        <p:txBody>
          <a:bodyPr wrap="square" lIns="0" tIns="0" rIns="0" bIns="0" rtlCol="0" anchor="ctr"/>
          <a:lstStyle/>
          <a:p>
            <a:pPr algn="l" indent="0" marL="0">
              <a:buNone/>
            </a:pPr>
            <a:r>
              <a:rPr lang="en-US" sz="1200" dirty="0">
                <a:solidFill>
                  <a:srgbClr val="33415C"/>
                </a:solidFill>
                <a:latin typeface="Calibri" pitchFamily="34" charset="0"/>
                <a:ea typeface="Calibri" pitchFamily="34" charset="-122"/>
                <a:cs typeface="Calibri" pitchFamily="34" charset="-120"/>
              </a:rPr>
              <a:t>Saber cuándo y cómo aplicar el conocimiento en la práctica</a:t>
            </a:r>
            <a:endParaRPr lang="en-US" sz="1200" dirty="0"/>
          </a:p>
        </p:txBody>
      </p:sp>
      <p:sp>
        <p:nvSpPr>
          <p:cNvPr id="7" name="Shape 5"/>
          <p:cNvSpPr/>
          <p:nvPr/>
        </p:nvSpPr>
        <p:spPr>
          <a:xfrm>
            <a:off x="1417320" y="2103120"/>
            <a:ext cx="1828800" cy="566928"/>
          </a:xfrm>
          <a:prstGeom prst="rect">
            <a:avLst/>
          </a:prstGeom>
          <a:solidFill>
            <a:srgbClr val="3D5A80"/>
          </a:solidFill>
          <a:ln/>
        </p:spPr>
      </p:sp>
      <p:sp>
        <p:nvSpPr>
          <p:cNvPr id="8" name="Text 6"/>
          <p:cNvSpPr/>
          <p:nvPr/>
        </p:nvSpPr>
        <p:spPr>
          <a:xfrm>
            <a:off x="1417320" y="2103120"/>
            <a:ext cx="1828800" cy="56692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Conocimiento</a:t>
            </a:r>
            <a:endParaRPr lang="en-US" sz="1250" dirty="0"/>
          </a:p>
        </p:txBody>
      </p:sp>
      <p:sp>
        <p:nvSpPr>
          <p:cNvPr id="9" name="Text 7"/>
          <p:cNvSpPr/>
          <p:nvPr/>
        </p:nvSpPr>
        <p:spPr>
          <a:xfrm>
            <a:off x="4160520" y="2103120"/>
            <a:ext cx="4434840" cy="566928"/>
          </a:xfrm>
          <a:prstGeom prst="rect">
            <a:avLst/>
          </a:prstGeom>
          <a:noFill/>
          <a:ln/>
        </p:spPr>
        <p:txBody>
          <a:bodyPr wrap="square" lIns="0" tIns="0" rIns="0" bIns="0" rtlCol="0" anchor="ctr"/>
          <a:lstStyle/>
          <a:p>
            <a:pPr algn="l" indent="0" marL="0">
              <a:buNone/>
            </a:pPr>
            <a:r>
              <a:rPr lang="en-US" sz="1200" dirty="0">
                <a:solidFill>
                  <a:srgbClr val="33415C"/>
                </a:solidFill>
                <a:latin typeface="Calibri" pitchFamily="34" charset="0"/>
                <a:ea typeface="Calibri" pitchFamily="34" charset="-122"/>
                <a:cs typeface="Calibri" pitchFamily="34" charset="-120"/>
              </a:rPr>
              <a:t>Información interpretada con experiencia → “fiebre alta, posible infección”</a:t>
            </a:r>
            <a:endParaRPr lang="en-US" sz="1200" dirty="0"/>
          </a:p>
        </p:txBody>
      </p:sp>
      <p:sp>
        <p:nvSpPr>
          <p:cNvPr id="10" name="Shape 8"/>
          <p:cNvSpPr/>
          <p:nvPr/>
        </p:nvSpPr>
        <p:spPr>
          <a:xfrm>
            <a:off x="1074420" y="2724912"/>
            <a:ext cx="2514600" cy="566928"/>
          </a:xfrm>
          <a:prstGeom prst="rect">
            <a:avLst/>
          </a:prstGeom>
          <a:solidFill>
            <a:srgbClr val="C7D3E6"/>
          </a:solidFill>
          <a:ln/>
        </p:spPr>
      </p:sp>
      <p:sp>
        <p:nvSpPr>
          <p:cNvPr id="11" name="Text 9"/>
          <p:cNvSpPr/>
          <p:nvPr/>
        </p:nvSpPr>
        <p:spPr>
          <a:xfrm>
            <a:off x="1074420" y="2724912"/>
            <a:ext cx="2514600" cy="566928"/>
          </a:xfrm>
          <a:prstGeom prst="rect">
            <a:avLst/>
          </a:prstGeom>
          <a:noFill/>
          <a:ln/>
        </p:spPr>
        <p:txBody>
          <a:bodyPr wrap="square" lIns="0" tIns="0" rIns="0" bIns="0" rtlCol="0" anchor="ctr"/>
          <a:lstStyle/>
          <a:p>
            <a:pPr algn="ctr" indent="0" marL="0">
              <a:buNone/>
            </a:pPr>
            <a:r>
              <a:rPr lang="en-US" sz="1250" b="1" dirty="0">
                <a:solidFill>
                  <a:srgbClr val="1B2A4A"/>
                </a:solidFill>
                <a:latin typeface="Calibri" pitchFamily="34" charset="0"/>
                <a:ea typeface="Calibri" pitchFamily="34" charset="-122"/>
                <a:cs typeface="Calibri" pitchFamily="34" charset="-120"/>
              </a:rPr>
              <a:t>Información</a:t>
            </a:r>
            <a:endParaRPr lang="en-US" sz="1250" dirty="0"/>
          </a:p>
        </p:txBody>
      </p:sp>
      <p:sp>
        <p:nvSpPr>
          <p:cNvPr id="12" name="Text 10"/>
          <p:cNvSpPr/>
          <p:nvPr/>
        </p:nvSpPr>
        <p:spPr>
          <a:xfrm>
            <a:off x="4160520" y="2724912"/>
            <a:ext cx="4434840" cy="566928"/>
          </a:xfrm>
          <a:prstGeom prst="rect">
            <a:avLst/>
          </a:prstGeom>
          <a:noFill/>
          <a:ln/>
        </p:spPr>
        <p:txBody>
          <a:bodyPr wrap="square" lIns="0" tIns="0" rIns="0" bIns="0" rtlCol="0" anchor="ctr"/>
          <a:lstStyle/>
          <a:p>
            <a:pPr algn="l" indent="0" marL="0">
              <a:buNone/>
            </a:pPr>
            <a:r>
              <a:rPr lang="en-US" sz="1200" dirty="0">
                <a:solidFill>
                  <a:srgbClr val="33415C"/>
                </a:solidFill>
                <a:latin typeface="Calibri" pitchFamily="34" charset="0"/>
                <a:ea typeface="Calibri" pitchFamily="34" charset="-122"/>
                <a:cs typeface="Calibri" pitchFamily="34" charset="-120"/>
              </a:rPr>
              <a:t>Dato con contexto → “temperatura del paciente: 38.5 °C”</a:t>
            </a:r>
            <a:endParaRPr lang="en-US" sz="1200" dirty="0"/>
          </a:p>
        </p:txBody>
      </p:sp>
      <p:sp>
        <p:nvSpPr>
          <p:cNvPr id="13" name="Shape 11"/>
          <p:cNvSpPr/>
          <p:nvPr/>
        </p:nvSpPr>
        <p:spPr>
          <a:xfrm>
            <a:off x="731520" y="3346704"/>
            <a:ext cx="3200400" cy="566928"/>
          </a:xfrm>
          <a:prstGeom prst="rect">
            <a:avLst/>
          </a:prstGeom>
          <a:solidFill>
            <a:srgbClr val="EEF1F7"/>
          </a:solidFill>
          <a:ln/>
        </p:spPr>
      </p:sp>
      <p:sp>
        <p:nvSpPr>
          <p:cNvPr id="14" name="Text 12"/>
          <p:cNvSpPr/>
          <p:nvPr/>
        </p:nvSpPr>
        <p:spPr>
          <a:xfrm>
            <a:off x="731520" y="3346704"/>
            <a:ext cx="3200400" cy="566928"/>
          </a:xfrm>
          <a:prstGeom prst="rect">
            <a:avLst/>
          </a:prstGeom>
          <a:noFill/>
          <a:ln/>
        </p:spPr>
        <p:txBody>
          <a:bodyPr wrap="square" lIns="0" tIns="0" rIns="0" bIns="0" rtlCol="0" anchor="ctr"/>
          <a:lstStyle/>
          <a:p>
            <a:pPr algn="ctr" indent="0" marL="0">
              <a:buNone/>
            </a:pPr>
            <a:r>
              <a:rPr lang="en-US" sz="1250" b="1" dirty="0">
                <a:solidFill>
                  <a:srgbClr val="1B2A4A"/>
                </a:solidFill>
                <a:latin typeface="Calibri" pitchFamily="34" charset="0"/>
                <a:ea typeface="Calibri" pitchFamily="34" charset="-122"/>
                <a:cs typeface="Calibri" pitchFamily="34" charset="-120"/>
              </a:rPr>
              <a:t>Datos</a:t>
            </a:r>
            <a:endParaRPr lang="en-US" sz="1250" dirty="0"/>
          </a:p>
        </p:txBody>
      </p:sp>
      <p:sp>
        <p:nvSpPr>
          <p:cNvPr id="15" name="Text 13"/>
          <p:cNvSpPr/>
          <p:nvPr/>
        </p:nvSpPr>
        <p:spPr>
          <a:xfrm>
            <a:off x="4160520" y="3346704"/>
            <a:ext cx="4434840" cy="566928"/>
          </a:xfrm>
          <a:prstGeom prst="rect">
            <a:avLst/>
          </a:prstGeom>
          <a:noFill/>
          <a:ln/>
        </p:spPr>
        <p:txBody>
          <a:bodyPr wrap="square" lIns="0" tIns="0" rIns="0" bIns="0" rtlCol="0" anchor="ctr"/>
          <a:lstStyle/>
          <a:p>
            <a:pPr algn="l" indent="0" marL="0">
              <a:buNone/>
            </a:pPr>
            <a:r>
              <a:rPr lang="en-US" sz="1200" dirty="0">
                <a:solidFill>
                  <a:srgbClr val="33415C"/>
                </a:solidFill>
                <a:latin typeface="Calibri" pitchFamily="34" charset="0"/>
                <a:ea typeface="Calibri" pitchFamily="34" charset="-122"/>
                <a:cs typeface="Calibri" pitchFamily="34" charset="-120"/>
              </a:rPr>
              <a:t>Hecho aislado, sin contexto → “38.5 °C”</a:t>
            </a:r>
            <a:endParaRPr lang="en-US" sz="1200" dirty="0"/>
          </a:p>
        </p:txBody>
      </p:sp>
      <p:sp>
        <p:nvSpPr>
          <p:cNvPr id="16" name="Shape 14"/>
          <p:cNvSpPr/>
          <p:nvPr/>
        </p:nvSpPr>
        <p:spPr>
          <a:xfrm>
            <a:off x="502920" y="4224528"/>
            <a:ext cx="8138160" cy="658368"/>
          </a:xfrm>
          <a:prstGeom prst="roundRect">
            <a:avLst>
              <a:gd name="adj" fmla="val 11111"/>
            </a:avLst>
          </a:prstGeom>
          <a:solidFill>
            <a:srgbClr val="F1F4F9"/>
          </a:solidFill>
          <a:ln/>
          <a:effectLst>
            <a:outerShdw sx="100000" sy="100000" kx="0" ky="0" algn="bl" rotWithShape="0" blurRad="88900" dist="25400" dir="5400000">
              <a:srgbClr val="1B2A4A">
                <a:alpha val="10000"/>
              </a:srgbClr>
            </a:outerShdw>
          </a:effectLst>
        </p:spPr>
      </p:sp>
      <p:sp>
        <p:nvSpPr>
          <p:cNvPr id="17" name="Shape 15"/>
          <p:cNvSpPr/>
          <p:nvPr/>
        </p:nvSpPr>
        <p:spPr>
          <a:xfrm>
            <a:off x="713232" y="4375404"/>
            <a:ext cx="384048" cy="384048"/>
          </a:xfrm>
          <a:prstGeom prst="ellipse">
            <a:avLst/>
          </a:prstGeom>
          <a:solidFill>
            <a:srgbClr val="3D5A80"/>
          </a:solidFill>
          <a:ln/>
        </p:spPr>
      </p:sp>
      <p:pic>
        <p:nvPicPr>
          <p:cNvPr id="18" name="Image 0" descr="preencoded.png">    </p:cNvPr>
          <p:cNvPicPr>
            <a:picLocks noChangeAspect="1"/>
          </p:cNvPicPr>
          <p:nvPr/>
        </p:nvPicPr>
        <p:blipFill>
          <a:blip r:embed="rId1"/>
          <a:stretch>
            <a:fillRect/>
          </a:stretch>
        </p:blipFill>
        <p:spPr>
          <a:xfrm>
            <a:off x="774680" y="4436852"/>
            <a:ext cx="261153" cy="261153"/>
          </a:xfrm>
          <a:prstGeom prst="rect">
            <a:avLst/>
          </a:prstGeom>
        </p:spPr>
      </p:pic>
      <p:sp>
        <p:nvSpPr>
          <p:cNvPr id="19" name="Text 16"/>
          <p:cNvSpPr/>
          <p:nvPr/>
        </p:nvSpPr>
        <p:spPr>
          <a:xfrm>
            <a:off x="1234440" y="4224528"/>
            <a:ext cx="7223760" cy="658368"/>
          </a:xfrm>
          <a:prstGeom prst="rect">
            <a:avLst/>
          </a:prstGeom>
          <a:noFill/>
          <a:ln/>
        </p:spPr>
        <p:txBody>
          <a:bodyPr wrap="square" lIns="0" tIns="0" rIns="0" bIns="0" rtlCol="0" anchor="ctr"/>
          <a:lstStyle/>
          <a:p>
            <a:pPr algn="l" indent="0" marL="0">
              <a:buNone/>
            </a:pPr>
            <a:r>
              <a:rPr lang="en-US" sz="1200" i="1" dirty="0">
                <a:solidFill>
                  <a:srgbClr val="1B2A4A"/>
                </a:solidFill>
                <a:latin typeface="Calibri" pitchFamily="34" charset="0"/>
                <a:ea typeface="Calibri" pitchFamily="34" charset="-122"/>
                <a:cs typeface="Calibri" pitchFamily="34" charset="-120"/>
              </a:rPr>
              <a:t>Los Sistemas Expertos codifican conocimiento explícito; el conocimiento tácito — la intuición del experto — es el más difícil de capturar.</a:t>
            </a:r>
            <a:endParaRPr lang="en-US" sz="1200" dirty="0"/>
          </a:p>
        </p:txBody>
      </p:sp>
      <p:sp>
        <p:nvSpPr>
          <p:cNvPr id="20" name="Text 17"/>
          <p:cNvSpPr/>
          <p:nvPr/>
        </p:nvSpPr>
        <p:spPr>
          <a:xfrm>
            <a:off x="8366760" y="4864608"/>
            <a:ext cx="457200" cy="228600"/>
          </a:xfrm>
          <a:prstGeom prst="rect">
            <a:avLst/>
          </a:prstGeom>
          <a:noFill/>
          <a:ln/>
        </p:spPr>
        <p:txBody>
          <a:bodyPr wrap="square" lIns="0" tIns="0" rIns="0" bIns="0" rtlCol="0" anchor="ctr"/>
          <a:lstStyle/>
          <a:p>
            <a:pPr algn="r" indent="0" marL="0">
              <a:buNone/>
            </a:pPr>
            <a:r>
              <a:rPr lang="en-US" sz="900" dirty="0">
                <a:solidFill>
                  <a:srgbClr val="667186"/>
                </a:solidFill>
                <a:latin typeface="Calibri" pitchFamily="34" charset="0"/>
                <a:ea typeface="Calibri" pitchFamily="34" charset="-122"/>
                <a:cs typeface="Calibri" pitchFamily="34" charset="-120"/>
              </a:rPr>
              <a:t>05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7772400" cy="274320"/>
          </a:xfrm>
          <a:prstGeom prst="rect">
            <a:avLst/>
          </a:prstGeom>
          <a:noFill/>
          <a:ln/>
        </p:spPr>
        <p:txBody>
          <a:bodyPr wrap="square" lIns="0" tIns="0" rIns="0" bIns="0" rtlCol="0" anchor="ctr"/>
          <a:lstStyle/>
          <a:p>
            <a:pPr indent="0" marL="0">
              <a:buNone/>
            </a:pPr>
            <a:r>
              <a:rPr lang="en-US" sz="1200" b="1" spc="200" kern="0" dirty="0">
                <a:solidFill>
                  <a:srgbClr val="E0A458"/>
                </a:solidFill>
                <a:latin typeface="Calibri" pitchFamily="34" charset="0"/>
                <a:ea typeface="Calibri" pitchFamily="34" charset="-122"/>
                <a:cs typeface="Calibri" pitchFamily="34" charset="-120"/>
              </a:rPr>
              <a:t>05 · COMPONENTES</a:t>
            </a:r>
            <a:endParaRPr lang="en-US" sz="1200" dirty="0"/>
          </a:p>
        </p:txBody>
      </p:sp>
      <p:sp>
        <p:nvSpPr>
          <p:cNvPr id="3" name="Text 1"/>
          <p:cNvSpPr/>
          <p:nvPr/>
        </p:nvSpPr>
        <p:spPr>
          <a:xfrm>
            <a:off x="502920" y="566928"/>
            <a:ext cx="8138160" cy="658368"/>
          </a:xfrm>
          <a:prstGeom prst="rect">
            <a:avLst/>
          </a:prstGeom>
          <a:noFill/>
          <a:ln/>
        </p:spPr>
        <p:txBody>
          <a:bodyPr wrap="square" lIns="0" tIns="0" rIns="0" bIns="0" rtlCol="0" anchor="ctr"/>
          <a:lstStyle/>
          <a:p>
            <a:pPr indent="0" marL="0">
              <a:buNone/>
            </a:pPr>
            <a:r>
              <a:rPr lang="en-US" sz="2900" b="1" dirty="0">
                <a:solidFill>
                  <a:srgbClr val="1B2A4A"/>
                </a:solidFill>
                <a:latin typeface="Cambria" pitchFamily="34" charset="0"/>
                <a:ea typeface="Cambria" pitchFamily="34" charset="-122"/>
                <a:cs typeface="Cambria" pitchFamily="34" charset="-120"/>
              </a:rPr>
              <a:t>Base de conocimiento</a:t>
            </a:r>
            <a:endParaRPr lang="en-US" sz="2900" dirty="0"/>
          </a:p>
        </p:txBody>
      </p:sp>
      <p:sp>
        <p:nvSpPr>
          <p:cNvPr id="4" name="Text 2"/>
          <p:cNvSpPr/>
          <p:nvPr/>
        </p:nvSpPr>
        <p:spPr>
          <a:xfrm>
            <a:off x="502920" y="1444752"/>
            <a:ext cx="4892040" cy="3291840"/>
          </a:xfrm>
          <a:prstGeom prst="rect">
            <a:avLst/>
          </a:prstGeom>
          <a:noFill/>
          <a:ln/>
        </p:spPr>
        <p:txBody>
          <a:bodyPr wrap="square" lIns="0" tIns="0" rIns="0" bIns="0" rtlCol="0" anchor="t"/>
          <a:lstStyle/>
          <a:p>
            <a:pPr marL="228600" indent="-228600">
              <a:lnSpc>
                <a:spcPct val="105000"/>
              </a:lnSpc>
              <a:spcAft>
                <a:spcPts val="1400"/>
              </a:spcAft>
              <a:buSzPct val="100000"/>
              <a:buChar char="•"/>
            </a:pPr>
            <a:r>
              <a:rPr lang="en-US" sz="1350" dirty="0">
                <a:solidFill>
                  <a:srgbClr val="33415C"/>
                </a:solidFill>
                <a:latin typeface="Calibri" pitchFamily="34" charset="0"/>
                <a:ea typeface="Calibri" pitchFamily="34" charset="-122"/>
                <a:cs typeface="Calibri" pitchFamily="34" charset="-120"/>
              </a:rPr>
              <a:t>Almacena los hechos y reglas del dominio, obtenidos de expertos humanos y fuentes documentales</a:t>
            </a:r>
            <a:endParaRPr lang="en-US" sz="1350" dirty="0"/>
          </a:p>
          <a:p>
            <a:pPr marL="228600" indent="-228600">
              <a:lnSpc>
                <a:spcPct val="105000"/>
              </a:lnSpc>
              <a:spcAft>
                <a:spcPts val="1400"/>
              </a:spcAft>
              <a:buSzPct val="100000"/>
              <a:buChar char="•"/>
            </a:pPr>
            <a:r>
              <a:rPr lang="en-US" sz="1350" dirty="0">
                <a:solidFill>
                  <a:srgbClr val="33415C"/>
                </a:solidFill>
                <a:latin typeface="Calibri" pitchFamily="34" charset="0"/>
                <a:ea typeface="Calibri" pitchFamily="34" charset="-122"/>
                <a:cs typeface="Calibri" pitchFamily="34" charset="-120"/>
              </a:rPr>
              <a:t>Se construye mediante ingeniería del conocimiento: entrevistas, observación de casos, análisis documental</a:t>
            </a:r>
            <a:endParaRPr lang="en-US" sz="1350" dirty="0"/>
          </a:p>
          <a:p>
            <a:pPr marL="228600" indent="-228600">
              <a:lnSpc>
                <a:spcPct val="105000"/>
              </a:lnSpc>
              <a:spcAft>
                <a:spcPts val="1400"/>
              </a:spcAft>
              <a:buSzPct val="100000"/>
              <a:buChar char="•"/>
            </a:pPr>
            <a:r>
              <a:rPr lang="en-US" sz="1350" dirty="0">
                <a:solidFill>
                  <a:srgbClr val="33415C"/>
                </a:solidFill>
                <a:latin typeface="Calibri" pitchFamily="34" charset="0"/>
                <a:ea typeface="Calibri" pitchFamily="34" charset="-122"/>
                <a:cs typeface="Calibri" pitchFamily="34" charset="-120"/>
              </a:rPr>
              <a:t>Formas de representación: reglas de producción, redes semánticas, marcos (frames), árboles de decisión</a:t>
            </a:r>
            <a:endParaRPr lang="en-US" sz="1350" dirty="0"/>
          </a:p>
          <a:p>
            <a:pPr marL="228600" indent="-228600">
              <a:lnSpc>
                <a:spcPct val="105000"/>
              </a:lnSpc>
              <a:spcAft>
                <a:spcPts val="1400"/>
              </a:spcAft>
              <a:buSzPct val="100000"/>
              <a:buChar char="•"/>
            </a:pPr>
            <a:r>
              <a:rPr lang="en-US" sz="1350" dirty="0">
                <a:solidFill>
                  <a:srgbClr val="33415C"/>
                </a:solidFill>
                <a:latin typeface="Calibri" pitchFamily="34" charset="0"/>
                <a:ea typeface="Calibri" pitchFamily="34" charset="-122"/>
                <a:cs typeface="Calibri" pitchFamily="34" charset="-120"/>
              </a:rPr>
              <a:t>Su calidad determina directamente la calidad de las conclusiones del sistema</a:t>
            </a:r>
            <a:endParaRPr lang="en-US" sz="1350" dirty="0"/>
          </a:p>
        </p:txBody>
      </p:sp>
      <p:sp>
        <p:nvSpPr>
          <p:cNvPr id="5" name="Shape 3"/>
          <p:cNvSpPr/>
          <p:nvPr/>
        </p:nvSpPr>
        <p:spPr>
          <a:xfrm>
            <a:off x="5623560" y="1444752"/>
            <a:ext cx="3017520" cy="3310128"/>
          </a:xfrm>
          <a:prstGeom prst="roundRect">
            <a:avLst>
              <a:gd name="adj" fmla="val 2424"/>
            </a:avLst>
          </a:prstGeom>
          <a:solidFill>
            <a:srgbClr val="F1F4F9"/>
          </a:solidFill>
          <a:ln/>
          <a:effectLst>
            <a:outerShdw sx="100000" sy="100000" kx="0" ky="0" algn="bl" rotWithShape="0" blurRad="88900" dist="25400" dir="5400000">
              <a:srgbClr val="1B2A4A">
                <a:alpha val="10000"/>
              </a:srgbClr>
            </a:outerShdw>
          </a:effectLst>
        </p:spPr>
      </p:sp>
      <p:sp>
        <p:nvSpPr>
          <p:cNvPr id="6" name="Shape 4"/>
          <p:cNvSpPr/>
          <p:nvPr/>
        </p:nvSpPr>
        <p:spPr>
          <a:xfrm>
            <a:off x="5824728" y="1645920"/>
            <a:ext cx="457200" cy="457200"/>
          </a:xfrm>
          <a:prstGeom prst="ellipse">
            <a:avLst/>
          </a:prstGeom>
          <a:solidFill>
            <a:srgbClr val="3D5A80"/>
          </a:solidFill>
          <a:ln/>
        </p:spPr>
      </p:sp>
      <p:pic>
        <p:nvPicPr>
          <p:cNvPr id="7" name="Image 0" descr="preencoded.png">    </p:cNvPr>
          <p:cNvPicPr>
            <a:picLocks noChangeAspect="1"/>
          </p:cNvPicPr>
          <p:nvPr/>
        </p:nvPicPr>
        <p:blipFill>
          <a:blip r:embed="rId1"/>
          <a:stretch>
            <a:fillRect/>
          </a:stretch>
        </p:blipFill>
        <p:spPr>
          <a:xfrm>
            <a:off x="5897880" y="1719072"/>
            <a:ext cx="310896" cy="310896"/>
          </a:xfrm>
          <a:prstGeom prst="rect">
            <a:avLst/>
          </a:prstGeom>
        </p:spPr>
      </p:pic>
      <p:sp>
        <p:nvSpPr>
          <p:cNvPr id="8" name="Text 5"/>
          <p:cNvSpPr/>
          <p:nvPr/>
        </p:nvSpPr>
        <p:spPr>
          <a:xfrm>
            <a:off x="6400800" y="1609344"/>
            <a:ext cx="2103120" cy="548640"/>
          </a:xfrm>
          <a:prstGeom prst="rect">
            <a:avLst/>
          </a:prstGeom>
          <a:noFill/>
          <a:ln/>
        </p:spPr>
        <p:txBody>
          <a:bodyPr wrap="square" lIns="0" tIns="0" rIns="0" bIns="0" rtlCol="0" anchor="ctr"/>
          <a:lstStyle/>
          <a:p>
            <a:pPr algn="l" indent="0" marL="0">
              <a:buNone/>
            </a:pPr>
            <a:r>
              <a:rPr lang="en-US" sz="1300" b="1" dirty="0">
                <a:solidFill>
                  <a:srgbClr val="1B2A4A"/>
                </a:solidFill>
                <a:latin typeface="Calibri" pitchFamily="34" charset="0"/>
                <a:ea typeface="Calibri" pitchFamily="34" charset="-122"/>
                <a:cs typeface="Calibri" pitchFamily="34" charset="-120"/>
              </a:rPr>
              <a:t>Base de</a:t>
            </a:r>
            <a:endParaRPr lang="en-US" sz="1300" dirty="0"/>
          </a:p>
          <a:p>
            <a:pPr algn="l" indent="0" marL="0">
              <a:buNone/>
            </a:pPr>
            <a:r>
              <a:rPr lang="en-US" sz="1300" b="1" dirty="0">
                <a:solidFill>
                  <a:srgbClr val="1B2A4A"/>
                </a:solidFill>
                <a:latin typeface="Calibri" pitchFamily="34" charset="0"/>
                <a:ea typeface="Calibri" pitchFamily="34" charset="-122"/>
                <a:cs typeface="Calibri" pitchFamily="34" charset="-120"/>
              </a:rPr>
              <a:t>Conocimiento</a:t>
            </a:r>
            <a:endParaRPr lang="en-US" sz="1300" dirty="0"/>
          </a:p>
        </p:txBody>
      </p:sp>
      <p:sp>
        <p:nvSpPr>
          <p:cNvPr id="9" name="Shape 6"/>
          <p:cNvSpPr/>
          <p:nvPr/>
        </p:nvSpPr>
        <p:spPr>
          <a:xfrm>
            <a:off x="6065520" y="2313432"/>
            <a:ext cx="365760" cy="365760"/>
          </a:xfrm>
          <a:prstGeom prst="ellipse">
            <a:avLst/>
          </a:prstGeom>
          <a:solidFill>
            <a:srgbClr val="1B2A4A"/>
          </a:solidFill>
          <a:ln/>
        </p:spPr>
      </p:sp>
      <p:pic>
        <p:nvPicPr>
          <p:cNvPr id="10" name="Image 1" descr="preencoded.png">    </p:cNvPr>
          <p:cNvPicPr>
            <a:picLocks noChangeAspect="1"/>
          </p:cNvPicPr>
          <p:nvPr/>
        </p:nvPicPr>
        <p:blipFill>
          <a:blip r:embed="rId2"/>
          <a:stretch>
            <a:fillRect/>
          </a:stretch>
        </p:blipFill>
        <p:spPr>
          <a:xfrm>
            <a:off x="6124042" y="2371954"/>
            <a:ext cx="248717" cy="248717"/>
          </a:xfrm>
          <a:prstGeom prst="rect">
            <a:avLst/>
          </a:prstGeom>
        </p:spPr>
      </p:pic>
      <p:sp>
        <p:nvSpPr>
          <p:cNvPr id="11" name="Text 7"/>
          <p:cNvSpPr/>
          <p:nvPr/>
        </p:nvSpPr>
        <p:spPr>
          <a:xfrm>
            <a:off x="5806440" y="2724912"/>
            <a:ext cx="883920" cy="274320"/>
          </a:xfrm>
          <a:prstGeom prst="rect">
            <a:avLst/>
          </a:prstGeom>
          <a:noFill/>
          <a:ln/>
        </p:spPr>
        <p:txBody>
          <a:bodyPr wrap="square" lIns="0" tIns="0" rIns="0" bIns="0" rtlCol="0" anchor="t"/>
          <a:lstStyle/>
          <a:p>
            <a:pPr algn="ctr" indent="0" marL="0">
              <a:buNone/>
            </a:pPr>
            <a:r>
              <a:rPr lang="en-US" sz="950" dirty="0">
                <a:solidFill>
                  <a:srgbClr val="33415C"/>
                </a:solidFill>
                <a:latin typeface="Calibri" pitchFamily="34" charset="0"/>
                <a:ea typeface="Calibri" pitchFamily="34" charset="-122"/>
                <a:cs typeface="Calibri" pitchFamily="34" charset="-120"/>
              </a:rPr>
              <a:t>Hechos</a:t>
            </a:r>
            <a:endParaRPr lang="en-US" sz="950" dirty="0"/>
          </a:p>
        </p:txBody>
      </p:sp>
      <p:sp>
        <p:nvSpPr>
          <p:cNvPr id="12" name="Shape 8"/>
          <p:cNvSpPr/>
          <p:nvPr/>
        </p:nvSpPr>
        <p:spPr>
          <a:xfrm>
            <a:off x="6949440" y="2313432"/>
            <a:ext cx="365760" cy="365760"/>
          </a:xfrm>
          <a:prstGeom prst="ellipse">
            <a:avLst/>
          </a:prstGeom>
          <a:solidFill>
            <a:srgbClr val="1B2A4A"/>
          </a:solidFill>
          <a:ln/>
        </p:spPr>
      </p:sp>
      <p:pic>
        <p:nvPicPr>
          <p:cNvPr id="13" name="Image 2" descr="preencoded.png">    </p:cNvPr>
          <p:cNvPicPr>
            <a:picLocks noChangeAspect="1"/>
          </p:cNvPicPr>
          <p:nvPr/>
        </p:nvPicPr>
        <p:blipFill>
          <a:blip r:embed="rId3"/>
          <a:stretch>
            <a:fillRect/>
          </a:stretch>
        </p:blipFill>
        <p:spPr>
          <a:xfrm>
            <a:off x="7007962" y="2371954"/>
            <a:ext cx="248717" cy="248717"/>
          </a:xfrm>
          <a:prstGeom prst="rect">
            <a:avLst/>
          </a:prstGeom>
        </p:spPr>
      </p:pic>
      <p:sp>
        <p:nvSpPr>
          <p:cNvPr id="14" name="Text 9"/>
          <p:cNvSpPr/>
          <p:nvPr/>
        </p:nvSpPr>
        <p:spPr>
          <a:xfrm>
            <a:off x="6690360" y="2724912"/>
            <a:ext cx="883920" cy="274320"/>
          </a:xfrm>
          <a:prstGeom prst="rect">
            <a:avLst/>
          </a:prstGeom>
          <a:noFill/>
          <a:ln/>
        </p:spPr>
        <p:txBody>
          <a:bodyPr wrap="square" lIns="0" tIns="0" rIns="0" bIns="0" rtlCol="0" anchor="t"/>
          <a:lstStyle/>
          <a:p>
            <a:pPr algn="ctr" indent="0" marL="0">
              <a:buNone/>
            </a:pPr>
            <a:r>
              <a:rPr lang="en-US" sz="950" dirty="0">
                <a:solidFill>
                  <a:srgbClr val="33415C"/>
                </a:solidFill>
                <a:latin typeface="Calibri" pitchFamily="34" charset="0"/>
                <a:ea typeface="Calibri" pitchFamily="34" charset="-122"/>
                <a:cs typeface="Calibri" pitchFamily="34" charset="-120"/>
              </a:rPr>
              <a:t>Reglas</a:t>
            </a:r>
            <a:endParaRPr lang="en-US" sz="950" dirty="0"/>
          </a:p>
        </p:txBody>
      </p:sp>
      <p:sp>
        <p:nvSpPr>
          <p:cNvPr id="15" name="Shape 10"/>
          <p:cNvSpPr/>
          <p:nvPr/>
        </p:nvSpPr>
        <p:spPr>
          <a:xfrm>
            <a:off x="7833360" y="2313432"/>
            <a:ext cx="365760" cy="365760"/>
          </a:xfrm>
          <a:prstGeom prst="ellipse">
            <a:avLst/>
          </a:prstGeom>
          <a:solidFill>
            <a:srgbClr val="1B2A4A"/>
          </a:solidFill>
          <a:ln/>
        </p:spPr>
      </p:sp>
      <p:pic>
        <p:nvPicPr>
          <p:cNvPr id="16" name="Image 3" descr="preencoded.png">    </p:cNvPr>
          <p:cNvPicPr>
            <a:picLocks noChangeAspect="1"/>
          </p:cNvPicPr>
          <p:nvPr/>
        </p:nvPicPr>
        <p:blipFill>
          <a:blip r:embed="rId4"/>
          <a:stretch>
            <a:fillRect/>
          </a:stretch>
        </p:blipFill>
        <p:spPr>
          <a:xfrm>
            <a:off x="7891882" y="2371954"/>
            <a:ext cx="248717" cy="248717"/>
          </a:xfrm>
          <a:prstGeom prst="rect">
            <a:avLst/>
          </a:prstGeom>
        </p:spPr>
      </p:pic>
      <p:sp>
        <p:nvSpPr>
          <p:cNvPr id="17" name="Text 11"/>
          <p:cNvSpPr/>
          <p:nvPr/>
        </p:nvSpPr>
        <p:spPr>
          <a:xfrm>
            <a:off x="7574280" y="2724912"/>
            <a:ext cx="883920" cy="274320"/>
          </a:xfrm>
          <a:prstGeom prst="rect">
            <a:avLst/>
          </a:prstGeom>
          <a:noFill/>
          <a:ln/>
        </p:spPr>
        <p:txBody>
          <a:bodyPr wrap="square" lIns="0" tIns="0" rIns="0" bIns="0" rtlCol="0" anchor="t"/>
          <a:lstStyle/>
          <a:p>
            <a:pPr algn="ctr" indent="0" marL="0">
              <a:buNone/>
            </a:pPr>
            <a:r>
              <a:rPr lang="en-US" sz="950" dirty="0">
                <a:solidFill>
                  <a:srgbClr val="33415C"/>
                </a:solidFill>
                <a:latin typeface="Calibri" pitchFamily="34" charset="0"/>
                <a:ea typeface="Calibri" pitchFamily="34" charset="-122"/>
                <a:cs typeface="Calibri" pitchFamily="34" charset="-120"/>
              </a:rPr>
              <a:t>Heurísticas</a:t>
            </a:r>
            <a:endParaRPr lang="en-US" sz="950" dirty="0"/>
          </a:p>
        </p:txBody>
      </p:sp>
      <p:sp>
        <p:nvSpPr>
          <p:cNvPr id="18" name="Shape 12"/>
          <p:cNvSpPr/>
          <p:nvPr/>
        </p:nvSpPr>
        <p:spPr>
          <a:xfrm>
            <a:off x="5806440" y="3227832"/>
            <a:ext cx="2651760" cy="1371600"/>
          </a:xfrm>
          <a:prstGeom prst="roundRect">
            <a:avLst>
              <a:gd name="adj" fmla="val 5333"/>
            </a:avLst>
          </a:prstGeom>
          <a:solidFill>
            <a:srgbClr val="1B2A4A"/>
          </a:solidFill>
          <a:ln/>
        </p:spPr>
      </p:sp>
      <p:sp>
        <p:nvSpPr>
          <p:cNvPr id="19" name="Text 13"/>
          <p:cNvSpPr/>
          <p:nvPr/>
        </p:nvSpPr>
        <p:spPr>
          <a:xfrm>
            <a:off x="5971032" y="3337560"/>
            <a:ext cx="2377440" cy="201168"/>
          </a:xfrm>
          <a:prstGeom prst="rect">
            <a:avLst/>
          </a:prstGeom>
          <a:noFill/>
          <a:ln/>
        </p:spPr>
        <p:txBody>
          <a:bodyPr wrap="square" lIns="0" tIns="0" rIns="0" bIns="0" rtlCol="0" anchor="t"/>
          <a:lstStyle/>
          <a:p>
            <a:pPr algn="l" indent="0" marL="0">
              <a:buNone/>
            </a:pPr>
            <a:r>
              <a:rPr lang="en-US" sz="850" b="1" spc="150" kern="0" dirty="0">
                <a:solidFill>
                  <a:srgbClr val="E0A458"/>
                </a:solidFill>
                <a:latin typeface="Calibri" pitchFamily="34" charset="0"/>
                <a:ea typeface="Calibri" pitchFamily="34" charset="-122"/>
                <a:cs typeface="Calibri" pitchFamily="34" charset="-120"/>
              </a:rPr>
              <a:t>EJEMPLO DE REGLA</a:t>
            </a:r>
            <a:endParaRPr lang="en-US" sz="850" dirty="0"/>
          </a:p>
        </p:txBody>
      </p:sp>
      <p:sp>
        <p:nvSpPr>
          <p:cNvPr id="20" name="Text 14"/>
          <p:cNvSpPr/>
          <p:nvPr/>
        </p:nvSpPr>
        <p:spPr>
          <a:xfrm>
            <a:off x="5971032" y="3557016"/>
            <a:ext cx="2377440" cy="960120"/>
          </a:xfrm>
          <a:prstGeom prst="rect">
            <a:avLst/>
          </a:prstGeom>
          <a:noFill/>
          <a:ln/>
        </p:spPr>
        <p:txBody>
          <a:bodyPr wrap="square" lIns="0" tIns="0" rIns="0" bIns="0" rtlCol="0" anchor="t"/>
          <a:lstStyle/>
          <a:p>
            <a:pPr algn="l" indent="0" marL="0">
              <a:lnSpc>
                <a:spcPct val="118000"/>
              </a:lnSpc>
              <a:buNone/>
            </a:pPr>
            <a:r>
              <a:rPr lang="en-US" sz="1050" dirty="0">
                <a:solidFill>
                  <a:srgbClr val="FFFFFF"/>
                </a:solidFill>
                <a:latin typeface="Courier New" pitchFamily="34" charset="0"/>
                <a:ea typeface="Courier New" pitchFamily="34" charset="-122"/>
                <a:cs typeface="Courier New" pitchFamily="34" charset="-120"/>
              </a:rPr>
              <a:t>SI temperatura &gt; 38°C</a:t>
            </a:r>
            <a:endParaRPr lang="en-US" sz="1050" dirty="0"/>
          </a:p>
          <a:p>
            <a:pPr algn="l" indent="0" marL="0">
              <a:lnSpc>
                <a:spcPct val="118000"/>
              </a:lnSpc>
              <a:buNone/>
            </a:pPr>
            <a:r>
              <a:rPr lang="en-US" sz="1050" dirty="0">
                <a:solidFill>
                  <a:srgbClr val="FFFFFF"/>
                </a:solidFill>
                <a:latin typeface="Courier New" pitchFamily="34" charset="0"/>
                <a:ea typeface="Courier New" pitchFamily="34" charset="-122"/>
                <a:cs typeface="Courier New" pitchFamily="34" charset="-120"/>
              </a:rPr>
              <a:t>Y tos persistente</a:t>
            </a:r>
            <a:endParaRPr lang="en-US" sz="1050" dirty="0"/>
          </a:p>
          <a:p>
            <a:pPr algn="l" indent="0" marL="0">
              <a:lnSpc>
                <a:spcPct val="118000"/>
              </a:lnSpc>
              <a:buNone/>
            </a:pPr>
            <a:r>
              <a:rPr lang="en-US" sz="1050" dirty="0">
                <a:solidFill>
                  <a:srgbClr val="FFFFFF"/>
                </a:solidFill>
                <a:latin typeface="Courier New" pitchFamily="34" charset="0"/>
                <a:ea typeface="Courier New" pitchFamily="34" charset="-122"/>
                <a:cs typeface="Courier New" pitchFamily="34" charset="-120"/>
              </a:rPr>
              <a:t>ENTONCES posible infección</a:t>
            </a:r>
            <a:endParaRPr lang="en-US" sz="1050" dirty="0"/>
          </a:p>
          <a:p>
            <a:pPr algn="l" indent="0" marL="0">
              <a:lnSpc>
                <a:spcPct val="118000"/>
              </a:lnSpc>
              <a:buNone/>
            </a:pPr>
            <a:r>
              <a:rPr lang="en-US" sz="1050" dirty="0">
                <a:solidFill>
                  <a:srgbClr val="FFFFFF"/>
                </a:solidFill>
                <a:latin typeface="Courier New" pitchFamily="34" charset="0"/>
                <a:ea typeface="Courier New" pitchFamily="34" charset="-122"/>
                <a:cs typeface="Courier New" pitchFamily="34" charset="-120"/>
              </a:rPr>
              <a:t>respiratoria</a:t>
            </a:r>
            <a:endParaRPr lang="en-US" sz="1050" dirty="0"/>
          </a:p>
        </p:txBody>
      </p:sp>
      <p:sp>
        <p:nvSpPr>
          <p:cNvPr id="21" name="Text 15"/>
          <p:cNvSpPr/>
          <p:nvPr/>
        </p:nvSpPr>
        <p:spPr>
          <a:xfrm>
            <a:off x="8366760" y="4864608"/>
            <a:ext cx="457200" cy="228600"/>
          </a:xfrm>
          <a:prstGeom prst="rect">
            <a:avLst/>
          </a:prstGeom>
          <a:noFill/>
          <a:ln/>
        </p:spPr>
        <p:txBody>
          <a:bodyPr wrap="square" lIns="0" tIns="0" rIns="0" bIns="0" rtlCol="0" anchor="ctr"/>
          <a:lstStyle/>
          <a:p>
            <a:pPr algn="r" indent="0" marL="0">
              <a:buNone/>
            </a:pPr>
            <a:r>
              <a:rPr lang="en-US" sz="900" dirty="0">
                <a:solidFill>
                  <a:srgbClr val="667186"/>
                </a:solidFill>
                <a:latin typeface="Calibri" pitchFamily="34" charset="0"/>
                <a:ea typeface="Calibri" pitchFamily="34" charset="-122"/>
                <a:cs typeface="Calibri" pitchFamily="34" charset="-120"/>
              </a:rPr>
              <a:t>06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7772400" cy="274320"/>
          </a:xfrm>
          <a:prstGeom prst="rect">
            <a:avLst/>
          </a:prstGeom>
          <a:noFill/>
          <a:ln/>
        </p:spPr>
        <p:txBody>
          <a:bodyPr wrap="square" lIns="0" tIns="0" rIns="0" bIns="0" rtlCol="0" anchor="ctr"/>
          <a:lstStyle/>
          <a:p>
            <a:pPr indent="0" marL="0">
              <a:buNone/>
            </a:pPr>
            <a:r>
              <a:rPr lang="en-US" sz="1200" b="1" spc="200" kern="0" dirty="0">
                <a:solidFill>
                  <a:srgbClr val="E0A458"/>
                </a:solidFill>
                <a:latin typeface="Calibri" pitchFamily="34" charset="0"/>
                <a:ea typeface="Calibri" pitchFamily="34" charset="-122"/>
                <a:cs typeface="Calibri" pitchFamily="34" charset="-120"/>
              </a:rPr>
              <a:t>05 · COMPONENTES</a:t>
            </a:r>
            <a:endParaRPr lang="en-US" sz="1200" dirty="0"/>
          </a:p>
        </p:txBody>
      </p:sp>
      <p:sp>
        <p:nvSpPr>
          <p:cNvPr id="3" name="Text 1"/>
          <p:cNvSpPr/>
          <p:nvPr/>
        </p:nvSpPr>
        <p:spPr>
          <a:xfrm>
            <a:off x="502920" y="566928"/>
            <a:ext cx="8138160" cy="658368"/>
          </a:xfrm>
          <a:prstGeom prst="rect">
            <a:avLst/>
          </a:prstGeom>
          <a:noFill/>
          <a:ln/>
        </p:spPr>
        <p:txBody>
          <a:bodyPr wrap="square" lIns="0" tIns="0" rIns="0" bIns="0" rtlCol="0" anchor="ctr"/>
          <a:lstStyle/>
          <a:p>
            <a:pPr indent="0" marL="0">
              <a:buNone/>
            </a:pPr>
            <a:r>
              <a:rPr lang="en-US" sz="2900" b="1" dirty="0">
                <a:solidFill>
                  <a:srgbClr val="1B2A4A"/>
                </a:solidFill>
                <a:latin typeface="Cambria" pitchFamily="34" charset="0"/>
                <a:ea typeface="Cambria" pitchFamily="34" charset="-122"/>
                <a:cs typeface="Cambria" pitchFamily="34" charset="-120"/>
              </a:rPr>
              <a:t>Motor de inferencia</a:t>
            </a:r>
            <a:endParaRPr lang="en-US" sz="2900" dirty="0"/>
          </a:p>
        </p:txBody>
      </p:sp>
      <p:sp>
        <p:nvSpPr>
          <p:cNvPr id="4" name="Text 2"/>
          <p:cNvSpPr/>
          <p:nvPr/>
        </p:nvSpPr>
        <p:spPr>
          <a:xfrm>
            <a:off x="502920" y="1444752"/>
            <a:ext cx="4892040" cy="3291840"/>
          </a:xfrm>
          <a:prstGeom prst="rect">
            <a:avLst/>
          </a:prstGeom>
          <a:noFill/>
          <a:ln/>
        </p:spPr>
        <p:txBody>
          <a:bodyPr wrap="square" lIns="0" tIns="0" rIns="0" bIns="0" rtlCol="0" anchor="t"/>
          <a:lstStyle/>
          <a:p>
            <a:pPr marL="228600" indent="-228600">
              <a:lnSpc>
                <a:spcPct val="105000"/>
              </a:lnSpc>
              <a:spcAft>
                <a:spcPts val="1400"/>
              </a:spcAft>
              <a:buSzPct val="100000"/>
              <a:buChar char="•"/>
            </a:pPr>
            <a:r>
              <a:rPr lang="en-US" sz="1350" dirty="0">
                <a:solidFill>
                  <a:srgbClr val="33415C"/>
                </a:solidFill>
                <a:latin typeface="Calibri" pitchFamily="34" charset="0"/>
                <a:ea typeface="Calibri" pitchFamily="34" charset="-122"/>
                <a:cs typeface="Calibri" pitchFamily="34" charset="-120"/>
              </a:rPr>
              <a:t>Es el componente que “razona”: aplica las reglas sobre los hechos para generar nuevas conclusiones</a:t>
            </a:r>
            <a:endParaRPr lang="en-US" sz="1350" dirty="0"/>
          </a:p>
          <a:p>
            <a:pPr marL="228600" indent="-228600">
              <a:lnSpc>
                <a:spcPct val="105000"/>
              </a:lnSpc>
              <a:spcAft>
                <a:spcPts val="1400"/>
              </a:spcAft>
              <a:buSzPct val="100000"/>
              <a:buChar char="•"/>
            </a:pPr>
            <a:r>
              <a:rPr lang="en-US" sz="1350" dirty="0">
                <a:solidFill>
                  <a:srgbClr val="33415C"/>
                </a:solidFill>
                <a:latin typeface="Calibri" pitchFamily="34" charset="0"/>
                <a:ea typeface="Calibri" pitchFamily="34" charset="-122"/>
                <a:cs typeface="Calibri" pitchFamily="34" charset="-120"/>
              </a:rPr>
              <a:t>Encadenamiento hacia adelante: parte de los hechos disponibles y deriva conclusiones paso a paso</a:t>
            </a:r>
            <a:endParaRPr lang="en-US" sz="1350" dirty="0"/>
          </a:p>
          <a:p>
            <a:pPr marL="228600" indent="-228600">
              <a:lnSpc>
                <a:spcPct val="105000"/>
              </a:lnSpc>
              <a:spcAft>
                <a:spcPts val="1400"/>
              </a:spcAft>
              <a:buSzPct val="100000"/>
              <a:buChar char="•"/>
            </a:pPr>
            <a:r>
              <a:rPr lang="en-US" sz="1350" dirty="0">
                <a:solidFill>
                  <a:srgbClr val="33415C"/>
                </a:solidFill>
                <a:latin typeface="Calibri" pitchFamily="34" charset="0"/>
                <a:ea typeface="Calibri" pitchFamily="34" charset="-122"/>
                <a:cs typeface="Calibri" pitchFamily="34" charset="-120"/>
              </a:rPr>
              <a:t>Encadenamiento hacia atrás: parte de una hipótesis y busca los hechos que la confirmen</a:t>
            </a:r>
            <a:endParaRPr lang="en-US" sz="1350" dirty="0"/>
          </a:p>
          <a:p>
            <a:pPr marL="228600" indent="-228600">
              <a:lnSpc>
                <a:spcPct val="105000"/>
              </a:lnSpc>
              <a:spcAft>
                <a:spcPts val="1400"/>
              </a:spcAft>
              <a:buSzPct val="100000"/>
              <a:buChar char="•"/>
            </a:pPr>
            <a:r>
              <a:rPr lang="en-US" sz="1350" dirty="0">
                <a:solidFill>
                  <a:srgbClr val="33415C"/>
                </a:solidFill>
                <a:latin typeface="Calibri" pitchFamily="34" charset="0"/>
                <a:ea typeface="Calibri" pitchFamily="34" charset="-122"/>
                <a:cs typeface="Calibri" pitchFamily="34" charset="-120"/>
              </a:rPr>
              <a:t>Incluye estrategias para resolver conflictos cuando varias reglas aplican al mismo tiempo</a:t>
            </a:r>
            <a:endParaRPr lang="en-US" sz="1350" dirty="0"/>
          </a:p>
        </p:txBody>
      </p:sp>
      <p:sp>
        <p:nvSpPr>
          <p:cNvPr id="5" name="Text 3"/>
          <p:cNvSpPr/>
          <p:nvPr/>
        </p:nvSpPr>
        <p:spPr>
          <a:xfrm>
            <a:off x="5623560" y="1600200"/>
            <a:ext cx="3017520" cy="228600"/>
          </a:xfrm>
          <a:prstGeom prst="rect">
            <a:avLst/>
          </a:prstGeom>
          <a:noFill/>
          <a:ln/>
        </p:spPr>
        <p:txBody>
          <a:bodyPr wrap="square" lIns="0" tIns="0" rIns="0" bIns="0" rtlCol="0" anchor="t"/>
          <a:lstStyle/>
          <a:p>
            <a:pPr algn="l" indent="0" marL="0">
              <a:buNone/>
            </a:pPr>
            <a:r>
              <a:rPr lang="en-US" sz="900" b="1" spc="50" kern="0" dirty="0">
                <a:solidFill>
                  <a:srgbClr val="3D5A80"/>
                </a:solidFill>
                <a:latin typeface="Calibri" pitchFamily="34" charset="0"/>
                <a:ea typeface="Calibri" pitchFamily="34" charset="-122"/>
                <a:cs typeface="Calibri" pitchFamily="34" charset="-120"/>
              </a:rPr>
              <a:t>ENCADENAMIENTO HACIA ADELANTE</a:t>
            </a:r>
            <a:endParaRPr lang="en-US" sz="900" dirty="0"/>
          </a:p>
        </p:txBody>
      </p:sp>
      <p:sp>
        <p:nvSpPr>
          <p:cNvPr id="6" name="Shape 4"/>
          <p:cNvSpPr/>
          <p:nvPr/>
        </p:nvSpPr>
        <p:spPr>
          <a:xfrm>
            <a:off x="5623560" y="1892808"/>
            <a:ext cx="868680" cy="566928"/>
          </a:xfrm>
          <a:prstGeom prst="roundRect">
            <a:avLst>
              <a:gd name="adj" fmla="val 12903"/>
            </a:avLst>
          </a:prstGeom>
          <a:solidFill>
            <a:srgbClr val="F1F4F9"/>
          </a:solidFill>
          <a:ln/>
        </p:spPr>
      </p:sp>
      <p:sp>
        <p:nvSpPr>
          <p:cNvPr id="7" name="Text 5"/>
          <p:cNvSpPr/>
          <p:nvPr/>
        </p:nvSpPr>
        <p:spPr>
          <a:xfrm>
            <a:off x="5623560" y="1892808"/>
            <a:ext cx="868680" cy="566928"/>
          </a:xfrm>
          <a:prstGeom prst="rect">
            <a:avLst/>
          </a:prstGeom>
          <a:noFill/>
          <a:ln/>
        </p:spPr>
        <p:txBody>
          <a:bodyPr wrap="square" lIns="0" tIns="0" rIns="0" bIns="0" rtlCol="0" anchor="ctr"/>
          <a:lstStyle/>
          <a:p>
            <a:pPr algn="ctr" indent="0" marL="0">
              <a:buNone/>
            </a:pPr>
            <a:r>
              <a:rPr lang="en-US" sz="950" b="1" dirty="0">
                <a:solidFill>
                  <a:srgbClr val="1B2A4A"/>
                </a:solidFill>
                <a:latin typeface="Calibri" pitchFamily="34" charset="0"/>
                <a:ea typeface="Calibri" pitchFamily="34" charset="-122"/>
                <a:cs typeface="Calibri" pitchFamily="34" charset="-120"/>
              </a:rPr>
              <a:t>Hechos</a:t>
            </a:r>
            <a:endParaRPr lang="en-US" sz="950" dirty="0"/>
          </a:p>
        </p:txBody>
      </p:sp>
      <p:sp>
        <p:nvSpPr>
          <p:cNvPr id="8" name="Text 6"/>
          <p:cNvSpPr/>
          <p:nvPr/>
        </p:nvSpPr>
        <p:spPr>
          <a:xfrm>
            <a:off x="6492240" y="1892808"/>
            <a:ext cx="182880" cy="566928"/>
          </a:xfrm>
          <a:prstGeom prst="rect">
            <a:avLst/>
          </a:prstGeom>
          <a:noFill/>
          <a:ln/>
        </p:spPr>
        <p:txBody>
          <a:bodyPr wrap="square" lIns="0" tIns="0" rIns="0" bIns="0" rtlCol="0" anchor="ctr"/>
          <a:lstStyle/>
          <a:p>
            <a:pPr algn="ctr" indent="0" marL="0">
              <a:buNone/>
            </a:pPr>
            <a:r>
              <a:rPr lang="en-US" sz="1400" b="1" dirty="0">
                <a:solidFill>
                  <a:srgbClr val="E0A458"/>
                </a:solidFill>
                <a:latin typeface="Arial" pitchFamily="34" charset="0"/>
                <a:ea typeface="Arial" pitchFamily="34" charset="-122"/>
                <a:cs typeface="Arial" pitchFamily="34" charset="-120"/>
              </a:rPr>
              <a:t>→</a:t>
            </a:r>
            <a:endParaRPr lang="en-US" sz="1400" dirty="0"/>
          </a:p>
        </p:txBody>
      </p:sp>
      <p:sp>
        <p:nvSpPr>
          <p:cNvPr id="9" name="Shape 7"/>
          <p:cNvSpPr/>
          <p:nvPr/>
        </p:nvSpPr>
        <p:spPr>
          <a:xfrm>
            <a:off x="6675120" y="1892808"/>
            <a:ext cx="868680" cy="566928"/>
          </a:xfrm>
          <a:prstGeom prst="roundRect">
            <a:avLst>
              <a:gd name="adj" fmla="val 12903"/>
            </a:avLst>
          </a:prstGeom>
          <a:solidFill>
            <a:srgbClr val="F1F4F9"/>
          </a:solidFill>
          <a:ln/>
        </p:spPr>
      </p:sp>
      <p:sp>
        <p:nvSpPr>
          <p:cNvPr id="10" name="Text 8"/>
          <p:cNvSpPr/>
          <p:nvPr/>
        </p:nvSpPr>
        <p:spPr>
          <a:xfrm>
            <a:off x="6675120" y="1892808"/>
            <a:ext cx="868680" cy="566928"/>
          </a:xfrm>
          <a:prstGeom prst="rect">
            <a:avLst/>
          </a:prstGeom>
          <a:noFill/>
          <a:ln/>
        </p:spPr>
        <p:txBody>
          <a:bodyPr wrap="square" lIns="0" tIns="0" rIns="0" bIns="0" rtlCol="0" anchor="ctr"/>
          <a:lstStyle/>
          <a:p>
            <a:pPr algn="ctr" indent="0" marL="0">
              <a:buNone/>
            </a:pPr>
            <a:r>
              <a:rPr lang="en-US" sz="950" b="1" dirty="0">
                <a:solidFill>
                  <a:srgbClr val="1B2A4A"/>
                </a:solidFill>
                <a:latin typeface="Calibri" pitchFamily="34" charset="0"/>
                <a:ea typeface="Calibri" pitchFamily="34" charset="-122"/>
                <a:cs typeface="Calibri" pitchFamily="34" charset="-120"/>
              </a:rPr>
              <a:t>Reglas</a:t>
            </a:r>
            <a:endParaRPr lang="en-US" sz="950" dirty="0"/>
          </a:p>
        </p:txBody>
      </p:sp>
      <p:sp>
        <p:nvSpPr>
          <p:cNvPr id="11" name="Text 9"/>
          <p:cNvSpPr/>
          <p:nvPr/>
        </p:nvSpPr>
        <p:spPr>
          <a:xfrm>
            <a:off x="7543800" y="1892808"/>
            <a:ext cx="182880" cy="566928"/>
          </a:xfrm>
          <a:prstGeom prst="rect">
            <a:avLst/>
          </a:prstGeom>
          <a:noFill/>
          <a:ln/>
        </p:spPr>
        <p:txBody>
          <a:bodyPr wrap="square" lIns="0" tIns="0" rIns="0" bIns="0" rtlCol="0" anchor="ctr"/>
          <a:lstStyle/>
          <a:p>
            <a:pPr algn="ctr" indent="0" marL="0">
              <a:buNone/>
            </a:pPr>
            <a:r>
              <a:rPr lang="en-US" sz="1400" b="1" dirty="0">
                <a:solidFill>
                  <a:srgbClr val="E0A458"/>
                </a:solidFill>
                <a:latin typeface="Arial" pitchFamily="34" charset="0"/>
                <a:ea typeface="Arial" pitchFamily="34" charset="-122"/>
                <a:cs typeface="Arial" pitchFamily="34" charset="-120"/>
              </a:rPr>
              <a:t>→</a:t>
            </a:r>
            <a:endParaRPr lang="en-US" sz="1400" dirty="0"/>
          </a:p>
        </p:txBody>
      </p:sp>
      <p:sp>
        <p:nvSpPr>
          <p:cNvPr id="12" name="Shape 10"/>
          <p:cNvSpPr/>
          <p:nvPr/>
        </p:nvSpPr>
        <p:spPr>
          <a:xfrm>
            <a:off x="7726680" y="1892808"/>
            <a:ext cx="868680" cy="566928"/>
          </a:xfrm>
          <a:prstGeom prst="roundRect">
            <a:avLst>
              <a:gd name="adj" fmla="val 12903"/>
            </a:avLst>
          </a:prstGeom>
          <a:solidFill>
            <a:srgbClr val="1B2A4A"/>
          </a:solidFill>
          <a:ln/>
        </p:spPr>
      </p:sp>
      <p:sp>
        <p:nvSpPr>
          <p:cNvPr id="13" name="Text 11"/>
          <p:cNvSpPr/>
          <p:nvPr/>
        </p:nvSpPr>
        <p:spPr>
          <a:xfrm>
            <a:off x="7726680" y="1892808"/>
            <a:ext cx="868680" cy="56692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Conclusión</a:t>
            </a:r>
            <a:endParaRPr lang="en-US" sz="950" dirty="0"/>
          </a:p>
        </p:txBody>
      </p:sp>
      <p:sp>
        <p:nvSpPr>
          <p:cNvPr id="14" name="Text 12"/>
          <p:cNvSpPr/>
          <p:nvPr/>
        </p:nvSpPr>
        <p:spPr>
          <a:xfrm>
            <a:off x="5623560" y="2962656"/>
            <a:ext cx="3017520" cy="228600"/>
          </a:xfrm>
          <a:prstGeom prst="rect">
            <a:avLst/>
          </a:prstGeom>
          <a:noFill/>
          <a:ln/>
        </p:spPr>
        <p:txBody>
          <a:bodyPr wrap="square" lIns="0" tIns="0" rIns="0" bIns="0" rtlCol="0" anchor="t"/>
          <a:lstStyle/>
          <a:p>
            <a:pPr algn="l" indent="0" marL="0">
              <a:buNone/>
            </a:pPr>
            <a:r>
              <a:rPr lang="en-US" sz="900" b="1" spc="50" kern="0" dirty="0">
                <a:solidFill>
                  <a:srgbClr val="3D5A80"/>
                </a:solidFill>
                <a:latin typeface="Calibri" pitchFamily="34" charset="0"/>
                <a:ea typeface="Calibri" pitchFamily="34" charset="-122"/>
                <a:cs typeface="Calibri" pitchFamily="34" charset="-120"/>
              </a:rPr>
              <a:t>ENCADENAMIENTO HACIA ATRÁS</a:t>
            </a:r>
            <a:endParaRPr lang="en-US" sz="900" dirty="0"/>
          </a:p>
        </p:txBody>
      </p:sp>
      <p:sp>
        <p:nvSpPr>
          <p:cNvPr id="15" name="Shape 13"/>
          <p:cNvSpPr/>
          <p:nvPr/>
        </p:nvSpPr>
        <p:spPr>
          <a:xfrm>
            <a:off x="5623560" y="3255264"/>
            <a:ext cx="868680" cy="566928"/>
          </a:xfrm>
          <a:prstGeom prst="roundRect">
            <a:avLst>
              <a:gd name="adj" fmla="val 12903"/>
            </a:avLst>
          </a:prstGeom>
          <a:solidFill>
            <a:srgbClr val="1B2A4A"/>
          </a:solidFill>
          <a:ln/>
        </p:spPr>
      </p:sp>
      <p:sp>
        <p:nvSpPr>
          <p:cNvPr id="16" name="Text 14"/>
          <p:cNvSpPr/>
          <p:nvPr/>
        </p:nvSpPr>
        <p:spPr>
          <a:xfrm>
            <a:off x="5623560" y="3255264"/>
            <a:ext cx="868680" cy="56692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Hipótesis</a:t>
            </a:r>
            <a:endParaRPr lang="en-US" sz="900" dirty="0"/>
          </a:p>
        </p:txBody>
      </p:sp>
      <p:sp>
        <p:nvSpPr>
          <p:cNvPr id="17" name="Text 15"/>
          <p:cNvSpPr/>
          <p:nvPr/>
        </p:nvSpPr>
        <p:spPr>
          <a:xfrm>
            <a:off x="6492240" y="3255264"/>
            <a:ext cx="182880" cy="566928"/>
          </a:xfrm>
          <a:prstGeom prst="rect">
            <a:avLst/>
          </a:prstGeom>
          <a:noFill/>
          <a:ln/>
        </p:spPr>
        <p:txBody>
          <a:bodyPr wrap="square" lIns="0" tIns="0" rIns="0" bIns="0" rtlCol="0" anchor="ctr"/>
          <a:lstStyle/>
          <a:p>
            <a:pPr algn="ctr" indent="0" marL="0">
              <a:buNone/>
            </a:pPr>
            <a:r>
              <a:rPr lang="en-US" sz="1400" b="1" dirty="0">
                <a:solidFill>
                  <a:srgbClr val="E0A458"/>
                </a:solidFill>
                <a:latin typeface="Arial" pitchFamily="34" charset="0"/>
                <a:ea typeface="Arial" pitchFamily="34" charset="-122"/>
                <a:cs typeface="Arial" pitchFamily="34" charset="-120"/>
              </a:rPr>
              <a:t>←</a:t>
            </a:r>
            <a:endParaRPr lang="en-US" sz="1400" dirty="0"/>
          </a:p>
        </p:txBody>
      </p:sp>
      <p:sp>
        <p:nvSpPr>
          <p:cNvPr id="18" name="Shape 16"/>
          <p:cNvSpPr/>
          <p:nvPr/>
        </p:nvSpPr>
        <p:spPr>
          <a:xfrm>
            <a:off x="6675120" y="3255264"/>
            <a:ext cx="868680" cy="566928"/>
          </a:xfrm>
          <a:prstGeom prst="roundRect">
            <a:avLst>
              <a:gd name="adj" fmla="val 12903"/>
            </a:avLst>
          </a:prstGeom>
          <a:solidFill>
            <a:srgbClr val="F1F4F9"/>
          </a:solidFill>
          <a:ln/>
        </p:spPr>
      </p:sp>
      <p:sp>
        <p:nvSpPr>
          <p:cNvPr id="19" name="Text 17"/>
          <p:cNvSpPr/>
          <p:nvPr/>
        </p:nvSpPr>
        <p:spPr>
          <a:xfrm>
            <a:off x="6675120" y="3255264"/>
            <a:ext cx="868680" cy="566928"/>
          </a:xfrm>
          <a:prstGeom prst="rect">
            <a:avLst/>
          </a:prstGeom>
          <a:noFill/>
          <a:ln/>
        </p:spPr>
        <p:txBody>
          <a:bodyPr wrap="square" lIns="0" tIns="0" rIns="0" bIns="0" rtlCol="0" anchor="ctr"/>
          <a:lstStyle/>
          <a:p>
            <a:pPr algn="ctr" indent="0" marL="0">
              <a:buNone/>
            </a:pPr>
            <a:r>
              <a:rPr lang="en-US" sz="900" b="1" dirty="0">
                <a:solidFill>
                  <a:srgbClr val="1B2A4A"/>
                </a:solidFill>
                <a:latin typeface="Calibri" pitchFamily="34" charset="0"/>
                <a:ea typeface="Calibri" pitchFamily="34" charset="-122"/>
                <a:cs typeface="Calibri" pitchFamily="34" charset="-120"/>
              </a:rPr>
              <a:t>Reglas</a:t>
            </a:r>
            <a:endParaRPr lang="en-US" sz="900" dirty="0"/>
          </a:p>
        </p:txBody>
      </p:sp>
      <p:sp>
        <p:nvSpPr>
          <p:cNvPr id="20" name="Text 18"/>
          <p:cNvSpPr/>
          <p:nvPr/>
        </p:nvSpPr>
        <p:spPr>
          <a:xfrm>
            <a:off x="7543800" y="3255264"/>
            <a:ext cx="182880" cy="566928"/>
          </a:xfrm>
          <a:prstGeom prst="rect">
            <a:avLst/>
          </a:prstGeom>
          <a:noFill/>
          <a:ln/>
        </p:spPr>
        <p:txBody>
          <a:bodyPr wrap="square" lIns="0" tIns="0" rIns="0" bIns="0" rtlCol="0" anchor="ctr"/>
          <a:lstStyle/>
          <a:p>
            <a:pPr algn="ctr" indent="0" marL="0">
              <a:buNone/>
            </a:pPr>
            <a:r>
              <a:rPr lang="en-US" sz="1400" b="1" dirty="0">
                <a:solidFill>
                  <a:srgbClr val="E0A458"/>
                </a:solidFill>
                <a:latin typeface="Arial" pitchFamily="34" charset="0"/>
                <a:ea typeface="Arial" pitchFamily="34" charset="-122"/>
                <a:cs typeface="Arial" pitchFamily="34" charset="-120"/>
              </a:rPr>
              <a:t>←</a:t>
            </a:r>
            <a:endParaRPr lang="en-US" sz="1400" dirty="0"/>
          </a:p>
        </p:txBody>
      </p:sp>
      <p:sp>
        <p:nvSpPr>
          <p:cNvPr id="21" name="Shape 19"/>
          <p:cNvSpPr/>
          <p:nvPr/>
        </p:nvSpPr>
        <p:spPr>
          <a:xfrm>
            <a:off x="7726680" y="3255264"/>
            <a:ext cx="868680" cy="566928"/>
          </a:xfrm>
          <a:prstGeom prst="roundRect">
            <a:avLst>
              <a:gd name="adj" fmla="val 12903"/>
            </a:avLst>
          </a:prstGeom>
          <a:solidFill>
            <a:srgbClr val="F1F4F9"/>
          </a:solidFill>
          <a:ln/>
        </p:spPr>
      </p:sp>
      <p:sp>
        <p:nvSpPr>
          <p:cNvPr id="22" name="Text 20"/>
          <p:cNvSpPr/>
          <p:nvPr/>
        </p:nvSpPr>
        <p:spPr>
          <a:xfrm>
            <a:off x="7726680" y="3255264"/>
            <a:ext cx="868680" cy="566928"/>
          </a:xfrm>
          <a:prstGeom prst="rect">
            <a:avLst/>
          </a:prstGeom>
          <a:noFill/>
          <a:ln/>
        </p:spPr>
        <p:txBody>
          <a:bodyPr wrap="square" lIns="0" tIns="0" rIns="0" bIns="0" rtlCol="0" anchor="ctr"/>
          <a:lstStyle/>
          <a:p>
            <a:pPr algn="ctr" indent="0" marL="0">
              <a:buNone/>
            </a:pPr>
            <a:r>
              <a:rPr lang="en-US" sz="900" b="1" dirty="0">
                <a:solidFill>
                  <a:srgbClr val="1B2A4A"/>
                </a:solidFill>
                <a:latin typeface="Calibri" pitchFamily="34" charset="0"/>
                <a:ea typeface="Calibri" pitchFamily="34" charset="-122"/>
                <a:cs typeface="Calibri" pitchFamily="34" charset="-120"/>
              </a:rPr>
              <a:t>Hechos</a:t>
            </a:r>
            <a:endParaRPr lang="en-US" sz="900" dirty="0"/>
          </a:p>
          <a:p>
            <a:pPr algn="ctr" indent="0" marL="0">
              <a:buNone/>
            </a:pPr>
            <a:r>
              <a:rPr lang="en-US" sz="900" b="1" dirty="0">
                <a:solidFill>
                  <a:srgbClr val="1B2A4A"/>
                </a:solidFill>
                <a:latin typeface="Calibri" pitchFamily="34" charset="0"/>
                <a:ea typeface="Calibri" pitchFamily="34" charset="-122"/>
                <a:cs typeface="Calibri" pitchFamily="34" charset="-120"/>
              </a:rPr>
              <a:t>requeridos</a:t>
            </a:r>
            <a:endParaRPr lang="en-US" sz="900" dirty="0"/>
          </a:p>
        </p:txBody>
      </p:sp>
      <p:sp>
        <p:nvSpPr>
          <p:cNvPr id="23" name="Text 21"/>
          <p:cNvSpPr/>
          <p:nvPr/>
        </p:nvSpPr>
        <p:spPr>
          <a:xfrm>
            <a:off x="8366760" y="4864608"/>
            <a:ext cx="457200" cy="228600"/>
          </a:xfrm>
          <a:prstGeom prst="rect">
            <a:avLst/>
          </a:prstGeom>
          <a:noFill/>
          <a:ln/>
        </p:spPr>
        <p:txBody>
          <a:bodyPr wrap="square" lIns="0" tIns="0" rIns="0" bIns="0" rtlCol="0" anchor="ctr"/>
          <a:lstStyle/>
          <a:p>
            <a:pPr algn="r" indent="0" marL="0">
              <a:buNone/>
            </a:pPr>
            <a:r>
              <a:rPr lang="en-US" sz="900" dirty="0">
                <a:solidFill>
                  <a:srgbClr val="667186"/>
                </a:solidFill>
                <a:latin typeface="Calibri" pitchFamily="34" charset="0"/>
                <a:ea typeface="Calibri" pitchFamily="34" charset="-122"/>
                <a:cs typeface="Calibri" pitchFamily="34" charset="-120"/>
              </a:rPr>
              <a:t>07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7772400" cy="274320"/>
          </a:xfrm>
          <a:prstGeom prst="rect">
            <a:avLst/>
          </a:prstGeom>
          <a:noFill/>
          <a:ln/>
        </p:spPr>
        <p:txBody>
          <a:bodyPr wrap="square" lIns="0" tIns="0" rIns="0" bIns="0" rtlCol="0" anchor="ctr"/>
          <a:lstStyle/>
          <a:p>
            <a:pPr indent="0" marL="0">
              <a:buNone/>
            </a:pPr>
            <a:r>
              <a:rPr lang="en-US" sz="1200" b="1" spc="200" kern="0" dirty="0">
                <a:solidFill>
                  <a:srgbClr val="E0A458"/>
                </a:solidFill>
                <a:latin typeface="Calibri" pitchFamily="34" charset="0"/>
                <a:ea typeface="Calibri" pitchFamily="34" charset="-122"/>
                <a:cs typeface="Calibri" pitchFamily="34" charset="-120"/>
              </a:rPr>
              <a:t>05 · COMPONENTES</a:t>
            </a:r>
            <a:endParaRPr lang="en-US" sz="1200" dirty="0"/>
          </a:p>
        </p:txBody>
      </p:sp>
      <p:sp>
        <p:nvSpPr>
          <p:cNvPr id="3" name="Text 1"/>
          <p:cNvSpPr/>
          <p:nvPr/>
        </p:nvSpPr>
        <p:spPr>
          <a:xfrm>
            <a:off x="502920" y="566928"/>
            <a:ext cx="8138160" cy="658368"/>
          </a:xfrm>
          <a:prstGeom prst="rect">
            <a:avLst/>
          </a:prstGeom>
          <a:noFill/>
          <a:ln/>
        </p:spPr>
        <p:txBody>
          <a:bodyPr wrap="square" lIns="0" tIns="0" rIns="0" bIns="0" rtlCol="0" anchor="ctr"/>
          <a:lstStyle/>
          <a:p>
            <a:pPr indent="0" marL="0">
              <a:buNone/>
            </a:pPr>
            <a:r>
              <a:rPr lang="en-US" sz="2900" b="1" dirty="0">
                <a:solidFill>
                  <a:srgbClr val="1B2A4A"/>
                </a:solidFill>
                <a:latin typeface="Cambria" pitchFamily="34" charset="0"/>
                <a:ea typeface="Cambria" pitchFamily="34" charset="-122"/>
                <a:cs typeface="Cambria" pitchFamily="34" charset="-120"/>
              </a:rPr>
              <a:t>Arquitectura de un Sistema Experto</a:t>
            </a:r>
            <a:endParaRPr lang="en-US" sz="2900" dirty="0"/>
          </a:p>
        </p:txBody>
      </p:sp>
      <p:sp>
        <p:nvSpPr>
          <p:cNvPr id="4" name="Shape 2"/>
          <p:cNvSpPr/>
          <p:nvPr/>
        </p:nvSpPr>
        <p:spPr>
          <a:xfrm>
            <a:off x="969264" y="1874520"/>
            <a:ext cx="1554480" cy="1097280"/>
          </a:xfrm>
          <a:prstGeom prst="roundRect">
            <a:avLst>
              <a:gd name="adj" fmla="val 6667"/>
            </a:avLst>
          </a:prstGeom>
          <a:solidFill>
            <a:srgbClr val="F1F4F9"/>
          </a:solidFill>
          <a:ln/>
          <a:effectLst>
            <a:outerShdw sx="100000" sy="100000" kx="0" ky="0" algn="bl" rotWithShape="0" blurRad="88900" dist="25400" dir="5400000">
              <a:srgbClr val="1B2A4A">
                <a:alpha val="10000"/>
              </a:srgbClr>
            </a:outerShdw>
          </a:effectLst>
        </p:spPr>
      </p:sp>
      <p:sp>
        <p:nvSpPr>
          <p:cNvPr id="5" name="Shape 3"/>
          <p:cNvSpPr/>
          <p:nvPr/>
        </p:nvSpPr>
        <p:spPr>
          <a:xfrm>
            <a:off x="1536192" y="2020824"/>
            <a:ext cx="420624" cy="420624"/>
          </a:xfrm>
          <a:prstGeom prst="ellipse">
            <a:avLst/>
          </a:prstGeom>
          <a:solidFill>
            <a:srgbClr val="3D5A80"/>
          </a:solidFill>
          <a:ln/>
        </p:spPr>
      </p:sp>
      <p:pic>
        <p:nvPicPr>
          <p:cNvPr id="6" name="Image 0" descr="preencoded.png">    </p:cNvPr>
          <p:cNvPicPr>
            <a:picLocks noChangeAspect="1"/>
          </p:cNvPicPr>
          <p:nvPr/>
        </p:nvPicPr>
        <p:blipFill>
          <a:blip r:embed="rId1"/>
          <a:stretch>
            <a:fillRect/>
          </a:stretch>
        </p:blipFill>
        <p:spPr>
          <a:xfrm>
            <a:off x="1603492" y="2088124"/>
            <a:ext cx="286024" cy="286024"/>
          </a:xfrm>
          <a:prstGeom prst="rect">
            <a:avLst/>
          </a:prstGeom>
        </p:spPr>
      </p:pic>
      <p:sp>
        <p:nvSpPr>
          <p:cNvPr id="7" name="Text 4"/>
          <p:cNvSpPr/>
          <p:nvPr/>
        </p:nvSpPr>
        <p:spPr>
          <a:xfrm>
            <a:off x="1014984" y="2496312"/>
            <a:ext cx="1463040" cy="438912"/>
          </a:xfrm>
          <a:prstGeom prst="rect">
            <a:avLst/>
          </a:prstGeom>
          <a:noFill/>
          <a:ln/>
        </p:spPr>
        <p:txBody>
          <a:bodyPr wrap="square" lIns="0" tIns="0" rIns="0" bIns="0" rtlCol="0" anchor="t"/>
          <a:lstStyle/>
          <a:p>
            <a:pPr algn="ctr" indent="0" marL="0">
              <a:lnSpc>
                <a:spcPct val="100000"/>
              </a:lnSpc>
              <a:buNone/>
            </a:pPr>
            <a:r>
              <a:rPr lang="en-US" sz="1100" b="1" dirty="0">
                <a:solidFill>
                  <a:srgbClr val="1B2A4A"/>
                </a:solidFill>
                <a:latin typeface="Calibri" pitchFamily="34" charset="0"/>
                <a:ea typeface="Calibri" pitchFamily="34" charset="-122"/>
                <a:cs typeface="Calibri" pitchFamily="34" charset="-120"/>
              </a:rPr>
              <a:t>Experto</a:t>
            </a:r>
            <a:endParaRPr lang="en-US" sz="1100" dirty="0"/>
          </a:p>
          <a:p>
            <a:pPr algn="ctr" indent="0" marL="0">
              <a:lnSpc>
                <a:spcPct val="100000"/>
              </a:lnSpc>
              <a:buNone/>
            </a:pPr>
            <a:r>
              <a:rPr lang="en-US" sz="1100" b="1" dirty="0">
                <a:solidFill>
                  <a:srgbClr val="1B2A4A"/>
                </a:solidFill>
                <a:latin typeface="Calibri" pitchFamily="34" charset="0"/>
                <a:ea typeface="Calibri" pitchFamily="34" charset="-122"/>
                <a:cs typeface="Calibri" pitchFamily="34" charset="-120"/>
              </a:rPr>
              <a:t>Humano</a:t>
            </a:r>
            <a:endParaRPr lang="en-US" sz="1100" dirty="0"/>
          </a:p>
        </p:txBody>
      </p:sp>
      <p:sp>
        <p:nvSpPr>
          <p:cNvPr id="8" name="Text 5"/>
          <p:cNvSpPr/>
          <p:nvPr/>
        </p:nvSpPr>
        <p:spPr>
          <a:xfrm>
            <a:off x="2523744" y="1874520"/>
            <a:ext cx="329184" cy="1097280"/>
          </a:xfrm>
          <a:prstGeom prst="rect">
            <a:avLst/>
          </a:prstGeom>
          <a:noFill/>
          <a:ln/>
        </p:spPr>
        <p:txBody>
          <a:bodyPr wrap="square" lIns="0" tIns="0" rIns="0" bIns="0" rtlCol="0" anchor="ctr"/>
          <a:lstStyle/>
          <a:p>
            <a:pPr algn="ctr" indent="0" marL="0">
              <a:buNone/>
            </a:pPr>
            <a:r>
              <a:rPr lang="en-US" sz="1700" b="1" dirty="0">
                <a:solidFill>
                  <a:srgbClr val="3D5A80"/>
                </a:solidFill>
                <a:latin typeface="Arial" pitchFamily="34" charset="0"/>
                <a:ea typeface="Arial" pitchFamily="34" charset="-122"/>
                <a:cs typeface="Arial" pitchFamily="34" charset="-120"/>
              </a:rPr>
              <a:t>⇄</a:t>
            </a:r>
            <a:endParaRPr lang="en-US" sz="1700" dirty="0"/>
          </a:p>
        </p:txBody>
      </p:sp>
      <p:sp>
        <p:nvSpPr>
          <p:cNvPr id="9" name="Shape 6"/>
          <p:cNvSpPr/>
          <p:nvPr/>
        </p:nvSpPr>
        <p:spPr>
          <a:xfrm>
            <a:off x="2852928" y="1874520"/>
            <a:ext cx="1554480" cy="1097280"/>
          </a:xfrm>
          <a:prstGeom prst="roundRect">
            <a:avLst>
              <a:gd name="adj" fmla="val 6667"/>
            </a:avLst>
          </a:prstGeom>
          <a:solidFill>
            <a:srgbClr val="F1F4F9"/>
          </a:solidFill>
          <a:ln/>
          <a:effectLst>
            <a:outerShdw sx="100000" sy="100000" kx="0" ky="0" algn="bl" rotWithShape="0" blurRad="88900" dist="25400" dir="5400000">
              <a:srgbClr val="1B2A4A">
                <a:alpha val="10000"/>
              </a:srgbClr>
            </a:outerShdw>
          </a:effectLst>
        </p:spPr>
      </p:sp>
      <p:sp>
        <p:nvSpPr>
          <p:cNvPr id="10" name="Shape 7"/>
          <p:cNvSpPr/>
          <p:nvPr/>
        </p:nvSpPr>
        <p:spPr>
          <a:xfrm>
            <a:off x="3419856" y="2020824"/>
            <a:ext cx="420624" cy="420624"/>
          </a:xfrm>
          <a:prstGeom prst="ellipse">
            <a:avLst/>
          </a:prstGeom>
          <a:solidFill>
            <a:srgbClr val="3D5A80"/>
          </a:solidFill>
          <a:ln/>
        </p:spPr>
      </p:sp>
      <p:pic>
        <p:nvPicPr>
          <p:cNvPr id="11" name="Image 1" descr="preencoded.png">    </p:cNvPr>
          <p:cNvPicPr>
            <a:picLocks noChangeAspect="1"/>
          </p:cNvPicPr>
          <p:nvPr/>
        </p:nvPicPr>
        <p:blipFill>
          <a:blip r:embed="rId2"/>
          <a:stretch>
            <a:fillRect/>
          </a:stretch>
        </p:blipFill>
        <p:spPr>
          <a:xfrm>
            <a:off x="3487156" y="2088124"/>
            <a:ext cx="286024" cy="286024"/>
          </a:xfrm>
          <a:prstGeom prst="rect">
            <a:avLst/>
          </a:prstGeom>
        </p:spPr>
      </p:pic>
      <p:sp>
        <p:nvSpPr>
          <p:cNvPr id="12" name="Text 8"/>
          <p:cNvSpPr/>
          <p:nvPr/>
        </p:nvSpPr>
        <p:spPr>
          <a:xfrm>
            <a:off x="2898648" y="2496312"/>
            <a:ext cx="1463040" cy="438912"/>
          </a:xfrm>
          <a:prstGeom prst="rect">
            <a:avLst/>
          </a:prstGeom>
          <a:noFill/>
          <a:ln/>
        </p:spPr>
        <p:txBody>
          <a:bodyPr wrap="square" lIns="0" tIns="0" rIns="0" bIns="0" rtlCol="0" anchor="t"/>
          <a:lstStyle/>
          <a:p>
            <a:pPr algn="ctr" indent="0" marL="0">
              <a:lnSpc>
                <a:spcPct val="100000"/>
              </a:lnSpc>
              <a:buNone/>
            </a:pPr>
            <a:r>
              <a:rPr lang="en-US" sz="1100" b="1" dirty="0">
                <a:solidFill>
                  <a:srgbClr val="1B2A4A"/>
                </a:solidFill>
                <a:latin typeface="Calibri" pitchFamily="34" charset="0"/>
                <a:ea typeface="Calibri" pitchFamily="34" charset="-122"/>
                <a:cs typeface="Calibri" pitchFamily="34" charset="-120"/>
              </a:rPr>
              <a:t>Base de</a:t>
            </a:r>
            <a:endParaRPr lang="en-US" sz="1100" dirty="0"/>
          </a:p>
          <a:p>
            <a:pPr algn="ctr" indent="0" marL="0">
              <a:lnSpc>
                <a:spcPct val="100000"/>
              </a:lnSpc>
              <a:buNone/>
            </a:pPr>
            <a:r>
              <a:rPr lang="en-US" sz="1100" b="1" dirty="0">
                <a:solidFill>
                  <a:srgbClr val="1B2A4A"/>
                </a:solidFill>
                <a:latin typeface="Calibri" pitchFamily="34" charset="0"/>
                <a:ea typeface="Calibri" pitchFamily="34" charset="-122"/>
                <a:cs typeface="Calibri" pitchFamily="34" charset="-120"/>
              </a:rPr>
              <a:t>Conocimiento</a:t>
            </a:r>
            <a:endParaRPr lang="en-US" sz="1100" dirty="0"/>
          </a:p>
        </p:txBody>
      </p:sp>
      <p:sp>
        <p:nvSpPr>
          <p:cNvPr id="13" name="Text 9"/>
          <p:cNvSpPr/>
          <p:nvPr/>
        </p:nvSpPr>
        <p:spPr>
          <a:xfrm>
            <a:off x="4407408" y="1874520"/>
            <a:ext cx="329184" cy="1097280"/>
          </a:xfrm>
          <a:prstGeom prst="rect">
            <a:avLst/>
          </a:prstGeom>
          <a:noFill/>
          <a:ln/>
        </p:spPr>
        <p:txBody>
          <a:bodyPr wrap="square" lIns="0" tIns="0" rIns="0" bIns="0" rtlCol="0" anchor="ctr"/>
          <a:lstStyle/>
          <a:p>
            <a:pPr algn="ctr" indent="0" marL="0">
              <a:buNone/>
            </a:pPr>
            <a:r>
              <a:rPr lang="en-US" sz="1700" b="1" dirty="0">
                <a:solidFill>
                  <a:srgbClr val="3D5A80"/>
                </a:solidFill>
                <a:latin typeface="Arial" pitchFamily="34" charset="0"/>
                <a:ea typeface="Arial" pitchFamily="34" charset="-122"/>
                <a:cs typeface="Arial" pitchFamily="34" charset="-120"/>
              </a:rPr>
              <a:t>⇄</a:t>
            </a:r>
            <a:endParaRPr lang="en-US" sz="1700" dirty="0"/>
          </a:p>
        </p:txBody>
      </p:sp>
      <p:sp>
        <p:nvSpPr>
          <p:cNvPr id="14" name="Shape 10"/>
          <p:cNvSpPr/>
          <p:nvPr/>
        </p:nvSpPr>
        <p:spPr>
          <a:xfrm>
            <a:off x="4736592" y="1874520"/>
            <a:ext cx="1554480" cy="1097280"/>
          </a:xfrm>
          <a:prstGeom prst="roundRect">
            <a:avLst>
              <a:gd name="adj" fmla="val 6667"/>
            </a:avLst>
          </a:prstGeom>
          <a:solidFill>
            <a:srgbClr val="1B2A4A"/>
          </a:solidFill>
          <a:ln/>
          <a:effectLst>
            <a:outerShdw sx="100000" sy="100000" kx="0" ky="0" algn="bl" rotWithShape="0" blurRad="88900" dist="25400" dir="5400000">
              <a:srgbClr val="1B2A4A">
                <a:alpha val="10000"/>
              </a:srgbClr>
            </a:outerShdw>
          </a:effectLst>
        </p:spPr>
      </p:sp>
      <p:sp>
        <p:nvSpPr>
          <p:cNvPr id="15" name="Shape 11"/>
          <p:cNvSpPr/>
          <p:nvPr/>
        </p:nvSpPr>
        <p:spPr>
          <a:xfrm>
            <a:off x="5303520" y="2020824"/>
            <a:ext cx="420624" cy="420624"/>
          </a:xfrm>
          <a:prstGeom prst="ellipse">
            <a:avLst/>
          </a:prstGeom>
          <a:solidFill>
            <a:srgbClr val="E0A458"/>
          </a:solidFill>
          <a:ln/>
        </p:spPr>
      </p:sp>
      <p:pic>
        <p:nvPicPr>
          <p:cNvPr id="16" name="Image 2" descr="preencoded.png">    </p:cNvPr>
          <p:cNvPicPr>
            <a:picLocks noChangeAspect="1"/>
          </p:cNvPicPr>
          <p:nvPr/>
        </p:nvPicPr>
        <p:blipFill>
          <a:blip r:embed="rId3"/>
          <a:stretch>
            <a:fillRect/>
          </a:stretch>
        </p:blipFill>
        <p:spPr>
          <a:xfrm>
            <a:off x="5370820" y="2088124"/>
            <a:ext cx="286024" cy="286024"/>
          </a:xfrm>
          <a:prstGeom prst="rect">
            <a:avLst/>
          </a:prstGeom>
        </p:spPr>
      </p:pic>
      <p:sp>
        <p:nvSpPr>
          <p:cNvPr id="17" name="Text 12"/>
          <p:cNvSpPr/>
          <p:nvPr/>
        </p:nvSpPr>
        <p:spPr>
          <a:xfrm>
            <a:off x="4782312" y="2496312"/>
            <a:ext cx="1463040" cy="438912"/>
          </a:xfrm>
          <a:prstGeom prst="rect">
            <a:avLst/>
          </a:prstGeom>
          <a:noFill/>
          <a:ln/>
        </p:spPr>
        <p:txBody>
          <a:bodyPr wrap="square" lIns="0" tIns="0" rIns="0" bIns="0" rtlCol="0" anchor="t"/>
          <a:lstStyle/>
          <a:p>
            <a:pPr algn="ctr" indent="0" marL="0">
              <a:lnSpc>
                <a:spcPct val="100000"/>
              </a:lnSpc>
              <a:buNone/>
            </a:pPr>
            <a:r>
              <a:rPr lang="en-US" sz="1100" b="1" dirty="0">
                <a:solidFill>
                  <a:srgbClr val="FFFFFF"/>
                </a:solidFill>
                <a:latin typeface="Calibri" pitchFamily="34" charset="0"/>
                <a:ea typeface="Calibri" pitchFamily="34" charset="-122"/>
                <a:cs typeface="Calibri" pitchFamily="34" charset="-120"/>
              </a:rPr>
              <a:t>Motor de</a:t>
            </a:r>
            <a:endParaRPr lang="en-US" sz="1100" dirty="0"/>
          </a:p>
          <a:p>
            <a:pPr algn="ctr" indent="0" marL="0">
              <a:lnSpc>
                <a:spcPct val="100000"/>
              </a:lnSpc>
              <a:buNone/>
            </a:pPr>
            <a:r>
              <a:rPr lang="en-US" sz="1100" b="1" dirty="0">
                <a:solidFill>
                  <a:srgbClr val="FFFFFF"/>
                </a:solidFill>
                <a:latin typeface="Calibri" pitchFamily="34" charset="0"/>
                <a:ea typeface="Calibri" pitchFamily="34" charset="-122"/>
                <a:cs typeface="Calibri" pitchFamily="34" charset="-120"/>
              </a:rPr>
              <a:t>Inferencia</a:t>
            </a:r>
            <a:endParaRPr lang="en-US" sz="1100" dirty="0"/>
          </a:p>
        </p:txBody>
      </p:sp>
      <p:sp>
        <p:nvSpPr>
          <p:cNvPr id="18" name="Text 13"/>
          <p:cNvSpPr/>
          <p:nvPr/>
        </p:nvSpPr>
        <p:spPr>
          <a:xfrm>
            <a:off x="6291072" y="1874520"/>
            <a:ext cx="329184" cy="1097280"/>
          </a:xfrm>
          <a:prstGeom prst="rect">
            <a:avLst/>
          </a:prstGeom>
          <a:noFill/>
          <a:ln/>
        </p:spPr>
        <p:txBody>
          <a:bodyPr wrap="square" lIns="0" tIns="0" rIns="0" bIns="0" rtlCol="0" anchor="ctr"/>
          <a:lstStyle/>
          <a:p>
            <a:pPr algn="ctr" indent="0" marL="0">
              <a:buNone/>
            </a:pPr>
            <a:r>
              <a:rPr lang="en-US" sz="1700" b="1" dirty="0">
                <a:solidFill>
                  <a:srgbClr val="3D5A80"/>
                </a:solidFill>
                <a:latin typeface="Arial" pitchFamily="34" charset="0"/>
                <a:ea typeface="Arial" pitchFamily="34" charset="-122"/>
                <a:cs typeface="Arial" pitchFamily="34" charset="-120"/>
              </a:rPr>
              <a:t>⇄</a:t>
            </a:r>
            <a:endParaRPr lang="en-US" sz="1700" dirty="0"/>
          </a:p>
        </p:txBody>
      </p:sp>
      <p:sp>
        <p:nvSpPr>
          <p:cNvPr id="19" name="Shape 14"/>
          <p:cNvSpPr/>
          <p:nvPr/>
        </p:nvSpPr>
        <p:spPr>
          <a:xfrm>
            <a:off x="6620256" y="1874520"/>
            <a:ext cx="1554480" cy="1097280"/>
          </a:xfrm>
          <a:prstGeom prst="roundRect">
            <a:avLst>
              <a:gd name="adj" fmla="val 6667"/>
            </a:avLst>
          </a:prstGeom>
          <a:solidFill>
            <a:srgbClr val="F1F4F9"/>
          </a:solidFill>
          <a:ln/>
          <a:effectLst>
            <a:outerShdw sx="100000" sy="100000" kx="0" ky="0" algn="bl" rotWithShape="0" blurRad="88900" dist="25400" dir="5400000">
              <a:srgbClr val="1B2A4A">
                <a:alpha val="10000"/>
              </a:srgbClr>
            </a:outerShdw>
          </a:effectLst>
        </p:spPr>
      </p:sp>
      <p:sp>
        <p:nvSpPr>
          <p:cNvPr id="20" name="Shape 15"/>
          <p:cNvSpPr/>
          <p:nvPr/>
        </p:nvSpPr>
        <p:spPr>
          <a:xfrm>
            <a:off x="7187184" y="2020824"/>
            <a:ext cx="420624" cy="420624"/>
          </a:xfrm>
          <a:prstGeom prst="ellipse">
            <a:avLst/>
          </a:prstGeom>
          <a:solidFill>
            <a:srgbClr val="3D5A80"/>
          </a:solidFill>
          <a:ln/>
        </p:spPr>
      </p:sp>
      <p:pic>
        <p:nvPicPr>
          <p:cNvPr id="21" name="Image 3" descr="preencoded.png">    </p:cNvPr>
          <p:cNvPicPr>
            <a:picLocks noChangeAspect="1"/>
          </p:cNvPicPr>
          <p:nvPr/>
        </p:nvPicPr>
        <p:blipFill>
          <a:blip r:embed="rId4"/>
          <a:stretch>
            <a:fillRect/>
          </a:stretch>
        </p:blipFill>
        <p:spPr>
          <a:xfrm>
            <a:off x="7254484" y="2088124"/>
            <a:ext cx="286024" cy="286024"/>
          </a:xfrm>
          <a:prstGeom prst="rect">
            <a:avLst/>
          </a:prstGeom>
        </p:spPr>
      </p:pic>
      <p:sp>
        <p:nvSpPr>
          <p:cNvPr id="22" name="Text 16"/>
          <p:cNvSpPr/>
          <p:nvPr/>
        </p:nvSpPr>
        <p:spPr>
          <a:xfrm>
            <a:off x="6665976" y="2496312"/>
            <a:ext cx="1463040" cy="438912"/>
          </a:xfrm>
          <a:prstGeom prst="rect">
            <a:avLst/>
          </a:prstGeom>
          <a:noFill/>
          <a:ln/>
        </p:spPr>
        <p:txBody>
          <a:bodyPr wrap="square" lIns="0" tIns="0" rIns="0" bIns="0" rtlCol="0" anchor="t"/>
          <a:lstStyle/>
          <a:p>
            <a:pPr algn="ctr" indent="0" marL="0">
              <a:lnSpc>
                <a:spcPct val="100000"/>
              </a:lnSpc>
              <a:buNone/>
            </a:pPr>
            <a:r>
              <a:rPr lang="en-US" sz="1100" b="1" dirty="0">
                <a:solidFill>
                  <a:srgbClr val="1B2A4A"/>
                </a:solidFill>
                <a:latin typeface="Calibri" pitchFamily="34" charset="0"/>
                <a:ea typeface="Calibri" pitchFamily="34" charset="-122"/>
                <a:cs typeface="Calibri" pitchFamily="34" charset="-120"/>
              </a:rPr>
              <a:t>Interfaz de</a:t>
            </a:r>
            <a:endParaRPr lang="en-US" sz="1100" dirty="0"/>
          </a:p>
          <a:p>
            <a:pPr algn="ctr" indent="0" marL="0">
              <a:lnSpc>
                <a:spcPct val="100000"/>
              </a:lnSpc>
              <a:buNone/>
            </a:pPr>
            <a:r>
              <a:rPr lang="en-US" sz="1100" b="1" dirty="0">
                <a:solidFill>
                  <a:srgbClr val="1B2A4A"/>
                </a:solidFill>
                <a:latin typeface="Calibri" pitchFamily="34" charset="0"/>
                <a:ea typeface="Calibri" pitchFamily="34" charset="-122"/>
                <a:cs typeface="Calibri" pitchFamily="34" charset="-120"/>
              </a:rPr>
              <a:t>Usuario</a:t>
            </a:r>
            <a:endParaRPr lang="en-US" sz="1100" dirty="0"/>
          </a:p>
        </p:txBody>
      </p:sp>
      <p:sp>
        <p:nvSpPr>
          <p:cNvPr id="23" name="Text 17"/>
          <p:cNvSpPr/>
          <p:nvPr/>
        </p:nvSpPr>
        <p:spPr>
          <a:xfrm>
            <a:off x="969264" y="3044952"/>
            <a:ext cx="3438144" cy="201168"/>
          </a:xfrm>
          <a:prstGeom prst="rect">
            <a:avLst/>
          </a:prstGeom>
          <a:noFill/>
          <a:ln/>
        </p:spPr>
        <p:txBody>
          <a:bodyPr wrap="square" lIns="0" tIns="0" rIns="0" bIns="0" rtlCol="0" anchor="t"/>
          <a:lstStyle/>
          <a:p>
            <a:pPr algn="ctr" indent="0" marL="0">
              <a:buNone/>
            </a:pPr>
            <a:r>
              <a:rPr lang="en-US" sz="850" i="1" dirty="0">
                <a:solidFill>
                  <a:srgbClr val="667186"/>
                </a:solidFill>
                <a:latin typeface="Calibri" pitchFamily="34" charset="0"/>
                <a:ea typeface="Calibri" pitchFamily="34" charset="-122"/>
                <a:cs typeface="Calibri" pitchFamily="34" charset="-120"/>
              </a:rPr>
              <a:t>Adquisición de conocimiento</a:t>
            </a:r>
            <a:endParaRPr lang="en-US" sz="850" dirty="0"/>
          </a:p>
        </p:txBody>
      </p:sp>
      <p:sp>
        <p:nvSpPr>
          <p:cNvPr id="24" name="Text 18"/>
          <p:cNvSpPr/>
          <p:nvPr/>
        </p:nvSpPr>
        <p:spPr>
          <a:xfrm>
            <a:off x="5376672" y="2971800"/>
            <a:ext cx="274320" cy="502920"/>
          </a:xfrm>
          <a:prstGeom prst="rect">
            <a:avLst/>
          </a:prstGeom>
          <a:noFill/>
          <a:ln/>
        </p:spPr>
        <p:txBody>
          <a:bodyPr wrap="square" lIns="0" tIns="0" rIns="0" bIns="0" rtlCol="0" anchor="ctr"/>
          <a:lstStyle/>
          <a:p>
            <a:pPr algn="ctr" indent="0" marL="0">
              <a:buNone/>
            </a:pPr>
            <a:r>
              <a:rPr lang="en-US" sz="1700" b="1" dirty="0">
                <a:solidFill>
                  <a:srgbClr val="3D5A80"/>
                </a:solidFill>
                <a:latin typeface="Arial" pitchFamily="34" charset="0"/>
                <a:ea typeface="Arial" pitchFamily="34" charset="-122"/>
                <a:cs typeface="Arial" pitchFamily="34" charset="-120"/>
              </a:rPr>
              <a:t>⇕</a:t>
            </a:r>
            <a:endParaRPr lang="en-US" sz="1700" dirty="0"/>
          </a:p>
        </p:txBody>
      </p:sp>
      <p:sp>
        <p:nvSpPr>
          <p:cNvPr id="25" name="Shape 19"/>
          <p:cNvSpPr/>
          <p:nvPr/>
        </p:nvSpPr>
        <p:spPr>
          <a:xfrm>
            <a:off x="4370832" y="3474720"/>
            <a:ext cx="2286000" cy="868680"/>
          </a:xfrm>
          <a:prstGeom prst="roundRect">
            <a:avLst>
              <a:gd name="adj" fmla="val 8421"/>
            </a:avLst>
          </a:prstGeom>
          <a:solidFill>
            <a:srgbClr val="F1F4F9"/>
          </a:solidFill>
          <a:ln/>
          <a:effectLst>
            <a:outerShdw sx="100000" sy="100000" kx="0" ky="0" algn="bl" rotWithShape="0" blurRad="88900" dist="25400" dir="5400000">
              <a:srgbClr val="1B2A4A">
                <a:alpha val="10000"/>
              </a:srgbClr>
            </a:outerShdw>
          </a:effectLst>
        </p:spPr>
      </p:sp>
      <p:sp>
        <p:nvSpPr>
          <p:cNvPr id="26" name="Shape 20"/>
          <p:cNvSpPr/>
          <p:nvPr/>
        </p:nvSpPr>
        <p:spPr>
          <a:xfrm>
            <a:off x="4553712" y="3707892"/>
            <a:ext cx="402336" cy="402336"/>
          </a:xfrm>
          <a:prstGeom prst="ellipse">
            <a:avLst/>
          </a:prstGeom>
          <a:solidFill>
            <a:srgbClr val="E0A458"/>
          </a:solidFill>
          <a:ln/>
        </p:spPr>
      </p:sp>
      <p:pic>
        <p:nvPicPr>
          <p:cNvPr id="27" name="Image 4" descr="preencoded.png">    </p:cNvPr>
          <p:cNvPicPr>
            <a:picLocks noChangeAspect="1"/>
          </p:cNvPicPr>
          <p:nvPr/>
        </p:nvPicPr>
        <p:blipFill>
          <a:blip r:embed="rId5"/>
          <a:stretch>
            <a:fillRect/>
          </a:stretch>
        </p:blipFill>
        <p:spPr>
          <a:xfrm>
            <a:off x="4618086" y="3772266"/>
            <a:ext cx="273588" cy="273588"/>
          </a:xfrm>
          <a:prstGeom prst="rect">
            <a:avLst/>
          </a:prstGeom>
        </p:spPr>
      </p:pic>
      <p:sp>
        <p:nvSpPr>
          <p:cNvPr id="28" name="Text 21"/>
          <p:cNvSpPr/>
          <p:nvPr/>
        </p:nvSpPr>
        <p:spPr>
          <a:xfrm>
            <a:off x="5084064" y="3566160"/>
            <a:ext cx="1417320" cy="384048"/>
          </a:xfrm>
          <a:prstGeom prst="rect">
            <a:avLst/>
          </a:prstGeom>
          <a:noFill/>
          <a:ln/>
        </p:spPr>
        <p:txBody>
          <a:bodyPr wrap="square" lIns="0" tIns="0" rIns="0" bIns="0" rtlCol="0" anchor="t"/>
          <a:lstStyle/>
          <a:p>
            <a:pPr algn="l" indent="0" marL="0">
              <a:lnSpc>
                <a:spcPct val="100000"/>
              </a:lnSpc>
              <a:buNone/>
            </a:pPr>
            <a:r>
              <a:rPr lang="en-US" sz="1100" b="1" dirty="0">
                <a:solidFill>
                  <a:srgbClr val="1B2A4A"/>
                </a:solidFill>
                <a:latin typeface="Calibri" pitchFamily="34" charset="0"/>
                <a:ea typeface="Calibri" pitchFamily="34" charset="-122"/>
                <a:cs typeface="Calibri" pitchFamily="34" charset="-120"/>
              </a:rPr>
              <a:t>Módulo de</a:t>
            </a:r>
            <a:endParaRPr lang="en-US" sz="1100" dirty="0"/>
          </a:p>
          <a:p>
            <a:pPr algn="l" indent="0" marL="0">
              <a:lnSpc>
                <a:spcPct val="100000"/>
              </a:lnSpc>
              <a:buNone/>
            </a:pPr>
            <a:r>
              <a:rPr lang="en-US" sz="1100" b="1" dirty="0">
                <a:solidFill>
                  <a:srgbClr val="1B2A4A"/>
                </a:solidFill>
                <a:latin typeface="Calibri" pitchFamily="34" charset="0"/>
                <a:ea typeface="Calibri" pitchFamily="34" charset="-122"/>
                <a:cs typeface="Calibri" pitchFamily="34" charset="-120"/>
              </a:rPr>
              <a:t>Explicación</a:t>
            </a:r>
            <a:endParaRPr lang="en-US" sz="1100" dirty="0"/>
          </a:p>
        </p:txBody>
      </p:sp>
      <p:sp>
        <p:nvSpPr>
          <p:cNvPr id="29" name="Text 22"/>
          <p:cNvSpPr/>
          <p:nvPr/>
        </p:nvSpPr>
        <p:spPr>
          <a:xfrm>
            <a:off x="5084064" y="3986784"/>
            <a:ext cx="1417320" cy="320040"/>
          </a:xfrm>
          <a:prstGeom prst="rect">
            <a:avLst/>
          </a:prstGeom>
          <a:noFill/>
          <a:ln/>
        </p:spPr>
        <p:txBody>
          <a:bodyPr wrap="square" lIns="0" tIns="0" rIns="0" bIns="0" rtlCol="0" anchor="t"/>
          <a:lstStyle/>
          <a:p>
            <a:pPr algn="l" indent="0" marL="0">
              <a:lnSpc>
                <a:spcPct val="105000"/>
              </a:lnSpc>
              <a:buNone/>
            </a:pPr>
            <a:r>
              <a:rPr lang="en-US" sz="850" dirty="0">
                <a:solidFill>
                  <a:srgbClr val="667186"/>
                </a:solidFill>
                <a:latin typeface="Calibri" pitchFamily="34" charset="0"/>
                <a:ea typeface="Calibri" pitchFamily="34" charset="-122"/>
                <a:cs typeface="Calibri" pitchFamily="34" charset="-120"/>
              </a:rPr>
              <a:t>Justifica el razonamiento ante el usuario</a:t>
            </a:r>
            <a:endParaRPr lang="en-US" sz="850" dirty="0"/>
          </a:p>
        </p:txBody>
      </p:sp>
      <p:sp>
        <p:nvSpPr>
          <p:cNvPr id="30" name="Text 23"/>
          <p:cNvSpPr/>
          <p:nvPr/>
        </p:nvSpPr>
        <p:spPr>
          <a:xfrm>
            <a:off x="8366760" y="4864608"/>
            <a:ext cx="457200" cy="228600"/>
          </a:xfrm>
          <a:prstGeom prst="rect">
            <a:avLst/>
          </a:prstGeom>
          <a:noFill/>
          <a:ln/>
        </p:spPr>
        <p:txBody>
          <a:bodyPr wrap="square" lIns="0" tIns="0" rIns="0" bIns="0" rtlCol="0" anchor="ctr"/>
          <a:lstStyle/>
          <a:p>
            <a:pPr algn="r" indent="0" marL="0">
              <a:buNone/>
            </a:pPr>
            <a:r>
              <a:rPr lang="en-US" sz="900" dirty="0">
                <a:solidFill>
                  <a:srgbClr val="667186"/>
                </a:solidFill>
                <a:latin typeface="Calibri" pitchFamily="34" charset="0"/>
                <a:ea typeface="Calibri" pitchFamily="34" charset="-122"/>
                <a:cs typeface="Calibri" pitchFamily="34" charset="-120"/>
              </a:rPr>
              <a:t>08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7772400" cy="274320"/>
          </a:xfrm>
          <a:prstGeom prst="rect">
            <a:avLst/>
          </a:prstGeom>
          <a:noFill/>
          <a:ln/>
        </p:spPr>
        <p:txBody>
          <a:bodyPr wrap="square" lIns="0" tIns="0" rIns="0" bIns="0" rtlCol="0" anchor="ctr"/>
          <a:lstStyle/>
          <a:p>
            <a:pPr indent="0" marL="0">
              <a:buNone/>
            </a:pPr>
            <a:r>
              <a:rPr lang="en-US" sz="1200" b="1" spc="200" kern="0" dirty="0">
                <a:solidFill>
                  <a:srgbClr val="E0A458"/>
                </a:solidFill>
                <a:latin typeface="Calibri" pitchFamily="34" charset="0"/>
                <a:ea typeface="Calibri" pitchFamily="34" charset="-122"/>
                <a:cs typeface="Calibri" pitchFamily="34" charset="-120"/>
              </a:rPr>
              <a:t>06 · FUNCIONAMIENTO</a:t>
            </a:r>
            <a:endParaRPr lang="en-US" sz="1200" dirty="0"/>
          </a:p>
        </p:txBody>
      </p:sp>
      <p:sp>
        <p:nvSpPr>
          <p:cNvPr id="3" name="Text 1"/>
          <p:cNvSpPr/>
          <p:nvPr/>
        </p:nvSpPr>
        <p:spPr>
          <a:xfrm>
            <a:off x="502920" y="566928"/>
            <a:ext cx="8138160" cy="658368"/>
          </a:xfrm>
          <a:prstGeom prst="rect">
            <a:avLst/>
          </a:prstGeom>
          <a:noFill/>
          <a:ln/>
        </p:spPr>
        <p:txBody>
          <a:bodyPr wrap="square" lIns="0" tIns="0" rIns="0" bIns="0" rtlCol="0" anchor="ctr"/>
          <a:lstStyle/>
          <a:p>
            <a:pPr indent="0" marL="0">
              <a:buNone/>
            </a:pPr>
            <a:r>
              <a:rPr lang="en-US" sz="2900" b="1" dirty="0">
                <a:solidFill>
                  <a:srgbClr val="1B2A4A"/>
                </a:solidFill>
                <a:latin typeface="Cambria" pitchFamily="34" charset="0"/>
                <a:ea typeface="Cambria" pitchFamily="34" charset="-122"/>
                <a:cs typeface="Cambria" pitchFamily="34" charset="-120"/>
              </a:rPr>
              <a:t>¿Cómo funciona un Sistema Experto?</a:t>
            </a:r>
            <a:endParaRPr lang="en-US" sz="2900" dirty="0"/>
          </a:p>
        </p:txBody>
      </p:sp>
      <p:sp>
        <p:nvSpPr>
          <p:cNvPr id="4" name="Shape 2"/>
          <p:cNvSpPr/>
          <p:nvPr/>
        </p:nvSpPr>
        <p:spPr>
          <a:xfrm>
            <a:off x="502920" y="1600200"/>
            <a:ext cx="1481328" cy="2331720"/>
          </a:xfrm>
          <a:prstGeom prst="roundRect">
            <a:avLst>
              <a:gd name="adj" fmla="val 4938"/>
            </a:avLst>
          </a:prstGeom>
          <a:solidFill>
            <a:srgbClr val="F1F4F9"/>
          </a:solidFill>
          <a:ln/>
          <a:effectLst>
            <a:outerShdw sx="100000" sy="100000" kx="0" ky="0" algn="bl" rotWithShape="0" blurRad="88900" dist="25400" dir="5400000">
              <a:srgbClr val="1B2A4A">
                <a:alpha val="10000"/>
              </a:srgbClr>
            </a:outerShdw>
          </a:effectLst>
        </p:spPr>
      </p:sp>
      <p:sp>
        <p:nvSpPr>
          <p:cNvPr id="5" name="Shape 3"/>
          <p:cNvSpPr/>
          <p:nvPr/>
        </p:nvSpPr>
        <p:spPr>
          <a:xfrm>
            <a:off x="1618488" y="1463040"/>
            <a:ext cx="384048" cy="384048"/>
          </a:xfrm>
          <a:prstGeom prst="ellipse">
            <a:avLst/>
          </a:prstGeom>
          <a:solidFill>
            <a:srgbClr val="E0A458"/>
          </a:solidFill>
          <a:ln/>
        </p:spPr>
      </p:sp>
      <p:sp>
        <p:nvSpPr>
          <p:cNvPr id="6" name="Text 4"/>
          <p:cNvSpPr/>
          <p:nvPr/>
        </p:nvSpPr>
        <p:spPr>
          <a:xfrm>
            <a:off x="1618488" y="1463040"/>
            <a:ext cx="384048" cy="384048"/>
          </a:xfrm>
          <a:prstGeom prst="rect">
            <a:avLst/>
          </a:prstGeom>
          <a:noFill/>
          <a:ln/>
        </p:spPr>
        <p:txBody>
          <a:bodyPr wrap="square" lIns="0" tIns="0" rIns="0" bIns="0" rtlCol="0" anchor="ctr"/>
          <a:lstStyle/>
          <a:p>
            <a:pPr algn="ctr" indent="0" marL="0">
              <a:buNone/>
            </a:pPr>
            <a:r>
              <a:rPr lang="en-US" sz="1300" b="1" dirty="0">
                <a:solidFill>
                  <a:srgbClr val="1B2A4A"/>
                </a:solidFill>
                <a:latin typeface="Calibri" pitchFamily="34" charset="0"/>
                <a:ea typeface="Calibri" pitchFamily="34" charset="-122"/>
                <a:cs typeface="Calibri" pitchFamily="34" charset="-120"/>
              </a:rPr>
              <a:t>1</a:t>
            </a:r>
            <a:endParaRPr lang="en-US" sz="1300" dirty="0"/>
          </a:p>
        </p:txBody>
      </p:sp>
      <p:sp>
        <p:nvSpPr>
          <p:cNvPr id="7" name="Shape 5"/>
          <p:cNvSpPr/>
          <p:nvPr/>
        </p:nvSpPr>
        <p:spPr>
          <a:xfrm>
            <a:off x="950976" y="1892808"/>
            <a:ext cx="585216" cy="585216"/>
          </a:xfrm>
          <a:prstGeom prst="ellipse">
            <a:avLst/>
          </a:prstGeom>
          <a:solidFill>
            <a:srgbClr val="3D5A80"/>
          </a:solidFill>
          <a:ln/>
        </p:spPr>
      </p:sp>
      <p:pic>
        <p:nvPicPr>
          <p:cNvPr id="8" name="Image 0" descr="preencoded.png">    </p:cNvPr>
          <p:cNvPicPr>
            <a:picLocks noChangeAspect="1"/>
          </p:cNvPicPr>
          <p:nvPr/>
        </p:nvPicPr>
        <p:blipFill>
          <a:blip r:embed="rId1"/>
          <a:stretch>
            <a:fillRect/>
          </a:stretch>
        </p:blipFill>
        <p:spPr>
          <a:xfrm>
            <a:off x="1044611" y="1986443"/>
            <a:ext cx="397947" cy="397947"/>
          </a:xfrm>
          <a:prstGeom prst="rect">
            <a:avLst/>
          </a:prstGeom>
        </p:spPr>
      </p:pic>
      <p:sp>
        <p:nvSpPr>
          <p:cNvPr id="9" name="Text 6"/>
          <p:cNvSpPr/>
          <p:nvPr/>
        </p:nvSpPr>
        <p:spPr>
          <a:xfrm>
            <a:off x="576072" y="2624328"/>
            <a:ext cx="1335024" cy="502920"/>
          </a:xfrm>
          <a:prstGeom prst="rect">
            <a:avLst/>
          </a:prstGeom>
          <a:noFill/>
          <a:ln/>
        </p:spPr>
        <p:txBody>
          <a:bodyPr wrap="square" lIns="0" tIns="0" rIns="0" bIns="0" rtlCol="0" anchor="t"/>
          <a:lstStyle/>
          <a:p>
            <a:pPr algn="ctr" indent="0" marL="0">
              <a:lnSpc>
                <a:spcPct val="105000"/>
              </a:lnSpc>
              <a:buNone/>
            </a:pPr>
            <a:r>
              <a:rPr lang="en-US" sz="1150" b="1" dirty="0">
                <a:solidFill>
                  <a:srgbClr val="1B2A4A"/>
                </a:solidFill>
                <a:latin typeface="Calibri" pitchFamily="34" charset="0"/>
                <a:ea typeface="Calibri" pitchFamily="34" charset="-122"/>
                <a:cs typeface="Calibri" pitchFamily="34" charset="-120"/>
              </a:rPr>
              <a:t>Captura de</a:t>
            </a:r>
            <a:endParaRPr lang="en-US" sz="1150" dirty="0"/>
          </a:p>
          <a:p>
            <a:pPr algn="ctr" indent="0" marL="0">
              <a:lnSpc>
                <a:spcPct val="105000"/>
              </a:lnSpc>
              <a:buNone/>
            </a:pPr>
            <a:r>
              <a:rPr lang="en-US" sz="1150" b="1" dirty="0">
                <a:solidFill>
                  <a:srgbClr val="1B2A4A"/>
                </a:solidFill>
                <a:latin typeface="Calibri" pitchFamily="34" charset="0"/>
                <a:ea typeface="Calibri" pitchFamily="34" charset="-122"/>
                <a:cs typeface="Calibri" pitchFamily="34" charset="-120"/>
              </a:rPr>
              <a:t>datos</a:t>
            </a:r>
            <a:endParaRPr lang="en-US" sz="1150" dirty="0"/>
          </a:p>
        </p:txBody>
      </p:sp>
      <p:sp>
        <p:nvSpPr>
          <p:cNvPr id="10" name="Text 7"/>
          <p:cNvSpPr/>
          <p:nvPr/>
        </p:nvSpPr>
        <p:spPr>
          <a:xfrm>
            <a:off x="612648" y="3172968"/>
            <a:ext cx="1261872" cy="1188720"/>
          </a:xfrm>
          <a:prstGeom prst="rect">
            <a:avLst/>
          </a:prstGeom>
          <a:noFill/>
          <a:ln/>
        </p:spPr>
        <p:txBody>
          <a:bodyPr wrap="square" lIns="0" tIns="0" rIns="0" bIns="0" rtlCol="0" anchor="t"/>
          <a:lstStyle/>
          <a:p>
            <a:pPr algn="ctr" indent="0" marL="0">
              <a:lnSpc>
                <a:spcPct val="115000"/>
              </a:lnSpc>
              <a:buNone/>
            </a:pPr>
            <a:r>
              <a:rPr lang="en-US" sz="900" dirty="0">
                <a:solidFill>
                  <a:srgbClr val="667186"/>
                </a:solidFill>
                <a:latin typeface="Calibri" pitchFamily="34" charset="0"/>
                <a:ea typeface="Calibri" pitchFamily="34" charset="-122"/>
                <a:cs typeface="Calibri" pitchFamily="34" charset="-120"/>
              </a:rPr>
              <a:t>El usuario aporta hechos del problema vía la interfaz</a:t>
            </a:r>
            <a:endParaRPr lang="en-US" sz="900" dirty="0"/>
          </a:p>
        </p:txBody>
      </p:sp>
      <p:sp>
        <p:nvSpPr>
          <p:cNvPr id="11" name="Text 8"/>
          <p:cNvSpPr/>
          <p:nvPr/>
        </p:nvSpPr>
        <p:spPr>
          <a:xfrm>
            <a:off x="1984248" y="2308860"/>
            <a:ext cx="205740" cy="274320"/>
          </a:xfrm>
          <a:prstGeom prst="rect">
            <a:avLst/>
          </a:prstGeom>
          <a:noFill/>
          <a:ln/>
        </p:spPr>
        <p:txBody>
          <a:bodyPr wrap="square" lIns="0" tIns="0" rIns="0" bIns="0" rtlCol="0" anchor="ctr"/>
          <a:lstStyle/>
          <a:p>
            <a:pPr algn="ctr" indent="0" marL="0">
              <a:buNone/>
            </a:pPr>
            <a:r>
              <a:rPr lang="en-US" sz="1400" b="1" dirty="0">
                <a:solidFill>
                  <a:srgbClr val="E0A458"/>
                </a:solidFill>
                <a:latin typeface="Arial" pitchFamily="34" charset="0"/>
                <a:ea typeface="Arial" pitchFamily="34" charset="-122"/>
                <a:cs typeface="Arial" pitchFamily="34" charset="-120"/>
              </a:rPr>
              <a:t>→</a:t>
            </a:r>
            <a:endParaRPr lang="en-US" sz="1400" dirty="0"/>
          </a:p>
        </p:txBody>
      </p:sp>
      <p:sp>
        <p:nvSpPr>
          <p:cNvPr id="12" name="Shape 9"/>
          <p:cNvSpPr/>
          <p:nvPr/>
        </p:nvSpPr>
        <p:spPr>
          <a:xfrm>
            <a:off x="2189988" y="1600200"/>
            <a:ext cx="1481328" cy="2331720"/>
          </a:xfrm>
          <a:prstGeom prst="roundRect">
            <a:avLst>
              <a:gd name="adj" fmla="val 4938"/>
            </a:avLst>
          </a:prstGeom>
          <a:solidFill>
            <a:srgbClr val="F1F4F9"/>
          </a:solidFill>
          <a:ln/>
          <a:effectLst>
            <a:outerShdw sx="100000" sy="100000" kx="0" ky="0" algn="bl" rotWithShape="0" blurRad="88900" dist="25400" dir="5400000">
              <a:srgbClr val="1B2A4A">
                <a:alpha val="10000"/>
              </a:srgbClr>
            </a:outerShdw>
          </a:effectLst>
        </p:spPr>
      </p:sp>
      <p:sp>
        <p:nvSpPr>
          <p:cNvPr id="13" name="Shape 10"/>
          <p:cNvSpPr/>
          <p:nvPr/>
        </p:nvSpPr>
        <p:spPr>
          <a:xfrm>
            <a:off x="3305556" y="1463040"/>
            <a:ext cx="384048" cy="384048"/>
          </a:xfrm>
          <a:prstGeom prst="ellipse">
            <a:avLst/>
          </a:prstGeom>
          <a:solidFill>
            <a:srgbClr val="E0A458"/>
          </a:solidFill>
          <a:ln/>
        </p:spPr>
      </p:sp>
      <p:sp>
        <p:nvSpPr>
          <p:cNvPr id="14" name="Text 11"/>
          <p:cNvSpPr/>
          <p:nvPr/>
        </p:nvSpPr>
        <p:spPr>
          <a:xfrm>
            <a:off x="3305556" y="1463040"/>
            <a:ext cx="384048" cy="384048"/>
          </a:xfrm>
          <a:prstGeom prst="rect">
            <a:avLst/>
          </a:prstGeom>
          <a:noFill/>
          <a:ln/>
        </p:spPr>
        <p:txBody>
          <a:bodyPr wrap="square" lIns="0" tIns="0" rIns="0" bIns="0" rtlCol="0" anchor="ctr"/>
          <a:lstStyle/>
          <a:p>
            <a:pPr algn="ctr" indent="0" marL="0">
              <a:buNone/>
            </a:pPr>
            <a:r>
              <a:rPr lang="en-US" sz="1300" b="1" dirty="0">
                <a:solidFill>
                  <a:srgbClr val="1B2A4A"/>
                </a:solidFill>
                <a:latin typeface="Calibri" pitchFamily="34" charset="0"/>
                <a:ea typeface="Calibri" pitchFamily="34" charset="-122"/>
                <a:cs typeface="Calibri" pitchFamily="34" charset="-120"/>
              </a:rPr>
              <a:t>2</a:t>
            </a:r>
            <a:endParaRPr lang="en-US" sz="1300" dirty="0"/>
          </a:p>
        </p:txBody>
      </p:sp>
      <p:sp>
        <p:nvSpPr>
          <p:cNvPr id="15" name="Shape 12"/>
          <p:cNvSpPr/>
          <p:nvPr/>
        </p:nvSpPr>
        <p:spPr>
          <a:xfrm>
            <a:off x="2638044" y="1892808"/>
            <a:ext cx="585216" cy="585216"/>
          </a:xfrm>
          <a:prstGeom prst="ellipse">
            <a:avLst/>
          </a:prstGeom>
          <a:solidFill>
            <a:srgbClr val="3D5A80"/>
          </a:solidFill>
          <a:ln/>
        </p:spPr>
      </p:sp>
      <p:pic>
        <p:nvPicPr>
          <p:cNvPr id="16" name="Image 1" descr="preencoded.png">    </p:cNvPr>
          <p:cNvPicPr>
            <a:picLocks noChangeAspect="1"/>
          </p:cNvPicPr>
          <p:nvPr/>
        </p:nvPicPr>
        <p:blipFill>
          <a:blip r:embed="rId2"/>
          <a:stretch>
            <a:fillRect/>
          </a:stretch>
        </p:blipFill>
        <p:spPr>
          <a:xfrm>
            <a:off x="2731679" y="1986443"/>
            <a:ext cx="397947" cy="397947"/>
          </a:xfrm>
          <a:prstGeom prst="rect">
            <a:avLst/>
          </a:prstGeom>
        </p:spPr>
      </p:pic>
      <p:sp>
        <p:nvSpPr>
          <p:cNvPr id="17" name="Text 13"/>
          <p:cNvSpPr/>
          <p:nvPr/>
        </p:nvSpPr>
        <p:spPr>
          <a:xfrm>
            <a:off x="2263140" y="2624328"/>
            <a:ext cx="1335024" cy="502920"/>
          </a:xfrm>
          <a:prstGeom prst="rect">
            <a:avLst/>
          </a:prstGeom>
          <a:noFill/>
          <a:ln/>
        </p:spPr>
        <p:txBody>
          <a:bodyPr wrap="square" lIns="0" tIns="0" rIns="0" bIns="0" rtlCol="0" anchor="t"/>
          <a:lstStyle/>
          <a:p>
            <a:pPr algn="ctr" indent="0" marL="0">
              <a:lnSpc>
                <a:spcPct val="105000"/>
              </a:lnSpc>
              <a:buNone/>
            </a:pPr>
            <a:r>
              <a:rPr lang="en-US" sz="1150" b="1" dirty="0">
                <a:solidFill>
                  <a:srgbClr val="1B2A4A"/>
                </a:solidFill>
                <a:latin typeface="Calibri" pitchFamily="34" charset="0"/>
                <a:ea typeface="Calibri" pitchFamily="34" charset="-122"/>
                <a:cs typeface="Calibri" pitchFamily="34" charset="-120"/>
              </a:rPr>
              <a:t>Comparación</a:t>
            </a:r>
            <a:endParaRPr lang="en-US" sz="1150" dirty="0"/>
          </a:p>
        </p:txBody>
      </p:sp>
      <p:sp>
        <p:nvSpPr>
          <p:cNvPr id="18" name="Text 14"/>
          <p:cNvSpPr/>
          <p:nvPr/>
        </p:nvSpPr>
        <p:spPr>
          <a:xfrm>
            <a:off x="2299716" y="3172968"/>
            <a:ext cx="1261872" cy="1188720"/>
          </a:xfrm>
          <a:prstGeom prst="rect">
            <a:avLst/>
          </a:prstGeom>
          <a:noFill/>
          <a:ln/>
        </p:spPr>
        <p:txBody>
          <a:bodyPr wrap="square" lIns="0" tIns="0" rIns="0" bIns="0" rtlCol="0" anchor="t"/>
          <a:lstStyle/>
          <a:p>
            <a:pPr algn="ctr" indent="0" marL="0">
              <a:lnSpc>
                <a:spcPct val="115000"/>
              </a:lnSpc>
              <a:buNone/>
            </a:pPr>
            <a:r>
              <a:rPr lang="en-US" sz="900" dirty="0">
                <a:solidFill>
                  <a:srgbClr val="667186"/>
                </a:solidFill>
                <a:latin typeface="Calibri" pitchFamily="34" charset="0"/>
                <a:ea typeface="Calibri" pitchFamily="34" charset="-122"/>
                <a:cs typeface="Calibri" pitchFamily="34" charset="-120"/>
              </a:rPr>
              <a:t>El motor cruza los hechos con las reglas disponibles</a:t>
            </a:r>
            <a:endParaRPr lang="en-US" sz="900" dirty="0"/>
          </a:p>
        </p:txBody>
      </p:sp>
      <p:sp>
        <p:nvSpPr>
          <p:cNvPr id="19" name="Text 15"/>
          <p:cNvSpPr/>
          <p:nvPr/>
        </p:nvSpPr>
        <p:spPr>
          <a:xfrm>
            <a:off x="3671316" y="2308860"/>
            <a:ext cx="205740" cy="274320"/>
          </a:xfrm>
          <a:prstGeom prst="rect">
            <a:avLst/>
          </a:prstGeom>
          <a:noFill/>
          <a:ln/>
        </p:spPr>
        <p:txBody>
          <a:bodyPr wrap="square" lIns="0" tIns="0" rIns="0" bIns="0" rtlCol="0" anchor="ctr"/>
          <a:lstStyle/>
          <a:p>
            <a:pPr algn="ctr" indent="0" marL="0">
              <a:buNone/>
            </a:pPr>
            <a:r>
              <a:rPr lang="en-US" sz="1400" b="1" dirty="0">
                <a:solidFill>
                  <a:srgbClr val="E0A458"/>
                </a:solidFill>
                <a:latin typeface="Arial" pitchFamily="34" charset="0"/>
                <a:ea typeface="Arial" pitchFamily="34" charset="-122"/>
                <a:cs typeface="Arial" pitchFamily="34" charset="-120"/>
              </a:rPr>
              <a:t>→</a:t>
            </a:r>
            <a:endParaRPr lang="en-US" sz="1400" dirty="0"/>
          </a:p>
        </p:txBody>
      </p:sp>
      <p:sp>
        <p:nvSpPr>
          <p:cNvPr id="20" name="Shape 16"/>
          <p:cNvSpPr/>
          <p:nvPr/>
        </p:nvSpPr>
        <p:spPr>
          <a:xfrm>
            <a:off x="3877056" y="1600200"/>
            <a:ext cx="1481328" cy="2331720"/>
          </a:xfrm>
          <a:prstGeom prst="roundRect">
            <a:avLst>
              <a:gd name="adj" fmla="val 4938"/>
            </a:avLst>
          </a:prstGeom>
          <a:solidFill>
            <a:srgbClr val="F1F4F9"/>
          </a:solidFill>
          <a:ln/>
          <a:effectLst>
            <a:outerShdw sx="100000" sy="100000" kx="0" ky="0" algn="bl" rotWithShape="0" blurRad="88900" dist="25400" dir="5400000">
              <a:srgbClr val="1B2A4A">
                <a:alpha val="10000"/>
              </a:srgbClr>
            </a:outerShdw>
          </a:effectLst>
        </p:spPr>
      </p:sp>
      <p:sp>
        <p:nvSpPr>
          <p:cNvPr id="21" name="Shape 17"/>
          <p:cNvSpPr/>
          <p:nvPr/>
        </p:nvSpPr>
        <p:spPr>
          <a:xfrm>
            <a:off x="4992624" y="1463040"/>
            <a:ext cx="384048" cy="384048"/>
          </a:xfrm>
          <a:prstGeom prst="ellipse">
            <a:avLst/>
          </a:prstGeom>
          <a:solidFill>
            <a:srgbClr val="E0A458"/>
          </a:solidFill>
          <a:ln/>
        </p:spPr>
      </p:sp>
      <p:sp>
        <p:nvSpPr>
          <p:cNvPr id="22" name="Text 18"/>
          <p:cNvSpPr/>
          <p:nvPr/>
        </p:nvSpPr>
        <p:spPr>
          <a:xfrm>
            <a:off x="4992624" y="1463040"/>
            <a:ext cx="384048" cy="384048"/>
          </a:xfrm>
          <a:prstGeom prst="rect">
            <a:avLst/>
          </a:prstGeom>
          <a:noFill/>
          <a:ln/>
        </p:spPr>
        <p:txBody>
          <a:bodyPr wrap="square" lIns="0" tIns="0" rIns="0" bIns="0" rtlCol="0" anchor="ctr"/>
          <a:lstStyle/>
          <a:p>
            <a:pPr algn="ctr" indent="0" marL="0">
              <a:buNone/>
            </a:pPr>
            <a:r>
              <a:rPr lang="en-US" sz="1300" b="1" dirty="0">
                <a:solidFill>
                  <a:srgbClr val="1B2A4A"/>
                </a:solidFill>
                <a:latin typeface="Calibri" pitchFamily="34" charset="0"/>
                <a:ea typeface="Calibri" pitchFamily="34" charset="-122"/>
                <a:cs typeface="Calibri" pitchFamily="34" charset="-120"/>
              </a:rPr>
              <a:t>3</a:t>
            </a:r>
            <a:endParaRPr lang="en-US" sz="1300" dirty="0"/>
          </a:p>
        </p:txBody>
      </p:sp>
      <p:sp>
        <p:nvSpPr>
          <p:cNvPr id="23" name="Shape 19"/>
          <p:cNvSpPr/>
          <p:nvPr/>
        </p:nvSpPr>
        <p:spPr>
          <a:xfrm>
            <a:off x="4325112" y="1892808"/>
            <a:ext cx="585216" cy="585216"/>
          </a:xfrm>
          <a:prstGeom prst="ellipse">
            <a:avLst/>
          </a:prstGeom>
          <a:solidFill>
            <a:srgbClr val="3D5A80"/>
          </a:solidFill>
          <a:ln/>
        </p:spPr>
      </p:sp>
      <p:pic>
        <p:nvPicPr>
          <p:cNvPr id="24" name="Image 2" descr="preencoded.png">    </p:cNvPr>
          <p:cNvPicPr>
            <a:picLocks noChangeAspect="1"/>
          </p:cNvPicPr>
          <p:nvPr/>
        </p:nvPicPr>
        <p:blipFill>
          <a:blip r:embed="rId3"/>
          <a:stretch>
            <a:fillRect/>
          </a:stretch>
        </p:blipFill>
        <p:spPr>
          <a:xfrm>
            <a:off x="4418747" y="1986443"/>
            <a:ext cx="397947" cy="397947"/>
          </a:xfrm>
          <a:prstGeom prst="rect">
            <a:avLst/>
          </a:prstGeom>
        </p:spPr>
      </p:pic>
      <p:sp>
        <p:nvSpPr>
          <p:cNvPr id="25" name="Text 20"/>
          <p:cNvSpPr/>
          <p:nvPr/>
        </p:nvSpPr>
        <p:spPr>
          <a:xfrm>
            <a:off x="3950208" y="2624328"/>
            <a:ext cx="1335024" cy="502920"/>
          </a:xfrm>
          <a:prstGeom prst="rect">
            <a:avLst/>
          </a:prstGeom>
          <a:noFill/>
          <a:ln/>
        </p:spPr>
        <p:txBody>
          <a:bodyPr wrap="square" lIns="0" tIns="0" rIns="0" bIns="0" rtlCol="0" anchor="t"/>
          <a:lstStyle/>
          <a:p>
            <a:pPr algn="ctr" indent="0" marL="0">
              <a:lnSpc>
                <a:spcPct val="105000"/>
              </a:lnSpc>
              <a:buNone/>
            </a:pPr>
            <a:r>
              <a:rPr lang="en-US" sz="1150" b="1" dirty="0">
                <a:solidFill>
                  <a:srgbClr val="1B2A4A"/>
                </a:solidFill>
                <a:latin typeface="Calibri" pitchFamily="34" charset="0"/>
                <a:ea typeface="Calibri" pitchFamily="34" charset="-122"/>
                <a:cs typeface="Calibri" pitchFamily="34" charset="-120"/>
              </a:rPr>
              <a:t>Activación de</a:t>
            </a:r>
            <a:endParaRPr lang="en-US" sz="1150" dirty="0"/>
          </a:p>
          <a:p>
            <a:pPr algn="ctr" indent="0" marL="0">
              <a:lnSpc>
                <a:spcPct val="105000"/>
              </a:lnSpc>
              <a:buNone/>
            </a:pPr>
            <a:r>
              <a:rPr lang="en-US" sz="1150" b="1" dirty="0">
                <a:solidFill>
                  <a:srgbClr val="1B2A4A"/>
                </a:solidFill>
                <a:latin typeface="Calibri" pitchFamily="34" charset="0"/>
                <a:ea typeface="Calibri" pitchFamily="34" charset="-122"/>
                <a:cs typeface="Calibri" pitchFamily="34" charset="-120"/>
              </a:rPr>
              <a:t>reglas</a:t>
            </a:r>
            <a:endParaRPr lang="en-US" sz="1150" dirty="0"/>
          </a:p>
        </p:txBody>
      </p:sp>
      <p:sp>
        <p:nvSpPr>
          <p:cNvPr id="26" name="Text 21"/>
          <p:cNvSpPr/>
          <p:nvPr/>
        </p:nvSpPr>
        <p:spPr>
          <a:xfrm>
            <a:off x="3986784" y="3172968"/>
            <a:ext cx="1261872" cy="1188720"/>
          </a:xfrm>
          <a:prstGeom prst="rect">
            <a:avLst/>
          </a:prstGeom>
          <a:noFill/>
          <a:ln/>
        </p:spPr>
        <p:txBody>
          <a:bodyPr wrap="square" lIns="0" tIns="0" rIns="0" bIns="0" rtlCol="0" anchor="t"/>
          <a:lstStyle/>
          <a:p>
            <a:pPr algn="ctr" indent="0" marL="0">
              <a:lnSpc>
                <a:spcPct val="115000"/>
              </a:lnSpc>
              <a:buNone/>
            </a:pPr>
            <a:r>
              <a:rPr lang="en-US" sz="900" dirty="0">
                <a:solidFill>
                  <a:srgbClr val="667186"/>
                </a:solidFill>
                <a:latin typeface="Calibri" pitchFamily="34" charset="0"/>
                <a:ea typeface="Calibri" pitchFamily="34" charset="-122"/>
                <a:cs typeface="Calibri" pitchFamily="34" charset="-120"/>
              </a:rPr>
              <a:t>Se disparan las reglas cuya condición se cumple</a:t>
            </a:r>
            <a:endParaRPr lang="en-US" sz="900" dirty="0"/>
          </a:p>
        </p:txBody>
      </p:sp>
      <p:sp>
        <p:nvSpPr>
          <p:cNvPr id="27" name="Text 22"/>
          <p:cNvSpPr/>
          <p:nvPr/>
        </p:nvSpPr>
        <p:spPr>
          <a:xfrm>
            <a:off x="5358384" y="2308860"/>
            <a:ext cx="205740" cy="274320"/>
          </a:xfrm>
          <a:prstGeom prst="rect">
            <a:avLst/>
          </a:prstGeom>
          <a:noFill/>
          <a:ln/>
        </p:spPr>
        <p:txBody>
          <a:bodyPr wrap="square" lIns="0" tIns="0" rIns="0" bIns="0" rtlCol="0" anchor="ctr"/>
          <a:lstStyle/>
          <a:p>
            <a:pPr algn="ctr" indent="0" marL="0">
              <a:buNone/>
            </a:pPr>
            <a:r>
              <a:rPr lang="en-US" sz="1400" b="1" dirty="0">
                <a:solidFill>
                  <a:srgbClr val="E0A458"/>
                </a:solidFill>
                <a:latin typeface="Arial" pitchFamily="34" charset="0"/>
                <a:ea typeface="Arial" pitchFamily="34" charset="-122"/>
                <a:cs typeface="Arial" pitchFamily="34" charset="-120"/>
              </a:rPr>
              <a:t>→</a:t>
            </a:r>
            <a:endParaRPr lang="en-US" sz="1400" dirty="0"/>
          </a:p>
        </p:txBody>
      </p:sp>
      <p:sp>
        <p:nvSpPr>
          <p:cNvPr id="28" name="Shape 23"/>
          <p:cNvSpPr/>
          <p:nvPr/>
        </p:nvSpPr>
        <p:spPr>
          <a:xfrm>
            <a:off x="5564124" y="1600200"/>
            <a:ext cx="1481328" cy="2331720"/>
          </a:xfrm>
          <a:prstGeom prst="roundRect">
            <a:avLst>
              <a:gd name="adj" fmla="val 4938"/>
            </a:avLst>
          </a:prstGeom>
          <a:solidFill>
            <a:srgbClr val="F1F4F9"/>
          </a:solidFill>
          <a:ln/>
          <a:effectLst>
            <a:outerShdw sx="100000" sy="100000" kx="0" ky="0" algn="bl" rotWithShape="0" blurRad="88900" dist="25400" dir="5400000">
              <a:srgbClr val="1B2A4A">
                <a:alpha val="10000"/>
              </a:srgbClr>
            </a:outerShdw>
          </a:effectLst>
        </p:spPr>
      </p:sp>
      <p:sp>
        <p:nvSpPr>
          <p:cNvPr id="29" name="Shape 24"/>
          <p:cNvSpPr/>
          <p:nvPr/>
        </p:nvSpPr>
        <p:spPr>
          <a:xfrm>
            <a:off x="6679692" y="1463040"/>
            <a:ext cx="384048" cy="384048"/>
          </a:xfrm>
          <a:prstGeom prst="ellipse">
            <a:avLst/>
          </a:prstGeom>
          <a:solidFill>
            <a:srgbClr val="E0A458"/>
          </a:solidFill>
          <a:ln/>
        </p:spPr>
      </p:sp>
      <p:sp>
        <p:nvSpPr>
          <p:cNvPr id="30" name="Text 25"/>
          <p:cNvSpPr/>
          <p:nvPr/>
        </p:nvSpPr>
        <p:spPr>
          <a:xfrm>
            <a:off x="6679692" y="1463040"/>
            <a:ext cx="384048" cy="384048"/>
          </a:xfrm>
          <a:prstGeom prst="rect">
            <a:avLst/>
          </a:prstGeom>
          <a:noFill/>
          <a:ln/>
        </p:spPr>
        <p:txBody>
          <a:bodyPr wrap="square" lIns="0" tIns="0" rIns="0" bIns="0" rtlCol="0" anchor="ctr"/>
          <a:lstStyle/>
          <a:p>
            <a:pPr algn="ctr" indent="0" marL="0">
              <a:buNone/>
            </a:pPr>
            <a:r>
              <a:rPr lang="en-US" sz="1300" b="1" dirty="0">
                <a:solidFill>
                  <a:srgbClr val="1B2A4A"/>
                </a:solidFill>
                <a:latin typeface="Calibri" pitchFamily="34" charset="0"/>
                <a:ea typeface="Calibri" pitchFamily="34" charset="-122"/>
                <a:cs typeface="Calibri" pitchFamily="34" charset="-120"/>
              </a:rPr>
              <a:t>4</a:t>
            </a:r>
            <a:endParaRPr lang="en-US" sz="1300" dirty="0"/>
          </a:p>
        </p:txBody>
      </p:sp>
      <p:sp>
        <p:nvSpPr>
          <p:cNvPr id="31" name="Shape 26"/>
          <p:cNvSpPr/>
          <p:nvPr/>
        </p:nvSpPr>
        <p:spPr>
          <a:xfrm>
            <a:off x="6012180" y="1892808"/>
            <a:ext cx="585216" cy="585216"/>
          </a:xfrm>
          <a:prstGeom prst="ellipse">
            <a:avLst/>
          </a:prstGeom>
          <a:solidFill>
            <a:srgbClr val="3D5A80"/>
          </a:solidFill>
          <a:ln/>
        </p:spPr>
      </p:sp>
      <p:pic>
        <p:nvPicPr>
          <p:cNvPr id="32" name="Image 3" descr="preencoded.png">    </p:cNvPr>
          <p:cNvPicPr>
            <a:picLocks noChangeAspect="1"/>
          </p:cNvPicPr>
          <p:nvPr/>
        </p:nvPicPr>
        <p:blipFill>
          <a:blip r:embed="rId4"/>
          <a:stretch>
            <a:fillRect/>
          </a:stretch>
        </p:blipFill>
        <p:spPr>
          <a:xfrm>
            <a:off x="6105815" y="1986443"/>
            <a:ext cx="397947" cy="397947"/>
          </a:xfrm>
          <a:prstGeom prst="rect">
            <a:avLst/>
          </a:prstGeom>
        </p:spPr>
      </p:pic>
      <p:sp>
        <p:nvSpPr>
          <p:cNvPr id="33" name="Text 27"/>
          <p:cNvSpPr/>
          <p:nvPr/>
        </p:nvSpPr>
        <p:spPr>
          <a:xfrm>
            <a:off x="5637276" y="2624328"/>
            <a:ext cx="1335024" cy="502920"/>
          </a:xfrm>
          <a:prstGeom prst="rect">
            <a:avLst/>
          </a:prstGeom>
          <a:noFill/>
          <a:ln/>
        </p:spPr>
        <p:txBody>
          <a:bodyPr wrap="square" lIns="0" tIns="0" rIns="0" bIns="0" rtlCol="0" anchor="t"/>
          <a:lstStyle/>
          <a:p>
            <a:pPr algn="ctr" indent="0" marL="0">
              <a:lnSpc>
                <a:spcPct val="105000"/>
              </a:lnSpc>
              <a:buNone/>
            </a:pPr>
            <a:r>
              <a:rPr lang="en-US" sz="1150" b="1" dirty="0">
                <a:solidFill>
                  <a:srgbClr val="1B2A4A"/>
                </a:solidFill>
                <a:latin typeface="Calibri" pitchFamily="34" charset="0"/>
                <a:ea typeface="Calibri" pitchFamily="34" charset="-122"/>
                <a:cs typeface="Calibri" pitchFamily="34" charset="-120"/>
              </a:rPr>
              <a:t>Conclusión</a:t>
            </a:r>
            <a:endParaRPr lang="en-US" sz="1150" dirty="0"/>
          </a:p>
        </p:txBody>
      </p:sp>
      <p:sp>
        <p:nvSpPr>
          <p:cNvPr id="34" name="Text 28"/>
          <p:cNvSpPr/>
          <p:nvPr/>
        </p:nvSpPr>
        <p:spPr>
          <a:xfrm>
            <a:off x="5673852" y="3172968"/>
            <a:ext cx="1261872" cy="1188720"/>
          </a:xfrm>
          <a:prstGeom prst="rect">
            <a:avLst/>
          </a:prstGeom>
          <a:noFill/>
          <a:ln/>
        </p:spPr>
        <p:txBody>
          <a:bodyPr wrap="square" lIns="0" tIns="0" rIns="0" bIns="0" rtlCol="0" anchor="t"/>
          <a:lstStyle/>
          <a:p>
            <a:pPr algn="ctr" indent="0" marL="0">
              <a:lnSpc>
                <a:spcPct val="115000"/>
              </a:lnSpc>
              <a:buNone/>
            </a:pPr>
            <a:r>
              <a:rPr lang="en-US" sz="900" dirty="0">
                <a:solidFill>
                  <a:srgbClr val="667186"/>
                </a:solidFill>
                <a:latin typeface="Calibri" pitchFamily="34" charset="0"/>
                <a:ea typeface="Calibri" pitchFamily="34" charset="-122"/>
                <a:cs typeface="Calibri" pitchFamily="34" charset="-120"/>
              </a:rPr>
              <a:t>El sistema produce un diagnóstico o recomendación</a:t>
            </a:r>
            <a:endParaRPr lang="en-US" sz="900" dirty="0"/>
          </a:p>
        </p:txBody>
      </p:sp>
      <p:sp>
        <p:nvSpPr>
          <p:cNvPr id="35" name="Text 29"/>
          <p:cNvSpPr/>
          <p:nvPr/>
        </p:nvSpPr>
        <p:spPr>
          <a:xfrm>
            <a:off x="7045452" y="2308860"/>
            <a:ext cx="205740" cy="274320"/>
          </a:xfrm>
          <a:prstGeom prst="rect">
            <a:avLst/>
          </a:prstGeom>
          <a:noFill/>
          <a:ln/>
        </p:spPr>
        <p:txBody>
          <a:bodyPr wrap="square" lIns="0" tIns="0" rIns="0" bIns="0" rtlCol="0" anchor="ctr"/>
          <a:lstStyle/>
          <a:p>
            <a:pPr algn="ctr" indent="0" marL="0">
              <a:buNone/>
            </a:pPr>
            <a:r>
              <a:rPr lang="en-US" sz="1400" b="1" dirty="0">
                <a:solidFill>
                  <a:srgbClr val="E0A458"/>
                </a:solidFill>
                <a:latin typeface="Arial" pitchFamily="34" charset="0"/>
                <a:ea typeface="Arial" pitchFamily="34" charset="-122"/>
                <a:cs typeface="Arial" pitchFamily="34" charset="-120"/>
              </a:rPr>
              <a:t>→</a:t>
            </a:r>
            <a:endParaRPr lang="en-US" sz="1400" dirty="0"/>
          </a:p>
        </p:txBody>
      </p:sp>
      <p:sp>
        <p:nvSpPr>
          <p:cNvPr id="36" name="Shape 30"/>
          <p:cNvSpPr/>
          <p:nvPr/>
        </p:nvSpPr>
        <p:spPr>
          <a:xfrm>
            <a:off x="7251192" y="1600200"/>
            <a:ext cx="1481328" cy="2331720"/>
          </a:xfrm>
          <a:prstGeom prst="roundRect">
            <a:avLst>
              <a:gd name="adj" fmla="val 4938"/>
            </a:avLst>
          </a:prstGeom>
          <a:solidFill>
            <a:srgbClr val="F1F4F9"/>
          </a:solidFill>
          <a:ln/>
          <a:effectLst>
            <a:outerShdw sx="100000" sy="100000" kx="0" ky="0" algn="bl" rotWithShape="0" blurRad="88900" dist="25400" dir="5400000">
              <a:srgbClr val="1B2A4A">
                <a:alpha val="10000"/>
              </a:srgbClr>
            </a:outerShdw>
          </a:effectLst>
        </p:spPr>
      </p:sp>
      <p:sp>
        <p:nvSpPr>
          <p:cNvPr id="37" name="Shape 31"/>
          <p:cNvSpPr/>
          <p:nvPr/>
        </p:nvSpPr>
        <p:spPr>
          <a:xfrm>
            <a:off x="8366760" y="1463040"/>
            <a:ext cx="384048" cy="384048"/>
          </a:xfrm>
          <a:prstGeom prst="ellipse">
            <a:avLst/>
          </a:prstGeom>
          <a:solidFill>
            <a:srgbClr val="E0A458"/>
          </a:solidFill>
          <a:ln/>
        </p:spPr>
      </p:sp>
      <p:sp>
        <p:nvSpPr>
          <p:cNvPr id="38" name="Text 32"/>
          <p:cNvSpPr/>
          <p:nvPr/>
        </p:nvSpPr>
        <p:spPr>
          <a:xfrm>
            <a:off x="8366760" y="1463040"/>
            <a:ext cx="384048" cy="384048"/>
          </a:xfrm>
          <a:prstGeom prst="rect">
            <a:avLst/>
          </a:prstGeom>
          <a:noFill/>
          <a:ln/>
        </p:spPr>
        <p:txBody>
          <a:bodyPr wrap="square" lIns="0" tIns="0" rIns="0" bIns="0" rtlCol="0" anchor="ctr"/>
          <a:lstStyle/>
          <a:p>
            <a:pPr algn="ctr" indent="0" marL="0">
              <a:buNone/>
            </a:pPr>
            <a:r>
              <a:rPr lang="en-US" sz="1300" b="1" dirty="0">
                <a:solidFill>
                  <a:srgbClr val="1B2A4A"/>
                </a:solidFill>
                <a:latin typeface="Calibri" pitchFamily="34" charset="0"/>
                <a:ea typeface="Calibri" pitchFamily="34" charset="-122"/>
                <a:cs typeface="Calibri" pitchFamily="34" charset="-120"/>
              </a:rPr>
              <a:t>5</a:t>
            </a:r>
            <a:endParaRPr lang="en-US" sz="1300" dirty="0"/>
          </a:p>
        </p:txBody>
      </p:sp>
      <p:sp>
        <p:nvSpPr>
          <p:cNvPr id="39" name="Shape 33"/>
          <p:cNvSpPr/>
          <p:nvPr/>
        </p:nvSpPr>
        <p:spPr>
          <a:xfrm>
            <a:off x="7699248" y="1892808"/>
            <a:ext cx="585216" cy="585216"/>
          </a:xfrm>
          <a:prstGeom prst="ellipse">
            <a:avLst/>
          </a:prstGeom>
          <a:solidFill>
            <a:srgbClr val="3D5A80"/>
          </a:solidFill>
          <a:ln/>
        </p:spPr>
      </p:sp>
      <p:pic>
        <p:nvPicPr>
          <p:cNvPr id="40" name="Image 4" descr="preencoded.png">    </p:cNvPr>
          <p:cNvPicPr>
            <a:picLocks noChangeAspect="1"/>
          </p:cNvPicPr>
          <p:nvPr/>
        </p:nvPicPr>
        <p:blipFill>
          <a:blip r:embed="rId5"/>
          <a:stretch>
            <a:fillRect/>
          </a:stretch>
        </p:blipFill>
        <p:spPr>
          <a:xfrm>
            <a:off x="7792883" y="1986443"/>
            <a:ext cx="397947" cy="397947"/>
          </a:xfrm>
          <a:prstGeom prst="rect">
            <a:avLst/>
          </a:prstGeom>
        </p:spPr>
      </p:pic>
      <p:sp>
        <p:nvSpPr>
          <p:cNvPr id="41" name="Text 34"/>
          <p:cNvSpPr/>
          <p:nvPr/>
        </p:nvSpPr>
        <p:spPr>
          <a:xfrm>
            <a:off x="7324344" y="2624328"/>
            <a:ext cx="1335024" cy="502920"/>
          </a:xfrm>
          <a:prstGeom prst="rect">
            <a:avLst/>
          </a:prstGeom>
          <a:noFill/>
          <a:ln/>
        </p:spPr>
        <p:txBody>
          <a:bodyPr wrap="square" lIns="0" tIns="0" rIns="0" bIns="0" rtlCol="0" anchor="t"/>
          <a:lstStyle/>
          <a:p>
            <a:pPr algn="ctr" indent="0" marL="0">
              <a:lnSpc>
                <a:spcPct val="105000"/>
              </a:lnSpc>
              <a:buNone/>
            </a:pPr>
            <a:r>
              <a:rPr lang="en-US" sz="1150" b="1" dirty="0">
                <a:solidFill>
                  <a:srgbClr val="1B2A4A"/>
                </a:solidFill>
                <a:latin typeface="Calibri" pitchFamily="34" charset="0"/>
                <a:ea typeface="Calibri" pitchFamily="34" charset="-122"/>
                <a:cs typeface="Calibri" pitchFamily="34" charset="-120"/>
              </a:rPr>
              <a:t>Explicación</a:t>
            </a:r>
            <a:endParaRPr lang="en-US" sz="1150" dirty="0"/>
          </a:p>
        </p:txBody>
      </p:sp>
      <p:sp>
        <p:nvSpPr>
          <p:cNvPr id="42" name="Text 35"/>
          <p:cNvSpPr/>
          <p:nvPr/>
        </p:nvSpPr>
        <p:spPr>
          <a:xfrm>
            <a:off x="7360920" y="3172968"/>
            <a:ext cx="1261872" cy="1188720"/>
          </a:xfrm>
          <a:prstGeom prst="rect">
            <a:avLst/>
          </a:prstGeom>
          <a:noFill/>
          <a:ln/>
        </p:spPr>
        <p:txBody>
          <a:bodyPr wrap="square" lIns="0" tIns="0" rIns="0" bIns="0" rtlCol="0" anchor="t"/>
          <a:lstStyle/>
          <a:p>
            <a:pPr algn="ctr" indent="0" marL="0">
              <a:lnSpc>
                <a:spcPct val="115000"/>
              </a:lnSpc>
              <a:buNone/>
            </a:pPr>
            <a:r>
              <a:rPr lang="en-US" sz="900" dirty="0">
                <a:solidFill>
                  <a:srgbClr val="667186"/>
                </a:solidFill>
                <a:latin typeface="Calibri" pitchFamily="34" charset="0"/>
                <a:ea typeface="Calibri" pitchFamily="34" charset="-122"/>
                <a:cs typeface="Calibri" pitchFamily="34" charset="-120"/>
              </a:rPr>
              <a:t>Justifica el razonamiento seguido, si se solicita</a:t>
            </a:r>
            <a:endParaRPr lang="en-US" sz="900" dirty="0"/>
          </a:p>
        </p:txBody>
      </p:sp>
      <p:sp>
        <p:nvSpPr>
          <p:cNvPr id="43" name="Text 36"/>
          <p:cNvSpPr/>
          <p:nvPr/>
        </p:nvSpPr>
        <p:spPr>
          <a:xfrm>
            <a:off x="8366760" y="4864608"/>
            <a:ext cx="457200" cy="228600"/>
          </a:xfrm>
          <a:prstGeom prst="rect">
            <a:avLst/>
          </a:prstGeom>
          <a:noFill/>
          <a:ln/>
        </p:spPr>
        <p:txBody>
          <a:bodyPr wrap="square" lIns="0" tIns="0" rIns="0" bIns="0" rtlCol="0" anchor="ctr"/>
          <a:lstStyle/>
          <a:p>
            <a:pPr algn="r" indent="0" marL="0">
              <a:buNone/>
            </a:pPr>
            <a:r>
              <a:rPr lang="en-US" sz="900" dirty="0">
                <a:solidFill>
                  <a:srgbClr val="667186"/>
                </a:solidFill>
                <a:latin typeface="Calibri" pitchFamily="34" charset="0"/>
                <a:ea typeface="Calibri" pitchFamily="34" charset="-122"/>
                <a:cs typeface="Calibri" pitchFamily="34" charset="-120"/>
              </a:rPr>
              <a:t>09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7772400" cy="274320"/>
          </a:xfrm>
          <a:prstGeom prst="rect">
            <a:avLst/>
          </a:prstGeom>
          <a:noFill/>
          <a:ln/>
        </p:spPr>
        <p:txBody>
          <a:bodyPr wrap="square" lIns="0" tIns="0" rIns="0" bIns="0" rtlCol="0" anchor="ctr"/>
          <a:lstStyle/>
          <a:p>
            <a:pPr indent="0" marL="0">
              <a:buNone/>
            </a:pPr>
            <a:r>
              <a:rPr lang="en-US" sz="1200" b="1" spc="200" kern="0" dirty="0">
                <a:solidFill>
                  <a:srgbClr val="E0A458"/>
                </a:solidFill>
                <a:latin typeface="Calibri" pitchFamily="34" charset="0"/>
                <a:ea typeface="Calibri" pitchFamily="34" charset="-122"/>
                <a:cs typeface="Calibri" pitchFamily="34" charset="-120"/>
              </a:rPr>
              <a:t>07 · CLASIFICACIÓN</a:t>
            </a:r>
            <a:endParaRPr lang="en-US" sz="1200" dirty="0"/>
          </a:p>
        </p:txBody>
      </p:sp>
      <p:sp>
        <p:nvSpPr>
          <p:cNvPr id="3" name="Text 1"/>
          <p:cNvSpPr/>
          <p:nvPr/>
        </p:nvSpPr>
        <p:spPr>
          <a:xfrm>
            <a:off x="502920" y="566928"/>
            <a:ext cx="8138160" cy="658368"/>
          </a:xfrm>
          <a:prstGeom prst="rect">
            <a:avLst/>
          </a:prstGeom>
          <a:noFill/>
          <a:ln/>
        </p:spPr>
        <p:txBody>
          <a:bodyPr wrap="square" lIns="0" tIns="0" rIns="0" bIns="0" rtlCol="0" anchor="ctr"/>
          <a:lstStyle/>
          <a:p>
            <a:pPr indent="0" marL="0">
              <a:buNone/>
            </a:pPr>
            <a:r>
              <a:rPr lang="en-US" sz="2900" b="1" dirty="0">
                <a:solidFill>
                  <a:srgbClr val="1B2A4A"/>
                </a:solidFill>
                <a:latin typeface="Cambria" pitchFamily="34" charset="0"/>
                <a:ea typeface="Cambria" pitchFamily="34" charset="-122"/>
                <a:cs typeface="Cambria" pitchFamily="34" charset="-120"/>
              </a:rPr>
              <a:t>Tipos de Sistemas Expertos</a:t>
            </a:r>
            <a:endParaRPr lang="en-US" sz="2900" dirty="0"/>
          </a:p>
        </p:txBody>
      </p:sp>
      <p:sp>
        <p:nvSpPr>
          <p:cNvPr id="4" name="Shape 2"/>
          <p:cNvSpPr/>
          <p:nvPr/>
        </p:nvSpPr>
        <p:spPr>
          <a:xfrm>
            <a:off x="502920" y="1481328"/>
            <a:ext cx="3931920" cy="1481328"/>
          </a:xfrm>
          <a:prstGeom prst="roundRect">
            <a:avLst>
              <a:gd name="adj" fmla="val 4938"/>
            </a:avLst>
          </a:prstGeom>
          <a:solidFill>
            <a:srgbClr val="F1F4F9"/>
          </a:solidFill>
          <a:ln/>
          <a:effectLst>
            <a:outerShdw sx="100000" sy="100000" kx="0" ky="0" algn="bl" rotWithShape="0" blurRad="88900" dist="25400" dir="5400000">
              <a:srgbClr val="1B2A4A">
                <a:alpha val="10000"/>
              </a:srgbClr>
            </a:outerShdw>
          </a:effectLst>
        </p:spPr>
      </p:sp>
      <p:sp>
        <p:nvSpPr>
          <p:cNvPr id="5" name="Shape 3"/>
          <p:cNvSpPr/>
          <p:nvPr/>
        </p:nvSpPr>
        <p:spPr>
          <a:xfrm>
            <a:off x="704088" y="1938528"/>
            <a:ext cx="566928" cy="566928"/>
          </a:xfrm>
          <a:prstGeom prst="ellipse">
            <a:avLst/>
          </a:prstGeom>
          <a:solidFill>
            <a:srgbClr val="E0A458"/>
          </a:solidFill>
          <a:ln/>
        </p:spPr>
      </p:sp>
      <p:pic>
        <p:nvPicPr>
          <p:cNvPr id="6" name="Image 0" descr="preencoded.png">    </p:cNvPr>
          <p:cNvPicPr>
            <a:picLocks noChangeAspect="1"/>
          </p:cNvPicPr>
          <p:nvPr/>
        </p:nvPicPr>
        <p:blipFill>
          <a:blip r:embed="rId1"/>
          <a:stretch>
            <a:fillRect/>
          </a:stretch>
        </p:blipFill>
        <p:spPr>
          <a:xfrm>
            <a:off x="794796" y="2029236"/>
            <a:ext cx="385511" cy="385511"/>
          </a:xfrm>
          <a:prstGeom prst="rect">
            <a:avLst/>
          </a:prstGeom>
        </p:spPr>
      </p:pic>
      <p:sp>
        <p:nvSpPr>
          <p:cNvPr id="7" name="Text 4"/>
          <p:cNvSpPr/>
          <p:nvPr/>
        </p:nvSpPr>
        <p:spPr>
          <a:xfrm>
            <a:off x="1417320" y="1645920"/>
            <a:ext cx="2834640" cy="292608"/>
          </a:xfrm>
          <a:prstGeom prst="rect">
            <a:avLst/>
          </a:prstGeom>
          <a:noFill/>
          <a:ln/>
        </p:spPr>
        <p:txBody>
          <a:bodyPr wrap="square" lIns="0" tIns="0" rIns="0" bIns="0" rtlCol="0" anchor="t"/>
          <a:lstStyle/>
          <a:p>
            <a:pPr algn="l" indent="0" marL="0">
              <a:buNone/>
            </a:pPr>
            <a:r>
              <a:rPr lang="en-US" sz="1350" b="1" dirty="0">
                <a:solidFill>
                  <a:srgbClr val="1B2A4A"/>
                </a:solidFill>
                <a:latin typeface="Calibri" pitchFamily="34" charset="0"/>
                <a:ea typeface="Calibri" pitchFamily="34" charset="-122"/>
                <a:cs typeface="Calibri" pitchFamily="34" charset="-120"/>
              </a:rPr>
              <a:t>Basados en reglas</a:t>
            </a:r>
            <a:endParaRPr lang="en-US" sz="1350" dirty="0"/>
          </a:p>
        </p:txBody>
      </p:sp>
      <p:sp>
        <p:nvSpPr>
          <p:cNvPr id="8" name="Text 5"/>
          <p:cNvSpPr/>
          <p:nvPr/>
        </p:nvSpPr>
        <p:spPr>
          <a:xfrm>
            <a:off x="1417320" y="1984248"/>
            <a:ext cx="2834640" cy="868680"/>
          </a:xfrm>
          <a:prstGeom prst="rect">
            <a:avLst/>
          </a:prstGeom>
          <a:noFill/>
          <a:ln/>
        </p:spPr>
        <p:txBody>
          <a:bodyPr wrap="square" lIns="0" tIns="0" rIns="0" bIns="0" rtlCol="0" anchor="t"/>
          <a:lstStyle/>
          <a:p>
            <a:pPr algn="l" indent="0" marL="0">
              <a:lnSpc>
                <a:spcPct val="112000"/>
              </a:lnSpc>
              <a:buNone/>
            </a:pPr>
            <a:r>
              <a:rPr lang="en-US" sz="1050" dirty="0">
                <a:solidFill>
                  <a:srgbClr val="33415C"/>
                </a:solidFill>
                <a:latin typeface="Calibri" pitchFamily="34" charset="0"/>
                <a:ea typeface="Calibri" pitchFamily="34" charset="-122"/>
                <a:cs typeface="Calibri" pitchFamily="34" charset="-120"/>
              </a:rPr>
              <a:t>Usan reglas SI-ENTONCES. El enfoque más común; lo veremos a detalle a continuación.</a:t>
            </a:r>
            <a:endParaRPr lang="en-US" sz="1050" dirty="0"/>
          </a:p>
        </p:txBody>
      </p:sp>
      <p:sp>
        <p:nvSpPr>
          <p:cNvPr id="9" name="Shape 6"/>
          <p:cNvSpPr/>
          <p:nvPr/>
        </p:nvSpPr>
        <p:spPr>
          <a:xfrm>
            <a:off x="4709160" y="1481328"/>
            <a:ext cx="3931920" cy="1481328"/>
          </a:xfrm>
          <a:prstGeom prst="roundRect">
            <a:avLst>
              <a:gd name="adj" fmla="val 4938"/>
            </a:avLst>
          </a:prstGeom>
          <a:solidFill>
            <a:srgbClr val="F1F4F9"/>
          </a:solidFill>
          <a:ln/>
          <a:effectLst>
            <a:outerShdw sx="100000" sy="100000" kx="0" ky="0" algn="bl" rotWithShape="0" blurRad="88900" dist="25400" dir="5400000">
              <a:srgbClr val="1B2A4A">
                <a:alpha val="10000"/>
              </a:srgbClr>
            </a:outerShdw>
          </a:effectLst>
        </p:spPr>
      </p:sp>
      <p:sp>
        <p:nvSpPr>
          <p:cNvPr id="10" name="Shape 7"/>
          <p:cNvSpPr/>
          <p:nvPr/>
        </p:nvSpPr>
        <p:spPr>
          <a:xfrm>
            <a:off x="4910328" y="1938528"/>
            <a:ext cx="566928" cy="566928"/>
          </a:xfrm>
          <a:prstGeom prst="ellipse">
            <a:avLst/>
          </a:prstGeom>
          <a:solidFill>
            <a:srgbClr val="3D5A80"/>
          </a:solidFill>
          <a:ln/>
        </p:spPr>
      </p:sp>
      <p:pic>
        <p:nvPicPr>
          <p:cNvPr id="11" name="Image 1" descr="preencoded.png">    </p:cNvPr>
          <p:cNvPicPr>
            <a:picLocks noChangeAspect="1"/>
          </p:cNvPicPr>
          <p:nvPr/>
        </p:nvPicPr>
        <p:blipFill>
          <a:blip r:embed="rId2"/>
          <a:stretch>
            <a:fillRect/>
          </a:stretch>
        </p:blipFill>
        <p:spPr>
          <a:xfrm>
            <a:off x="5001036" y="2029236"/>
            <a:ext cx="385511" cy="385511"/>
          </a:xfrm>
          <a:prstGeom prst="rect">
            <a:avLst/>
          </a:prstGeom>
        </p:spPr>
      </p:pic>
      <p:sp>
        <p:nvSpPr>
          <p:cNvPr id="12" name="Text 8"/>
          <p:cNvSpPr/>
          <p:nvPr/>
        </p:nvSpPr>
        <p:spPr>
          <a:xfrm>
            <a:off x="5623560" y="1645920"/>
            <a:ext cx="2834640" cy="292608"/>
          </a:xfrm>
          <a:prstGeom prst="rect">
            <a:avLst/>
          </a:prstGeom>
          <a:noFill/>
          <a:ln/>
        </p:spPr>
        <p:txBody>
          <a:bodyPr wrap="square" lIns="0" tIns="0" rIns="0" bIns="0" rtlCol="0" anchor="t"/>
          <a:lstStyle/>
          <a:p>
            <a:pPr algn="l" indent="0" marL="0">
              <a:buNone/>
            </a:pPr>
            <a:r>
              <a:rPr lang="en-US" sz="1350" b="1" dirty="0">
                <a:solidFill>
                  <a:srgbClr val="1B2A4A"/>
                </a:solidFill>
                <a:latin typeface="Calibri" pitchFamily="34" charset="0"/>
                <a:ea typeface="Calibri" pitchFamily="34" charset="-122"/>
                <a:cs typeface="Calibri" pitchFamily="34" charset="-120"/>
              </a:rPr>
              <a:t>Basados en casos (CBR)</a:t>
            </a:r>
            <a:endParaRPr lang="en-US" sz="1350" dirty="0"/>
          </a:p>
        </p:txBody>
      </p:sp>
      <p:sp>
        <p:nvSpPr>
          <p:cNvPr id="13" name="Text 9"/>
          <p:cNvSpPr/>
          <p:nvPr/>
        </p:nvSpPr>
        <p:spPr>
          <a:xfrm>
            <a:off x="5623560" y="1984248"/>
            <a:ext cx="2834640" cy="868680"/>
          </a:xfrm>
          <a:prstGeom prst="rect">
            <a:avLst/>
          </a:prstGeom>
          <a:noFill/>
          <a:ln/>
        </p:spPr>
        <p:txBody>
          <a:bodyPr wrap="square" lIns="0" tIns="0" rIns="0" bIns="0" rtlCol="0" anchor="t"/>
          <a:lstStyle/>
          <a:p>
            <a:pPr algn="l" indent="0" marL="0">
              <a:lnSpc>
                <a:spcPct val="112000"/>
              </a:lnSpc>
              <a:buNone/>
            </a:pPr>
            <a:r>
              <a:rPr lang="en-US" sz="1050" dirty="0">
                <a:solidFill>
                  <a:srgbClr val="33415C"/>
                </a:solidFill>
                <a:latin typeface="Calibri" pitchFamily="34" charset="0"/>
                <a:ea typeface="Calibri" pitchFamily="34" charset="-122"/>
                <a:cs typeface="Calibri" pitchFamily="34" charset="-120"/>
              </a:rPr>
              <a:t>Resuelven problemas nuevos comparándolos con casos previos ya resueltos.</a:t>
            </a:r>
            <a:endParaRPr lang="en-US" sz="1050" dirty="0"/>
          </a:p>
        </p:txBody>
      </p:sp>
      <p:sp>
        <p:nvSpPr>
          <p:cNvPr id="14" name="Shape 10"/>
          <p:cNvSpPr/>
          <p:nvPr/>
        </p:nvSpPr>
        <p:spPr>
          <a:xfrm>
            <a:off x="502920" y="3218688"/>
            <a:ext cx="3931920" cy="1481328"/>
          </a:xfrm>
          <a:prstGeom prst="roundRect">
            <a:avLst>
              <a:gd name="adj" fmla="val 4938"/>
            </a:avLst>
          </a:prstGeom>
          <a:solidFill>
            <a:srgbClr val="F1F4F9"/>
          </a:solidFill>
          <a:ln/>
          <a:effectLst>
            <a:outerShdw sx="100000" sy="100000" kx="0" ky="0" algn="bl" rotWithShape="0" blurRad="88900" dist="25400" dir="5400000">
              <a:srgbClr val="1B2A4A">
                <a:alpha val="10000"/>
              </a:srgbClr>
            </a:outerShdw>
          </a:effectLst>
        </p:spPr>
      </p:sp>
      <p:sp>
        <p:nvSpPr>
          <p:cNvPr id="15" name="Shape 11"/>
          <p:cNvSpPr/>
          <p:nvPr/>
        </p:nvSpPr>
        <p:spPr>
          <a:xfrm>
            <a:off x="704088" y="3675888"/>
            <a:ext cx="566928" cy="566928"/>
          </a:xfrm>
          <a:prstGeom prst="ellipse">
            <a:avLst/>
          </a:prstGeom>
          <a:solidFill>
            <a:srgbClr val="3D5A80"/>
          </a:solidFill>
          <a:ln/>
        </p:spPr>
      </p:sp>
      <p:pic>
        <p:nvPicPr>
          <p:cNvPr id="16" name="Image 2" descr="preencoded.png">    </p:cNvPr>
          <p:cNvPicPr>
            <a:picLocks noChangeAspect="1"/>
          </p:cNvPicPr>
          <p:nvPr/>
        </p:nvPicPr>
        <p:blipFill>
          <a:blip r:embed="rId3"/>
          <a:stretch>
            <a:fillRect/>
          </a:stretch>
        </p:blipFill>
        <p:spPr>
          <a:xfrm>
            <a:off x="794796" y="3766596"/>
            <a:ext cx="385511" cy="385511"/>
          </a:xfrm>
          <a:prstGeom prst="rect">
            <a:avLst/>
          </a:prstGeom>
        </p:spPr>
      </p:pic>
      <p:sp>
        <p:nvSpPr>
          <p:cNvPr id="17" name="Text 12"/>
          <p:cNvSpPr/>
          <p:nvPr/>
        </p:nvSpPr>
        <p:spPr>
          <a:xfrm>
            <a:off x="1417320" y="3383280"/>
            <a:ext cx="2834640" cy="292608"/>
          </a:xfrm>
          <a:prstGeom prst="rect">
            <a:avLst/>
          </a:prstGeom>
          <a:noFill/>
          <a:ln/>
        </p:spPr>
        <p:txBody>
          <a:bodyPr wrap="square" lIns="0" tIns="0" rIns="0" bIns="0" rtlCol="0" anchor="t"/>
          <a:lstStyle/>
          <a:p>
            <a:pPr algn="l" indent="0" marL="0">
              <a:buNone/>
            </a:pPr>
            <a:r>
              <a:rPr lang="en-US" sz="1350" b="1" dirty="0">
                <a:solidFill>
                  <a:srgbClr val="1B2A4A"/>
                </a:solidFill>
                <a:latin typeface="Calibri" pitchFamily="34" charset="0"/>
                <a:ea typeface="Calibri" pitchFamily="34" charset="-122"/>
                <a:cs typeface="Calibri" pitchFamily="34" charset="-120"/>
              </a:rPr>
              <a:t>De lógica difusa</a:t>
            </a:r>
            <a:endParaRPr lang="en-US" sz="1350" dirty="0"/>
          </a:p>
        </p:txBody>
      </p:sp>
      <p:sp>
        <p:nvSpPr>
          <p:cNvPr id="18" name="Text 13"/>
          <p:cNvSpPr/>
          <p:nvPr/>
        </p:nvSpPr>
        <p:spPr>
          <a:xfrm>
            <a:off x="1417320" y="3721608"/>
            <a:ext cx="2834640" cy="868680"/>
          </a:xfrm>
          <a:prstGeom prst="rect">
            <a:avLst/>
          </a:prstGeom>
          <a:noFill/>
          <a:ln/>
        </p:spPr>
        <p:txBody>
          <a:bodyPr wrap="square" lIns="0" tIns="0" rIns="0" bIns="0" rtlCol="0" anchor="t"/>
          <a:lstStyle/>
          <a:p>
            <a:pPr algn="l" indent="0" marL="0">
              <a:lnSpc>
                <a:spcPct val="112000"/>
              </a:lnSpc>
              <a:buNone/>
            </a:pPr>
            <a:r>
              <a:rPr lang="en-US" sz="1050" dirty="0">
                <a:solidFill>
                  <a:srgbClr val="33415C"/>
                </a:solidFill>
                <a:latin typeface="Calibri" pitchFamily="34" charset="0"/>
                <a:ea typeface="Calibri" pitchFamily="34" charset="-122"/>
                <a:cs typeface="Calibri" pitchFamily="34" charset="-120"/>
              </a:rPr>
              <a:t>Manejan incertidumbre y términos imprecisos como “alto” o “poco”.</a:t>
            </a:r>
            <a:endParaRPr lang="en-US" sz="1050" dirty="0"/>
          </a:p>
        </p:txBody>
      </p:sp>
      <p:sp>
        <p:nvSpPr>
          <p:cNvPr id="19" name="Shape 14"/>
          <p:cNvSpPr/>
          <p:nvPr/>
        </p:nvSpPr>
        <p:spPr>
          <a:xfrm>
            <a:off x="4709160" y="3218688"/>
            <a:ext cx="3931920" cy="1481328"/>
          </a:xfrm>
          <a:prstGeom prst="roundRect">
            <a:avLst>
              <a:gd name="adj" fmla="val 4938"/>
            </a:avLst>
          </a:prstGeom>
          <a:solidFill>
            <a:srgbClr val="F1F4F9"/>
          </a:solidFill>
          <a:ln/>
          <a:effectLst>
            <a:outerShdw sx="100000" sy="100000" kx="0" ky="0" algn="bl" rotWithShape="0" blurRad="88900" dist="25400" dir="5400000">
              <a:srgbClr val="1B2A4A">
                <a:alpha val="10000"/>
              </a:srgbClr>
            </a:outerShdw>
          </a:effectLst>
        </p:spPr>
      </p:sp>
      <p:sp>
        <p:nvSpPr>
          <p:cNvPr id="20" name="Shape 15"/>
          <p:cNvSpPr/>
          <p:nvPr/>
        </p:nvSpPr>
        <p:spPr>
          <a:xfrm>
            <a:off x="4910328" y="3675888"/>
            <a:ext cx="566928" cy="566928"/>
          </a:xfrm>
          <a:prstGeom prst="ellipse">
            <a:avLst/>
          </a:prstGeom>
          <a:solidFill>
            <a:srgbClr val="3D5A80"/>
          </a:solidFill>
          <a:ln/>
        </p:spPr>
      </p:sp>
      <p:pic>
        <p:nvPicPr>
          <p:cNvPr id="21" name="Image 3" descr="preencoded.png">    </p:cNvPr>
          <p:cNvPicPr>
            <a:picLocks noChangeAspect="1"/>
          </p:cNvPicPr>
          <p:nvPr/>
        </p:nvPicPr>
        <p:blipFill>
          <a:blip r:embed="rId4"/>
          <a:stretch>
            <a:fillRect/>
          </a:stretch>
        </p:blipFill>
        <p:spPr>
          <a:xfrm>
            <a:off x="5001036" y="3766596"/>
            <a:ext cx="385511" cy="385511"/>
          </a:xfrm>
          <a:prstGeom prst="rect">
            <a:avLst/>
          </a:prstGeom>
        </p:spPr>
      </p:pic>
      <p:sp>
        <p:nvSpPr>
          <p:cNvPr id="22" name="Text 16"/>
          <p:cNvSpPr/>
          <p:nvPr/>
        </p:nvSpPr>
        <p:spPr>
          <a:xfrm>
            <a:off x="5623560" y="3383280"/>
            <a:ext cx="2834640" cy="292608"/>
          </a:xfrm>
          <a:prstGeom prst="rect">
            <a:avLst/>
          </a:prstGeom>
          <a:noFill/>
          <a:ln/>
        </p:spPr>
        <p:txBody>
          <a:bodyPr wrap="square" lIns="0" tIns="0" rIns="0" bIns="0" rtlCol="0" anchor="t"/>
          <a:lstStyle/>
          <a:p>
            <a:pPr algn="l" indent="0" marL="0">
              <a:buNone/>
            </a:pPr>
            <a:r>
              <a:rPr lang="en-US" sz="1350" b="1" dirty="0">
                <a:solidFill>
                  <a:srgbClr val="1B2A4A"/>
                </a:solidFill>
                <a:latin typeface="Calibri" pitchFamily="34" charset="0"/>
                <a:ea typeface="Calibri" pitchFamily="34" charset="-122"/>
                <a:cs typeface="Calibri" pitchFamily="34" charset="-120"/>
              </a:rPr>
              <a:t>Híbridos</a:t>
            </a:r>
            <a:endParaRPr lang="en-US" sz="1350" dirty="0"/>
          </a:p>
        </p:txBody>
      </p:sp>
      <p:sp>
        <p:nvSpPr>
          <p:cNvPr id="23" name="Text 17"/>
          <p:cNvSpPr/>
          <p:nvPr/>
        </p:nvSpPr>
        <p:spPr>
          <a:xfrm>
            <a:off x="5623560" y="3721608"/>
            <a:ext cx="2834640" cy="868680"/>
          </a:xfrm>
          <a:prstGeom prst="rect">
            <a:avLst/>
          </a:prstGeom>
          <a:noFill/>
          <a:ln/>
        </p:spPr>
        <p:txBody>
          <a:bodyPr wrap="square" lIns="0" tIns="0" rIns="0" bIns="0" rtlCol="0" anchor="t"/>
          <a:lstStyle/>
          <a:p>
            <a:pPr algn="l" indent="0" marL="0">
              <a:lnSpc>
                <a:spcPct val="112000"/>
              </a:lnSpc>
              <a:buNone/>
            </a:pPr>
            <a:r>
              <a:rPr lang="en-US" sz="1050" dirty="0">
                <a:solidFill>
                  <a:srgbClr val="33415C"/>
                </a:solidFill>
                <a:latin typeface="Calibri" pitchFamily="34" charset="0"/>
                <a:ea typeface="Calibri" pitchFamily="34" charset="-122"/>
                <a:cs typeface="Calibri" pitchFamily="34" charset="-120"/>
              </a:rPr>
              <a:t>Combinan reglas con redes neuronales o algoritmos de aprendizaje automático.</a:t>
            </a:r>
            <a:endParaRPr lang="en-US" sz="1050" dirty="0"/>
          </a:p>
        </p:txBody>
      </p:sp>
      <p:sp>
        <p:nvSpPr>
          <p:cNvPr id="24" name="Text 18"/>
          <p:cNvSpPr/>
          <p:nvPr/>
        </p:nvSpPr>
        <p:spPr>
          <a:xfrm>
            <a:off x="8366760" y="4864608"/>
            <a:ext cx="457200" cy="228600"/>
          </a:xfrm>
          <a:prstGeom prst="rect">
            <a:avLst/>
          </a:prstGeom>
          <a:noFill/>
          <a:ln/>
        </p:spPr>
        <p:txBody>
          <a:bodyPr wrap="square" lIns="0" tIns="0" rIns="0" bIns="0" rtlCol="0" anchor="ctr"/>
          <a:lstStyle/>
          <a:p>
            <a:pPr algn="r" indent="0" marL="0">
              <a:buNone/>
            </a:pPr>
            <a:r>
              <a:rPr lang="en-US" sz="900" dirty="0">
                <a:solidFill>
                  <a:srgbClr val="667186"/>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7772400" cy="274320"/>
          </a:xfrm>
          <a:prstGeom prst="rect">
            <a:avLst/>
          </a:prstGeom>
          <a:noFill/>
          <a:ln/>
        </p:spPr>
        <p:txBody>
          <a:bodyPr wrap="square" lIns="0" tIns="0" rIns="0" bIns="0" rtlCol="0" anchor="ctr"/>
          <a:lstStyle/>
          <a:p>
            <a:pPr indent="0" marL="0">
              <a:buNone/>
            </a:pPr>
            <a:r>
              <a:rPr lang="en-US" sz="1200" b="1" spc="200" kern="0" dirty="0">
                <a:solidFill>
                  <a:srgbClr val="E0A458"/>
                </a:solidFill>
                <a:latin typeface="Calibri" pitchFamily="34" charset="0"/>
                <a:ea typeface="Calibri" pitchFamily="34" charset="-122"/>
                <a:cs typeface="Calibri" pitchFamily="34" charset="-120"/>
              </a:rPr>
              <a:t>07 · CLASIFICACIÓN</a:t>
            </a:r>
            <a:endParaRPr lang="en-US" sz="1200" dirty="0"/>
          </a:p>
        </p:txBody>
      </p:sp>
      <p:sp>
        <p:nvSpPr>
          <p:cNvPr id="3" name="Text 1"/>
          <p:cNvSpPr/>
          <p:nvPr/>
        </p:nvSpPr>
        <p:spPr>
          <a:xfrm>
            <a:off x="502920" y="566928"/>
            <a:ext cx="8138160" cy="658368"/>
          </a:xfrm>
          <a:prstGeom prst="rect">
            <a:avLst/>
          </a:prstGeom>
          <a:noFill/>
          <a:ln/>
        </p:spPr>
        <p:txBody>
          <a:bodyPr wrap="square" lIns="0" tIns="0" rIns="0" bIns="0" rtlCol="0" anchor="ctr"/>
          <a:lstStyle/>
          <a:p>
            <a:pPr indent="0" marL="0">
              <a:buNone/>
            </a:pPr>
            <a:r>
              <a:rPr lang="en-US" sz="2900" b="1" dirty="0">
                <a:solidFill>
                  <a:srgbClr val="1B2A4A"/>
                </a:solidFill>
                <a:latin typeface="Cambria" pitchFamily="34" charset="0"/>
                <a:ea typeface="Cambria" pitchFamily="34" charset="-122"/>
                <a:cs typeface="Cambria" pitchFamily="34" charset="-120"/>
              </a:rPr>
              <a:t>Sistemas Expertos basados en reglas</a:t>
            </a:r>
            <a:endParaRPr lang="en-US" sz="2900" dirty="0"/>
          </a:p>
        </p:txBody>
      </p:sp>
      <p:sp>
        <p:nvSpPr>
          <p:cNvPr id="4" name="Text 2"/>
          <p:cNvSpPr/>
          <p:nvPr/>
        </p:nvSpPr>
        <p:spPr>
          <a:xfrm>
            <a:off x="502920" y="1444752"/>
            <a:ext cx="4892040" cy="3337560"/>
          </a:xfrm>
          <a:prstGeom prst="rect">
            <a:avLst/>
          </a:prstGeom>
          <a:noFill/>
          <a:ln/>
        </p:spPr>
        <p:txBody>
          <a:bodyPr wrap="square" lIns="0" tIns="0" rIns="0" bIns="0" rtlCol="0" anchor="t"/>
          <a:lstStyle/>
          <a:p>
            <a:pPr marL="228600" indent="-228600">
              <a:lnSpc>
                <a:spcPct val="105000"/>
              </a:lnSpc>
              <a:spcAft>
                <a:spcPts val="1400"/>
              </a:spcAft>
              <a:buSzPct val="100000"/>
              <a:buChar char="•"/>
            </a:pPr>
            <a:r>
              <a:rPr lang="en-US" sz="1350" dirty="0">
                <a:solidFill>
                  <a:srgbClr val="33415C"/>
                </a:solidFill>
                <a:latin typeface="Calibri" pitchFamily="34" charset="0"/>
                <a:ea typeface="Calibri" pitchFamily="34" charset="-122"/>
                <a:cs typeface="Calibri" pitchFamily="34" charset="-120"/>
              </a:rPr>
              <a:t>Representan el conocimiento como reglas de producción: “SI (condición) ENTONCES (conclusión / acción)”</a:t>
            </a:r>
            <a:endParaRPr lang="en-US" sz="1350" dirty="0"/>
          </a:p>
          <a:p>
            <a:pPr marL="228600" indent="-228600">
              <a:lnSpc>
                <a:spcPct val="105000"/>
              </a:lnSpc>
              <a:spcAft>
                <a:spcPts val="1400"/>
              </a:spcAft>
              <a:buSzPct val="100000"/>
              <a:buChar char="•"/>
            </a:pPr>
            <a:r>
              <a:rPr lang="en-US" sz="1350" dirty="0">
                <a:solidFill>
                  <a:srgbClr val="33415C"/>
                </a:solidFill>
                <a:latin typeface="Calibri" pitchFamily="34" charset="0"/>
                <a:ea typeface="Calibri" pitchFamily="34" charset="-122"/>
                <a:cs typeface="Calibri" pitchFamily="34" charset="-120"/>
              </a:rPr>
              <a:t>Es el enfoque más extendido por su simplicidad y facilidad de auditoría regla por regla</a:t>
            </a:r>
            <a:endParaRPr lang="en-US" sz="1350" dirty="0"/>
          </a:p>
          <a:p>
            <a:pPr marL="228600" indent="-228600">
              <a:lnSpc>
                <a:spcPct val="105000"/>
              </a:lnSpc>
              <a:spcAft>
                <a:spcPts val="1400"/>
              </a:spcAft>
              <a:buSzPct val="100000"/>
              <a:buChar char="•"/>
            </a:pPr>
            <a:r>
              <a:rPr lang="en-US" sz="1350" dirty="0">
                <a:solidFill>
                  <a:srgbClr val="33415C"/>
                </a:solidFill>
                <a:latin typeface="Calibri" pitchFamily="34" charset="0"/>
                <a:ea typeface="Calibri" pitchFamily="34" charset="-122"/>
                <a:cs typeface="Calibri" pitchFamily="34" charset="-120"/>
              </a:rPr>
              <a:t>Caso real — MYCIN (Stanford, 1972–1976): ~600 reglas para diagnosticar infecciones bacterianas y sugerir antibióticos</a:t>
            </a:r>
            <a:endParaRPr lang="en-US" sz="1350" dirty="0"/>
          </a:p>
          <a:p>
            <a:pPr marL="228600" indent="-228600">
              <a:lnSpc>
                <a:spcPct val="105000"/>
              </a:lnSpc>
              <a:spcAft>
                <a:spcPts val="1400"/>
              </a:spcAft>
              <a:buSzPct val="100000"/>
              <a:buChar char="•"/>
            </a:pPr>
            <a:r>
              <a:rPr lang="en-US" sz="1350" dirty="0">
                <a:solidFill>
                  <a:srgbClr val="33415C"/>
                </a:solidFill>
                <a:latin typeface="Calibri" pitchFamily="34" charset="0"/>
                <a:ea typeface="Calibri" pitchFamily="34" charset="-122"/>
                <a:cs typeface="Calibri" pitchFamily="34" charset="-120"/>
              </a:rPr>
              <a:t>Limitación conocida: el número de reglas crece rápido y puede generar conflictos o redundancias</a:t>
            </a:r>
            <a:endParaRPr lang="en-US" sz="1350" dirty="0"/>
          </a:p>
        </p:txBody>
      </p:sp>
      <p:sp>
        <p:nvSpPr>
          <p:cNvPr id="5" name="Shape 3"/>
          <p:cNvSpPr/>
          <p:nvPr/>
        </p:nvSpPr>
        <p:spPr>
          <a:xfrm>
            <a:off x="5623560" y="1444752"/>
            <a:ext cx="3017520" cy="3337560"/>
          </a:xfrm>
          <a:prstGeom prst="roundRect">
            <a:avLst>
              <a:gd name="adj" fmla="val 2424"/>
            </a:avLst>
          </a:prstGeom>
          <a:solidFill>
            <a:srgbClr val="1B2A4A"/>
          </a:solidFill>
          <a:ln/>
        </p:spPr>
      </p:sp>
      <p:sp>
        <p:nvSpPr>
          <p:cNvPr id="6" name="Shape 4"/>
          <p:cNvSpPr/>
          <p:nvPr/>
        </p:nvSpPr>
        <p:spPr>
          <a:xfrm>
            <a:off x="5852160" y="1673352"/>
            <a:ext cx="502920" cy="502920"/>
          </a:xfrm>
          <a:prstGeom prst="ellipse">
            <a:avLst/>
          </a:prstGeom>
          <a:solidFill>
            <a:srgbClr val="E0A458"/>
          </a:solidFill>
          <a:ln/>
        </p:spPr>
      </p:sp>
      <p:pic>
        <p:nvPicPr>
          <p:cNvPr id="7" name="Image 0" descr="preencoded.png">    </p:cNvPr>
          <p:cNvPicPr>
            <a:picLocks noChangeAspect="1"/>
          </p:cNvPicPr>
          <p:nvPr/>
        </p:nvPicPr>
        <p:blipFill>
          <a:blip r:embed="rId1"/>
          <a:stretch>
            <a:fillRect/>
          </a:stretch>
        </p:blipFill>
        <p:spPr>
          <a:xfrm>
            <a:off x="5932627" y="1753819"/>
            <a:ext cx="341986" cy="341986"/>
          </a:xfrm>
          <a:prstGeom prst="rect">
            <a:avLst/>
          </a:prstGeom>
        </p:spPr>
      </p:pic>
      <p:sp>
        <p:nvSpPr>
          <p:cNvPr id="8" name="Text 5"/>
          <p:cNvSpPr/>
          <p:nvPr/>
        </p:nvSpPr>
        <p:spPr>
          <a:xfrm>
            <a:off x="6492240" y="1673352"/>
            <a:ext cx="2011680" cy="274320"/>
          </a:xfrm>
          <a:prstGeom prst="rect">
            <a:avLst/>
          </a:prstGeom>
          <a:noFill/>
          <a:ln/>
        </p:spPr>
        <p:txBody>
          <a:bodyPr wrap="square" lIns="0" tIns="0" rIns="0" bIns="0" rtlCol="0" anchor="t"/>
          <a:lstStyle/>
          <a:p>
            <a:pPr algn="l" indent="0" marL="0">
              <a:buNone/>
            </a:pPr>
            <a:r>
              <a:rPr lang="en-US" sz="1500" b="1" dirty="0">
                <a:solidFill>
                  <a:srgbClr val="FFFFFF"/>
                </a:solidFill>
                <a:latin typeface="Cambria" pitchFamily="34" charset="0"/>
                <a:ea typeface="Cambria" pitchFamily="34" charset="-122"/>
                <a:cs typeface="Cambria" pitchFamily="34" charset="-120"/>
              </a:rPr>
              <a:t>MYCIN</a:t>
            </a:r>
            <a:endParaRPr lang="en-US" sz="1500" dirty="0"/>
          </a:p>
        </p:txBody>
      </p:sp>
      <p:sp>
        <p:nvSpPr>
          <p:cNvPr id="9" name="Text 6"/>
          <p:cNvSpPr/>
          <p:nvPr/>
        </p:nvSpPr>
        <p:spPr>
          <a:xfrm>
            <a:off x="6492240" y="1965960"/>
            <a:ext cx="2011680" cy="365760"/>
          </a:xfrm>
          <a:prstGeom prst="rect">
            <a:avLst/>
          </a:prstGeom>
          <a:noFill/>
          <a:ln/>
        </p:spPr>
        <p:txBody>
          <a:bodyPr wrap="square" lIns="0" tIns="0" rIns="0" bIns="0" rtlCol="0" anchor="t"/>
          <a:lstStyle/>
          <a:p>
            <a:pPr algn="l" indent="0" marL="0">
              <a:lnSpc>
                <a:spcPct val="105000"/>
              </a:lnSpc>
              <a:buNone/>
            </a:pPr>
            <a:r>
              <a:rPr lang="en-US" sz="950" i="1" dirty="0">
                <a:solidFill>
                  <a:srgbClr val="CADCFC"/>
                </a:solidFill>
                <a:latin typeface="Calibri" pitchFamily="34" charset="0"/>
                <a:ea typeface="Calibri" pitchFamily="34" charset="-122"/>
                <a:cs typeface="Calibri" pitchFamily="34" charset="-120"/>
              </a:rPr>
              <a:t>Diagnóstico de infecciones bacterianas</a:t>
            </a:r>
            <a:endParaRPr lang="en-US" sz="950" dirty="0"/>
          </a:p>
        </p:txBody>
      </p:sp>
      <p:sp>
        <p:nvSpPr>
          <p:cNvPr id="10" name="Shape 7"/>
          <p:cNvSpPr/>
          <p:nvPr/>
        </p:nvSpPr>
        <p:spPr>
          <a:xfrm>
            <a:off x="5852160" y="2496312"/>
            <a:ext cx="2560320" cy="2057400"/>
          </a:xfrm>
          <a:prstGeom prst="roundRect">
            <a:avLst>
              <a:gd name="adj" fmla="val 3556"/>
            </a:avLst>
          </a:prstGeom>
          <a:solidFill>
            <a:srgbClr val="243A63"/>
          </a:solidFill>
          <a:ln/>
        </p:spPr>
      </p:sp>
      <p:sp>
        <p:nvSpPr>
          <p:cNvPr id="11" name="Text 8"/>
          <p:cNvSpPr/>
          <p:nvPr/>
        </p:nvSpPr>
        <p:spPr>
          <a:xfrm>
            <a:off x="6035040" y="2651760"/>
            <a:ext cx="2194560" cy="228600"/>
          </a:xfrm>
          <a:prstGeom prst="rect">
            <a:avLst/>
          </a:prstGeom>
          <a:noFill/>
          <a:ln/>
        </p:spPr>
        <p:txBody>
          <a:bodyPr wrap="square" lIns="0" tIns="0" rIns="0" bIns="0" rtlCol="0" anchor="t"/>
          <a:lstStyle/>
          <a:p>
            <a:pPr algn="l" indent="0" marL="0">
              <a:buNone/>
            </a:pPr>
            <a:r>
              <a:rPr lang="en-US" sz="850" b="1" spc="150" kern="0" dirty="0">
                <a:solidFill>
                  <a:srgbClr val="E0A458"/>
                </a:solidFill>
                <a:latin typeface="Calibri" pitchFamily="34" charset="0"/>
                <a:ea typeface="Calibri" pitchFamily="34" charset="-122"/>
                <a:cs typeface="Calibri" pitchFamily="34" charset="-120"/>
              </a:rPr>
              <a:t>REGLA DE PRODUCCIÓN</a:t>
            </a:r>
            <a:endParaRPr lang="en-US" sz="850" dirty="0"/>
          </a:p>
        </p:txBody>
      </p:sp>
      <p:sp>
        <p:nvSpPr>
          <p:cNvPr id="12" name="Text 9"/>
          <p:cNvSpPr/>
          <p:nvPr/>
        </p:nvSpPr>
        <p:spPr>
          <a:xfrm>
            <a:off x="6035040" y="2907792"/>
            <a:ext cx="2194560" cy="1554480"/>
          </a:xfrm>
          <a:prstGeom prst="rect">
            <a:avLst/>
          </a:prstGeom>
          <a:noFill/>
          <a:ln/>
        </p:spPr>
        <p:txBody>
          <a:bodyPr wrap="square" lIns="0" tIns="0" rIns="0" bIns="0" rtlCol="0" anchor="t"/>
          <a:lstStyle/>
          <a:p>
            <a:pPr algn="l" indent="0" marL="0">
              <a:lnSpc>
                <a:spcPct val="118000"/>
              </a:lnSpc>
              <a:buNone/>
            </a:pPr>
            <a:r>
              <a:rPr lang="en-US" sz="1000" dirty="0">
                <a:solidFill>
                  <a:srgbClr val="FFFFFF"/>
                </a:solidFill>
                <a:latin typeface="Courier New" pitchFamily="34" charset="0"/>
                <a:ea typeface="Courier New" pitchFamily="34" charset="-122"/>
                <a:cs typeface="Courier New" pitchFamily="34" charset="-120"/>
              </a:rPr>
              <a:t>SI  fiebre &gt; 38 °C</a:t>
            </a:r>
            <a:endParaRPr lang="en-US" sz="1000" dirty="0"/>
          </a:p>
          <a:p>
            <a:pPr algn="l" indent="0" marL="0">
              <a:lnSpc>
                <a:spcPct val="118000"/>
              </a:lnSpc>
              <a:buNone/>
            </a:pPr>
            <a:r>
              <a:rPr lang="en-US" sz="1000" dirty="0">
                <a:solidFill>
                  <a:srgbClr val="FFFFFF"/>
                </a:solidFill>
                <a:latin typeface="Courier New" pitchFamily="34" charset="0"/>
                <a:ea typeface="Courier New" pitchFamily="34" charset="-122"/>
                <a:cs typeface="Courier New" pitchFamily="34" charset="-120"/>
              </a:rPr>
              <a:t>    Y cultivo positivo a</a:t>
            </a:r>
            <a:endParaRPr lang="en-US" sz="1000" dirty="0"/>
          </a:p>
          <a:p>
            <a:pPr algn="l" indent="0" marL="0">
              <a:lnSpc>
                <a:spcPct val="118000"/>
              </a:lnSpc>
              <a:buNone/>
            </a:pPr>
            <a:r>
              <a:rPr lang="en-US" sz="1000" dirty="0">
                <a:solidFill>
                  <a:srgbClr val="FFFFFF"/>
                </a:solidFill>
                <a:latin typeface="Courier New" pitchFamily="34" charset="0"/>
                <a:ea typeface="Courier New" pitchFamily="34" charset="-122"/>
                <a:cs typeface="Courier New" pitchFamily="34" charset="-120"/>
              </a:rPr>
              <a:t>    bacteria gram-negativa</a:t>
            </a:r>
            <a:endParaRPr lang="en-US" sz="1000" dirty="0"/>
          </a:p>
          <a:p>
            <a:pPr algn="l" indent="0" marL="0">
              <a:lnSpc>
                <a:spcPct val="118000"/>
              </a:lnSpc>
              <a:buNone/>
            </a:pPr>
            <a:r>
              <a:rPr lang="en-US" sz="1000" dirty="0">
                <a:solidFill>
                  <a:srgbClr val="FFFFFF"/>
                </a:solidFill>
                <a:latin typeface="Courier New" pitchFamily="34" charset="0"/>
                <a:ea typeface="Courier New" pitchFamily="34" charset="-122"/>
                <a:cs typeface="Courier New" pitchFamily="34" charset="-120"/>
              </a:rPr>
              <a:t>ENTONCES</a:t>
            </a:r>
            <a:endParaRPr lang="en-US" sz="1000" dirty="0"/>
          </a:p>
          <a:p>
            <a:pPr algn="l" indent="0" marL="0">
              <a:lnSpc>
                <a:spcPct val="118000"/>
              </a:lnSpc>
              <a:buNone/>
            </a:pPr>
            <a:r>
              <a:rPr lang="en-US" sz="1000" dirty="0">
                <a:solidFill>
                  <a:srgbClr val="FFFFFF"/>
                </a:solidFill>
                <a:latin typeface="Courier New" pitchFamily="34" charset="0"/>
                <a:ea typeface="Courier New" pitchFamily="34" charset="-122"/>
                <a:cs typeface="Courier New" pitchFamily="34" charset="-120"/>
              </a:rPr>
              <a:t>    recomendar antibiótico</a:t>
            </a:r>
            <a:endParaRPr lang="en-US" sz="1000" dirty="0"/>
          </a:p>
          <a:p>
            <a:pPr algn="l" indent="0" marL="0">
              <a:lnSpc>
                <a:spcPct val="118000"/>
              </a:lnSpc>
              <a:buNone/>
            </a:pPr>
            <a:r>
              <a:rPr lang="en-US" sz="1000" dirty="0">
                <a:solidFill>
                  <a:srgbClr val="FFFFFF"/>
                </a:solidFill>
                <a:latin typeface="Courier New" pitchFamily="34" charset="0"/>
                <a:ea typeface="Courier New" pitchFamily="34" charset="-122"/>
                <a:cs typeface="Courier New" pitchFamily="34" charset="-120"/>
              </a:rPr>
              <a:t>    de amplio espectro</a:t>
            </a:r>
            <a:endParaRPr lang="en-US" sz="1000" dirty="0"/>
          </a:p>
        </p:txBody>
      </p:sp>
      <p:sp>
        <p:nvSpPr>
          <p:cNvPr id="13" name="Text 10"/>
          <p:cNvSpPr/>
          <p:nvPr/>
        </p:nvSpPr>
        <p:spPr>
          <a:xfrm>
            <a:off x="8366760" y="4864608"/>
            <a:ext cx="457200" cy="228600"/>
          </a:xfrm>
          <a:prstGeom prst="rect">
            <a:avLst/>
          </a:prstGeom>
          <a:noFill/>
          <a:ln/>
        </p:spPr>
        <p:txBody>
          <a:bodyPr wrap="square" lIns="0" tIns="0" rIns="0" bIns="0" rtlCol="0" anchor="ctr"/>
          <a:lstStyle/>
          <a:p>
            <a:pPr algn="r" indent="0" marL="0">
              <a:buNone/>
            </a:pPr>
            <a:r>
              <a:rPr lang="en-US" sz="900" dirty="0">
                <a:solidFill>
                  <a:srgbClr val="667186"/>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7772400" cy="274320"/>
          </a:xfrm>
          <a:prstGeom prst="rect">
            <a:avLst/>
          </a:prstGeom>
          <a:noFill/>
          <a:ln/>
        </p:spPr>
        <p:txBody>
          <a:bodyPr wrap="square" lIns="0" tIns="0" rIns="0" bIns="0" rtlCol="0" anchor="ctr"/>
          <a:lstStyle/>
          <a:p>
            <a:pPr indent="0" marL="0">
              <a:buNone/>
            </a:pPr>
            <a:r>
              <a:rPr lang="en-US" sz="1200" b="1" spc="200" kern="0" dirty="0">
                <a:solidFill>
                  <a:srgbClr val="E0A458"/>
                </a:solidFill>
                <a:latin typeface="Calibri" pitchFamily="34" charset="0"/>
                <a:ea typeface="Calibri" pitchFamily="34" charset="-122"/>
                <a:cs typeface="Calibri" pitchFamily="34" charset="-120"/>
              </a:rPr>
              <a:t>08 · ANÁLISIS</a:t>
            </a:r>
            <a:endParaRPr lang="en-US" sz="1200" dirty="0"/>
          </a:p>
        </p:txBody>
      </p:sp>
      <p:sp>
        <p:nvSpPr>
          <p:cNvPr id="3" name="Text 1"/>
          <p:cNvSpPr/>
          <p:nvPr/>
        </p:nvSpPr>
        <p:spPr>
          <a:xfrm>
            <a:off x="502920" y="566928"/>
            <a:ext cx="8138160" cy="658368"/>
          </a:xfrm>
          <a:prstGeom prst="rect">
            <a:avLst/>
          </a:prstGeom>
          <a:noFill/>
          <a:ln/>
        </p:spPr>
        <p:txBody>
          <a:bodyPr wrap="square" lIns="0" tIns="0" rIns="0" bIns="0" rtlCol="0" anchor="ctr"/>
          <a:lstStyle/>
          <a:p>
            <a:pPr indent="0" marL="0">
              <a:buNone/>
            </a:pPr>
            <a:r>
              <a:rPr lang="en-US" sz="2900" b="1" dirty="0">
                <a:solidFill>
                  <a:srgbClr val="1B2A4A"/>
                </a:solidFill>
                <a:latin typeface="Cambria" pitchFamily="34" charset="0"/>
                <a:ea typeface="Cambria" pitchFamily="34" charset="-122"/>
                <a:cs typeface="Cambria" pitchFamily="34" charset="-120"/>
              </a:rPr>
              <a:t>Ventajas y desventajas</a:t>
            </a:r>
            <a:endParaRPr lang="en-US" sz="2900" dirty="0"/>
          </a:p>
        </p:txBody>
      </p:sp>
      <p:sp>
        <p:nvSpPr>
          <p:cNvPr id="4" name="Shape 2"/>
          <p:cNvSpPr/>
          <p:nvPr/>
        </p:nvSpPr>
        <p:spPr>
          <a:xfrm>
            <a:off x="502920" y="1463040"/>
            <a:ext cx="3931920" cy="3337560"/>
          </a:xfrm>
          <a:prstGeom prst="roundRect">
            <a:avLst>
              <a:gd name="adj" fmla="val 2192"/>
            </a:avLst>
          </a:prstGeom>
          <a:solidFill>
            <a:srgbClr val="EAF3EE"/>
          </a:solidFill>
          <a:ln/>
          <a:effectLst>
            <a:outerShdw sx="100000" sy="100000" kx="0" ky="0" algn="bl" rotWithShape="0" blurRad="88900" dist="25400" dir="5400000">
              <a:srgbClr val="1B2A4A">
                <a:alpha val="10000"/>
              </a:srgbClr>
            </a:outerShdw>
          </a:effectLst>
        </p:spPr>
      </p:sp>
      <p:sp>
        <p:nvSpPr>
          <p:cNvPr id="5" name="Shape 3"/>
          <p:cNvSpPr/>
          <p:nvPr/>
        </p:nvSpPr>
        <p:spPr>
          <a:xfrm>
            <a:off x="731520" y="1691640"/>
            <a:ext cx="457200" cy="457200"/>
          </a:xfrm>
          <a:prstGeom prst="ellipse">
            <a:avLst/>
          </a:prstGeom>
          <a:solidFill>
            <a:srgbClr val="2E7D5B"/>
          </a:solidFill>
          <a:ln/>
        </p:spPr>
      </p:sp>
      <p:pic>
        <p:nvPicPr>
          <p:cNvPr id="6" name="Image 0" descr="preencoded.png">    </p:cNvPr>
          <p:cNvPicPr>
            <a:picLocks noChangeAspect="1"/>
          </p:cNvPicPr>
          <p:nvPr/>
        </p:nvPicPr>
        <p:blipFill>
          <a:blip r:embed="rId1"/>
          <a:stretch>
            <a:fillRect/>
          </a:stretch>
        </p:blipFill>
        <p:spPr>
          <a:xfrm>
            <a:off x="804672" y="1764792"/>
            <a:ext cx="310896" cy="310896"/>
          </a:xfrm>
          <a:prstGeom prst="rect">
            <a:avLst/>
          </a:prstGeom>
        </p:spPr>
      </p:pic>
      <p:sp>
        <p:nvSpPr>
          <p:cNvPr id="7" name="Text 4"/>
          <p:cNvSpPr/>
          <p:nvPr/>
        </p:nvSpPr>
        <p:spPr>
          <a:xfrm>
            <a:off x="1325880" y="1691640"/>
            <a:ext cx="2926080" cy="457200"/>
          </a:xfrm>
          <a:prstGeom prst="rect">
            <a:avLst/>
          </a:prstGeom>
          <a:noFill/>
          <a:ln/>
        </p:spPr>
        <p:txBody>
          <a:bodyPr wrap="square" lIns="0" tIns="0" rIns="0" bIns="0" rtlCol="0" anchor="ctr"/>
          <a:lstStyle/>
          <a:p>
            <a:pPr algn="l" indent="0" marL="0">
              <a:buNone/>
            </a:pPr>
            <a:r>
              <a:rPr lang="en-US" sz="1600" b="1" dirty="0">
                <a:solidFill>
                  <a:srgbClr val="2E7D5B"/>
                </a:solidFill>
                <a:latin typeface="Cambria" pitchFamily="34" charset="0"/>
                <a:ea typeface="Cambria" pitchFamily="34" charset="-122"/>
                <a:cs typeface="Cambria" pitchFamily="34" charset="-120"/>
              </a:rPr>
              <a:t>Ventajas</a:t>
            </a:r>
            <a:endParaRPr lang="en-US" sz="1600" dirty="0"/>
          </a:p>
        </p:txBody>
      </p:sp>
      <p:sp>
        <p:nvSpPr>
          <p:cNvPr id="8" name="Text 5"/>
          <p:cNvSpPr/>
          <p:nvPr/>
        </p:nvSpPr>
        <p:spPr>
          <a:xfrm>
            <a:off x="777240" y="2377440"/>
            <a:ext cx="3383280" cy="2286000"/>
          </a:xfrm>
          <a:prstGeom prst="rect">
            <a:avLst/>
          </a:prstGeom>
          <a:noFill/>
          <a:ln/>
        </p:spPr>
        <p:txBody>
          <a:bodyPr wrap="square" lIns="0" tIns="0" rIns="0" bIns="0" rtlCol="0" anchor="t"/>
          <a:lstStyle/>
          <a:p>
            <a:pPr marL="228600" indent="-228600">
              <a:lnSpc>
                <a:spcPct val="105000"/>
              </a:lnSpc>
              <a:spcAft>
                <a:spcPts val="1200"/>
              </a:spcAft>
              <a:buSzPct val="100000"/>
              <a:buChar char="•"/>
            </a:pPr>
            <a:r>
              <a:rPr lang="en-US" sz="1250" dirty="0">
                <a:solidFill>
                  <a:srgbClr val="33415C"/>
                </a:solidFill>
                <a:latin typeface="Calibri" pitchFamily="34" charset="0"/>
                <a:ea typeface="Calibri" pitchFamily="34" charset="-122"/>
                <a:cs typeface="Calibri" pitchFamily="34" charset="-120"/>
              </a:rPr>
              <a:t>Disponibilidad permanente, sin fatiga ni olvido</a:t>
            </a:r>
            <a:endParaRPr lang="en-US" sz="1250" dirty="0"/>
          </a:p>
          <a:p>
            <a:pPr marL="228600" indent="-228600">
              <a:lnSpc>
                <a:spcPct val="105000"/>
              </a:lnSpc>
              <a:spcAft>
                <a:spcPts val="1200"/>
              </a:spcAft>
              <a:buSzPct val="100000"/>
              <a:buChar char="•"/>
            </a:pPr>
            <a:r>
              <a:rPr lang="en-US" sz="1250" dirty="0">
                <a:solidFill>
                  <a:srgbClr val="33415C"/>
                </a:solidFill>
                <a:latin typeface="Calibri" pitchFamily="34" charset="0"/>
                <a:ea typeface="Calibri" pitchFamily="34" charset="-122"/>
                <a:cs typeface="Calibri" pitchFamily="34" charset="-120"/>
              </a:rPr>
              <a:t>Consistencia y trazabilidad en cada decisión</a:t>
            </a:r>
            <a:endParaRPr lang="en-US" sz="1250" dirty="0"/>
          </a:p>
          <a:p>
            <a:pPr marL="228600" indent="-228600">
              <a:lnSpc>
                <a:spcPct val="105000"/>
              </a:lnSpc>
              <a:spcAft>
                <a:spcPts val="1200"/>
              </a:spcAft>
              <a:buSzPct val="100000"/>
              <a:buChar char="•"/>
            </a:pPr>
            <a:r>
              <a:rPr lang="en-US" sz="1250" dirty="0">
                <a:solidFill>
                  <a:srgbClr val="33415C"/>
                </a:solidFill>
                <a:latin typeface="Calibri" pitchFamily="34" charset="0"/>
                <a:ea typeface="Calibri" pitchFamily="34" charset="-122"/>
                <a:cs typeface="Calibri" pitchFamily="34" charset="-120"/>
              </a:rPr>
              <a:t>Preserva y democratiza el conocimiento experto escaso</a:t>
            </a:r>
            <a:endParaRPr lang="en-US" sz="1250" dirty="0"/>
          </a:p>
          <a:p>
            <a:pPr marL="228600" indent="-228600">
              <a:lnSpc>
                <a:spcPct val="105000"/>
              </a:lnSpc>
              <a:spcAft>
                <a:spcPts val="1200"/>
              </a:spcAft>
              <a:buSzPct val="100000"/>
              <a:buChar char="•"/>
            </a:pPr>
            <a:r>
              <a:rPr lang="en-US" sz="1250" dirty="0">
                <a:solidFill>
                  <a:srgbClr val="33415C"/>
                </a:solidFill>
                <a:latin typeface="Calibri" pitchFamily="34" charset="0"/>
                <a:ea typeface="Calibri" pitchFamily="34" charset="-122"/>
                <a:cs typeface="Calibri" pitchFamily="34" charset="-120"/>
              </a:rPr>
              <a:t>Acelera la capacitación de personal nuevo</a:t>
            </a:r>
            <a:endParaRPr lang="en-US" sz="1250" dirty="0"/>
          </a:p>
        </p:txBody>
      </p:sp>
      <p:sp>
        <p:nvSpPr>
          <p:cNvPr id="9" name="Shape 6"/>
          <p:cNvSpPr/>
          <p:nvPr/>
        </p:nvSpPr>
        <p:spPr>
          <a:xfrm>
            <a:off x="4709160" y="1463040"/>
            <a:ext cx="3931920" cy="3337560"/>
          </a:xfrm>
          <a:prstGeom prst="roundRect">
            <a:avLst>
              <a:gd name="adj" fmla="val 2192"/>
            </a:avLst>
          </a:prstGeom>
          <a:solidFill>
            <a:srgbClr val="F8EBEA"/>
          </a:solidFill>
          <a:ln/>
          <a:effectLst>
            <a:outerShdw sx="100000" sy="100000" kx="0" ky="0" algn="bl" rotWithShape="0" blurRad="88900" dist="25400" dir="5400000">
              <a:srgbClr val="1B2A4A">
                <a:alpha val="10000"/>
              </a:srgbClr>
            </a:outerShdw>
          </a:effectLst>
        </p:spPr>
      </p:sp>
      <p:sp>
        <p:nvSpPr>
          <p:cNvPr id="10" name="Shape 7"/>
          <p:cNvSpPr/>
          <p:nvPr/>
        </p:nvSpPr>
        <p:spPr>
          <a:xfrm>
            <a:off x="4937760" y="1691640"/>
            <a:ext cx="457200" cy="457200"/>
          </a:xfrm>
          <a:prstGeom prst="ellipse">
            <a:avLst/>
          </a:prstGeom>
          <a:solidFill>
            <a:srgbClr val="B3433F"/>
          </a:solidFill>
          <a:ln/>
        </p:spPr>
      </p:sp>
      <p:pic>
        <p:nvPicPr>
          <p:cNvPr id="11" name="Image 1" descr="preencoded.png">    </p:cNvPr>
          <p:cNvPicPr>
            <a:picLocks noChangeAspect="1"/>
          </p:cNvPicPr>
          <p:nvPr/>
        </p:nvPicPr>
        <p:blipFill>
          <a:blip r:embed="rId2"/>
          <a:stretch>
            <a:fillRect/>
          </a:stretch>
        </p:blipFill>
        <p:spPr>
          <a:xfrm>
            <a:off x="5010912" y="1764792"/>
            <a:ext cx="310896" cy="310896"/>
          </a:xfrm>
          <a:prstGeom prst="rect">
            <a:avLst/>
          </a:prstGeom>
        </p:spPr>
      </p:pic>
      <p:sp>
        <p:nvSpPr>
          <p:cNvPr id="12" name="Text 8"/>
          <p:cNvSpPr/>
          <p:nvPr/>
        </p:nvSpPr>
        <p:spPr>
          <a:xfrm>
            <a:off x="5532120" y="1691640"/>
            <a:ext cx="2926080" cy="457200"/>
          </a:xfrm>
          <a:prstGeom prst="rect">
            <a:avLst/>
          </a:prstGeom>
          <a:noFill/>
          <a:ln/>
        </p:spPr>
        <p:txBody>
          <a:bodyPr wrap="square" lIns="0" tIns="0" rIns="0" bIns="0" rtlCol="0" anchor="ctr"/>
          <a:lstStyle/>
          <a:p>
            <a:pPr algn="l" indent="0" marL="0">
              <a:buNone/>
            </a:pPr>
            <a:r>
              <a:rPr lang="en-US" sz="1600" b="1" dirty="0">
                <a:solidFill>
                  <a:srgbClr val="B3433F"/>
                </a:solidFill>
                <a:latin typeface="Cambria" pitchFamily="34" charset="0"/>
                <a:ea typeface="Cambria" pitchFamily="34" charset="-122"/>
                <a:cs typeface="Cambria" pitchFamily="34" charset="-120"/>
              </a:rPr>
              <a:t>Desventajas</a:t>
            </a:r>
            <a:endParaRPr lang="en-US" sz="1600" dirty="0"/>
          </a:p>
        </p:txBody>
      </p:sp>
      <p:sp>
        <p:nvSpPr>
          <p:cNvPr id="13" name="Text 9"/>
          <p:cNvSpPr/>
          <p:nvPr/>
        </p:nvSpPr>
        <p:spPr>
          <a:xfrm>
            <a:off x="4983480" y="2377440"/>
            <a:ext cx="3383280" cy="2286000"/>
          </a:xfrm>
          <a:prstGeom prst="rect">
            <a:avLst/>
          </a:prstGeom>
          <a:noFill/>
          <a:ln/>
        </p:spPr>
        <p:txBody>
          <a:bodyPr wrap="square" lIns="0" tIns="0" rIns="0" bIns="0" rtlCol="0" anchor="t"/>
          <a:lstStyle/>
          <a:p>
            <a:pPr marL="228600" indent="-228600">
              <a:lnSpc>
                <a:spcPct val="105000"/>
              </a:lnSpc>
              <a:spcAft>
                <a:spcPts val="1200"/>
              </a:spcAft>
              <a:buSzPct val="100000"/>
              <a:buChar char="•"/>
            </a:pPr>
            <a:r>
              <a:rPr lang="en-US" sz="1250" dirty="0">
                <a:solidFill>
                  <a:srgbClr val="33415C"/>
                </a:solidFill>
                <a:latin typeface="Calibri" pitchFamily="34" charset="0"/>
                <a:ea typeface="Calibri" pitchFamily="34" charset="-122"/>
                <a:cs typeface="Calibri" pitchFamily="34" charset="-120"/>
              </a:rPr>
              <a:t>Carece de sentido común fuera de su dominio específico</a:t>
            </a:r>
            <a:endParaRPr lang="en-US" sz="1250" dirty="0"/>
          </a:p>
          <a:p>
            <a:pPr marL="228600" indent="-228600">
              <a:lnSpc>
                <a:spcPct val="105000"/>
              </a:lnSpc>
              <a:spcAft>
                <a:spcPts val="1200"/>
              </a:spcAft>
              <a:buSzPct val="100000"/>
              <a:buChar char="•"/>
            </a:pPr>
            <a:r>
              <a:rPr lang="en-US" sz="1250" dirty="0">
                <a:solidFill>
                  <a:srgbClr val="33415C"/>
                </a:solidFill>
                <a:latin typeface="Calibri" pitchFamily="34" charset="0"/>
                <a:ea typeface="Calibri" pitchFamily="34" charset="-122"/>
                <a:cs typeface="Calibri" pitchFamily="34" charset="-120"/>
              </a:rPr>
              <a:t>Construcción y mantenimiento costosos (cuello de botella del conocimiento)</a:t>
            </a:r>
            <a:endParaRPr lang="en-US" sz="1250" dirty="0"/>
          </a:p>
          <a:p>
            <a:pPr marL="228600" indent="-228600">
              <a:lnSpc>
                <a:spcPct val="105000"/>
              </a:lnSpc>
              <a:spcAft>
                <a:spcPts val="1200"/>
              </a:spcAft>
              <a:buSzPct val="100000"/>
              <a:buChar char="•"/>
            </a:pPr>
            <a:r>
              <a:rPr lang="en-US" sz="1250" dirty="0">
                <a:solidFill>
                  <a:srgbClr val="33415C"/>
                </a:solidFill>
                <a:latin typeface="Calibri" pitchFamily="34" charset="0"/>
                <a:ea typeface="Calibri" pitchFamily="34" charset="-122"/>
                <a:cs typeface="Calibri" pitchFamily="34" charset="-120"/>
              </a:rPr>
              <a:t>Dificultad para actualizarse ante cambios del dominio</a:t>
            </a:r>
            <a:endParaRPr lang="en-US" sz="1250" dirty="0"/>
          </a:p>
          <a:p>
            <a:pPr marL="228600" indent="-228600">
              <a:lnSpc>
                <a:spcPct val="105000"/>
              </a:lnSpc>
              <a:spcAft>
                <a:spcPts val="1200"/>
              </a:spcAft>
              <a:buSzPct val="100000"/>
              <a:buChar char="•"/>
            </a:pPr>
            <a:r>
              <a:rPr lang="en-US" sz="1250" dirty="0">
                <a:solidFill>
                  <a:srgbClr val="33415C"/>
                </a:solidFill>
                <a:latin typeface="Calibri" pitchFamily="34" charset="0"/>
                <a:ea typeface="Calibri" pitchFamily="34" charset="-122"/>
                <a:cs typeface="Calibri" pitchFamily="34" charset="-120"/>
              </a:rPr>
              <a:t>No aprende automáticamente de la experiencia, a diferencia del ML</a:t>
            </a:r>
            <a:endParaRPr lang="en-US" sz="1250" dirty="0"/>
          </a:p>
        </p:txBody>
      </p:sp>
      <p:sp>
        <p:nvSpPr>
          <p:cNvPr id="14" name="Text 10"/>
          <p:cNvSpPr/>
          <p:nvPr/>
        </p:nvSpPr>
        <p:spPr>
          <a:xfrm>
            <a:off x="8366760" y="4864608"/>
            <a:ext cx="457200" cy="228600"/>
          </a:xfrm>
          <a:prstGeom prst="rect">
            <a:avLst/>
          </a:prstGeom>
          <a:noFill/>
          <a:ln/>
        </p:spPr>
        <p:txBody>
          <a:bodyPr wrap="square" lIns="0" tIns="0" rIns="0" bIns="0" rtlCol="0" anchor="ctr"/>
          <a:lstStyle/>
          <a:p>
            <a:pPr algn="r" indent="0" marL="0">
              <a:buNone/>
            </a:pPr>
            <a:r>
              <a:rPr lang="en-US" sz="900" dirty="0">
                <a:solidFill>
                  <a:srgbClr val="667186"/>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7772400" cy="274320"/>
          </a:xfrm>
          <a:prstGeom prst="rect">
            <a:avLst/>
          </a:prstGeom>
          <a:noFill/>
          <a:ln/>
        </p:spPr>
        <p:txBody>
          <a:bodyPr wrap="square" lIns="0" tIns="0" rIns="0" bIns="0" rtlCol="0" anchor="ctr"/>
          <a:lstStyle/>
          <a:p>
            <a:pPr indent="0" marL="0">
              <a:buNone/>
            </a:pPr>
            <a:r>
              <a:rPr lang="en-US" sz="1200" b="1" spc="200" kern="0" dirty="0">
                <a:solidFill>
                  <a:srgbClr val="E0A458"/>
                </a:solidFill>
                <a:latin typeface="Calibri" pitchFamily="34" charset="0"/>
                <a:ea typeface="Calibri" pitchFamily="34" charset="-122"/>
                <a:cs typeface="Calibri" pitchFamily="34" charset="-120"/>
              </a:rPr>
              <a:t>09 · APLICACIONES</a:t>
            </a:r>
            <a:endParaRPr lang="en-US" sz="1200" dirty="0"/>
          </a:p>
        </p:txBody>
      </p:sp>
      <p:sp>
        <p:nvSpPr>
          <p:cNvPr id="3" name="Text 1"/>
          <p:cNvSpPr/>
          <p:nvPr/>
        </p:nvSpPr>
        <p:spPr>
          <a:xfrm>
            <a:off x="502920" y="566928"/>
            <a:ext cx="8138160" cy="658368"/>
          </a:xfrm>
          <a:prstGeom prst="rect">
            <a:avLst/>
          </a:prstGeom>
          <a:noFill/>
          <a:ln/>
        </p:spPr>
        <p:txBody>
          <a:bodyPr wrap="square" lIns="0" tIns="0" rIns="0" bIns="0" rtlCol="0" anchor="ctr"/>
          <a:lstStyle/>
          <a:p>
            <a:pPr indent="0" marL="0">
              <a:buNone/>
            </a:pPr>
            <a:r>
              <a:rPr lang="en-US" sz="2900" b="1" dirty="0">
                <a:solidFill>
                  <a:srgbClr val="1B2A4A"/>
                </a:solidFill>
                <a:latin typeface="Cambria" pitchFamily="34" charset="0"/>
                <a:ea typeface="Cambria" pitchFamily="34" charset="-122"/>
                <a:cs typeface="Cambria" pitchFamily="34" charset="-120"/>
              </a:rPr>
              <a:t>Aplicaciones actuales</a:t>
            </a:r>
            <a:endParaRPr lang="en-US" sz="2900" dirty="0"/>
          </a:p>
        </p:txBody>
      </p:sp>
      <p:sp>
        <p:nvSpPr>
          <p:cNvPr id="4" name="Shape 2"/>
          <p:cNvSpPr/>
          <p:nvPr/>
        </p:nvSpPr>
        <p:spPr>
          <a:xfrm>
            <a:off x="502920" y="1481328"/>
            <a:ext cx="3931920" cy="1481328"/>
          </a:xfrm>
          <a:prstGeom prst="roundRect">
            <a:avLst>
              <a:gd name="adj" fmla="val 4938"/>
            </a:avLst>
          </a:prstGeom>
          <a:solidFill>
            <a:srgbClr val="F1F4F9"/>
          </a:solidFill>
          <a:ln/>
          <a:effectLst>
            <a:outerShdw sx="100000" sy="100000" kx="0" ky="0" algn="bl" rotWithShape="0" blurRad="88900" dist="25400" dir="5400000">
              <a:srgbClr val="1B2A4A">
                <a:alpha val="10000"/>
              </a:srgbClr>
            </a:outerShdw>
          </a:effectLst>
        </p:spPr>
      </p:sp>
      <p:sp>
        <p:nvSpPr>
          <p:cNvPr id="5" name="Shape 3"/>
          <p:cNvSpPr/>
          <p:nvPr/>
        </p:nvSpPr>
        <p:spPr>
          <a:xfrm>
            <a:off x="704088" y="1938528"/>
            <a:ext cx="566928" cy="566928"/>
          </a:xfrm>
          <a:prstGeom prst="ellipse">
            <a:avLst/>
          </a:prstGeom>
          <a:solidFill>
            <a:srgbClr val="E0A458"/>
          </a:solidFill>
          <a:ln/>
        </p:spPr>
      </p:sp>
      <p:pic>
        <p:nvPicPr>
          <p:cNvPr id="6" name="Image 0" descr="preencoded.png">    </p:cNvPr>
          <p:cNvPicPr>
            <a:picLocks noChangeAspect="1"/>
          </p:cNvPicPr>
          <p:nvPr/>
        </p:nvPicPr>
        <p:blipFill>
          <a:blip r:embed="rId1"/>
          <a:stretch>
            <a:fillRect/>
          </a:stretch>
        </p:blipFill>
        <p:spPr>
          <a:xfrm>
            <a:off x="794796" y="2029236"/>
            <a:ext cx="385511" cy="385511"/>
          </a:xfrm>
          <a:prstGeom prst="rect">
            <a:avLst/>
          </a:prstGeom>
        </p:spPr>
      </p:pic>
      <p:sp>
        <p:nvSpPr>
          <p:cNvPr id="7" name="Text 4"/>
          <p:cNvSpPr/>
          <p:nvPr/>
        </p:nvSpPr>
        <p:spPr>
          <a:xfrm>
            <a:off x="1417320" y="1645920"/>
            <a:ext cx="2834640" cy="292608"/>
          </a:xfrm>
          <a:prstGeom prst="rect">
            <a:avLst/>
          </a:prstGeom>
          <a:noFill/>
          <a:ln/>
        </p:spPr>
        <p:txBody>
          <a:bodyPr wrap="square" lIns="0" tIns="0" rIns="0" bIns="0" rtlCol="0" anchor="t"/>
          <a:lstStyle/>
          <a:p>
            <a:pPr algn="l" indent="0" marL="0">
              <a:buNone/>
            </a:pPr>
            <a:r>
              <a:rPr lang="en-US" sz="1350" b="1" dirty="0">
                <a:solidFill>
                  <a:srgbClr val="1B2A4A"/>
                </a:solidFill>
                <a:latin typeface="Calibri" pitchFamily="34" charset="0"/>
                <a:ea typeface="Calibri" pitchFamily="34" charset="-122"/>
                <a:cs typeface="Calibri" pitchFamily="34" charset="-120"/>
              </a:rPr>
              <a:t>Medicina</a:t>
            </a:r>
            <a:endParaRPr lang="en-US" sz="1350" dirty="0"/>
          </a:p>
        </p:txBody>
      </p:sp>
      <p:sp>
        <p:nvSpPr>
          <p:cNvPr id="8" name="Text 5"/>
          <p:cNvSpPr/>
          <p:nvPr/>
        </p:nvSpPr>
        <p:spPr>
          <a:xfrm>
            <a:off x="1417320" y="1984248"/>
            <a:ext cx="2834640" cy="868680"/>
          </a:xfrm>
          <a:prstGeom prst="rect">
            <a:avLst/>
          </a:prstGeom>
          <a:noFill/>
          <a:ln/>
        </p:spPr>
        <p:txBody>
          <a:bodyPr wrap="square" lIns="0" tIns="0" rIns="0" bIns="0" rtlCol="0" anchor="t"/>
          <a:lstStyle/>
          <a:p>
            <a:pPr algn="l" indent="0" marL="0">
              <a:lnSpc>
                <a:spcPct val="112000"/>
              </a:lnSpc>
              <a:buNone/>
            </a:pPr>
            <a:r>
              <a:rPr lang="en-US" sz="1030" dirty="0">
                <a:solidFill>
                  <a:srgbClr val="33415C"/>
                </a:solidFill>
                <a:latin typeface="Calibri" pitchFamily="34" charset="0"/>
                <a:ea typeface="Calibri" pitchFamily="34" charset="-122"/>
                <a:cs typeface="Calibri" pitchFamily="34" charset="-120"/>
              </a:rPr>
              <a:t>Apoyo al diagnóstico y recomendación de tratamientos — línea directa con MYCIN</a:t>
            </a:r>
            <a:endParaRPr lang="en-US" sz="1030" dirty="0"/>
          </a:p>
        </p:txBody>
      </p:sp>
      <p:sp>
        <p:nvSpPr>
          <p:cNvPr id="9" name="Shape 6"/>
          <p:cNvSpPr/>
          <p:nvPr/>
        </p:nvSpPr>
        <p:spPr>
          <a:xfrm>
            <a:off x="4709160" y="1481328"/>
            <a:ext cx="3931920" cy="1481328"/>
          </a:xfrm>
          <a:prstGeom prst="roundRect">
            <a:avLst>
              <a:gd name="adj" fmla="val 4938"/>
            </a:avLst>
          </a:prstGeom>
          <a:solidFill>
            <a:srgbClr val="F1F4F9"/>
          </a:solidFill>
          <a:ln/>
          <a:effectLst>
            <a:outerShdw sx="100000" sy="100000" kx="0" ky="0" algn="bl" rotWithShape="0" blurRad="88900" dist="25400" dir="5400000">
              <a:srgbClr val="1B2A4A">
                <a:alpha val="10000"/>
              </a:srgbClr>
            </a:outerShdw>
          </a:effectLst>
        </p:spPr>
      </p:sp>
      <p:sp>
        <p:nvSpPr>
          <p:cNvPr id="10" name="Shape 7"/>
          <p:cNvSpPr/>
          <p:nvPr/>
        </p:nvSpPr>
        <p:spPr>
          <a:xfrm>
            <a:off x="4910328" y="1938528"/>
            <a:ext cx="566928" cy="566928"/>
          </a:xfrm>
          <a:prstGeom prst="ellipse">
            <a:avLst/>
          </a:prstGeom>
          <a:solidFill>
            <a:srgbClr val="E0A458"/>
          </a:solidFill>
          <a:ln/>
        </p:spPr>
      </p:sp>
      <p:pic>
        <p:nvPicPr>
          <p:cNvPr id="11" name="Image 1" descr="preencoded.png">    </p:cNvPr>
          <p:cNvPicPr>
            <a:picLocks noChangeAspect="1"/>
          </p:cNvPicPr>
          <p:nvPr/>
        </p:nvPicPr>
        <p:blipFill>
          <a:blip r:embed="rId2"/>
          <a:stretch>
            <a:fillRect/>
          </a:stretch>
        </p:blipFill>
        <p:spPr>
          <a:xfrm>
            <a:off x="5001036" y="2029236"/>
            <a:ext cx="385511" cy="385511"/>
          </a:xfrm>
          <a:prstGeom prst="rect">
            <a:avLst/>
          </a:prstGeom>
        </p:spPr>
      </p:pic>
      <p:sp>
        <p:nvSpPr>
          <p:cNvPr id="12" name="Text 8"/>
          <p:cNvSpPr/>
          <p:nvPr/>
        </p:nvSpPr>
        <p:spPr>
          <a:xfrm>
            <a:off x="5623560" y="1645920"/>
            <a:ext cx="2834640" cy="292608"/>
          </a:xfrm>
          <a:prstGeom prst="rect">
            <a:avLst/>
          </a:prstGeom>
          <a:noFill/>
          <a:ln/>
        </p:spPr>
        <p:txBody>
          <a:bodyPr wrap="square" lIns="0" tIns="0" rIns="0" bIns="0" rtlCol="0" anchor="t"/>
          <a:lstStyle/>
          <a:p>
            <a:pPr algn="l" indent="0" marL="0">
              <a:buNone/>
            </a:pPr>
            <a:r>
              <a:rPr lang="en-US" sz="1350" b="1" dirty="0">
                <a:solidFill>
                  <a:srgbClr val="1B2A4A"/>
                </a:solidFill>
                <a:latin typeface="Calibri" pitchFamily="34" charset="0"/>
                <a:ea typeface="Calibri" pitchFamily="34" charset="-122"/>
                <a:cs typeface="Calibri" pitchFamily="34" charset="-120"/>
              </a:rPr>
              <a:t>Finanzas</a:t>
            </a:r>
            <a:endParaRPr lang="en-US" sz="1350" dirty="0"/>
          </a:p>
        </p:txBody>
      </p:sp>
      <p:sp>
        <p:nvSpPr>
          <p:cNvPr id="13" name="Text 9"/>
          <p:cNvSpPr/>
          <p:nvPr/>
        </p:nvSpPr>
        <p:spPr>
          <a:xfrm>
            <a:off x="5623560" y="1984248"/>
            <a:ext cx="2834640" cy="868680"/>
          </a:xfrm>
          <a:prstGeom prst="rect">
            <a:avLst/>
          </a:prstGeom>
          <a:noFill/>
          <a:ln/>
        </p:spPr>
        <p:txBody>
          <a:bodyPr wrap="square" lIns="0" tIns="0" rIns="0" bIns="0" rtlCol="0" anchor="t"/>
          <a:lstStyle/>
          <a:p>
            <a:pPr algn="l" indent="0" marL="0">
              <a:lnSpc>
                <a:spcPct val="112000"/>
              </a:lnSpc>
              <a:buNone/>
            </a:pPr>
            <a:r>
              <a:rPr lang="en-US" sz="1030" dirty="0">
                <a:solidFill>
                  <a:srgbClr val="33415C"/>
                </a:solidFill>
                <a:latin typeface="Calibri" pitchFamily="34" charset="0"/>
                <a:ea typeface="Calibri" pitchFamily="34" charset="-122"/>
                <a:cs typeface="Calibri" pitchFamily="34" charset="-120"/>
              </a:rPr>
              <a:t>Evaluación de riesgo crediticio, detección de fraude y asesoría de inversión</a:t>
            </a:r>
            <a:endParaRPr lang="en-US" sz="1030" dirty="0"/>
          </a:p>
        </p:txBody>
      </p:sp>
      <p:sp>
        <p:nvSpPr>
          <p:cNvPr id="14" name="Shape 10"/>
          <p:cNvSpPr/>
          <p:nvPr/>
        </p:nvSpPr>
        <p:spPr>
          <a:xfrm>
            <a:off x="502920" y="3218688"/>
            <a:ext cx="3931920" cy="1481328"/>
          </a:xfrm>
          <a:prstGeom prst="roundRect">
            <a:avLst>
              <a:gd name="adj" fmla="val 4938"/>
            </a:avLst>
          </a:prstGeom>
          <a:solidFill>
            <a:srgbClr val="F1F4F9"/>
          </a:solidFill>
          <a:ln/>
          <a:effectLst>
            <a:outerShdw sx="100000" sy="100000" kx="0" ky="0" algn="bl" rotWithShape="0" blurRad="88900" dist="25400" dir="5400000">
              <a:srgbClr val="1B2A4A">
                <a:alpha val="10000"/>
              </a:srgbClr>
            </a:outerShdw>
          </a:effectLst>
        </p:spPr>
      </p:sp>
      <p:sp>
        <p:nvSpPr>
          <p:cNvPr id="15" name="Shape 11"/>
          <p:cNvSpPr/>
          <p:nvPr/>
        </p:nvSpPr>
        <p:spPr>
          <a:xfrm>
            <a:off x="704088" y="3675888"/>
            <a:ext cx="566928" cy="566928"/>
          </a:xfrm>
          <a:prstGeom prst="ellipse">
            <a:avLst/>
          </a:prstGeom>
          <a:solidFill>
            <a:srgbClr val="E0A458"/>
          </a:solidFill>
          <a:ln/>
        </p:spPr>
      </p:sp>
      <p:pic>
        <p:nvPicPr>
          <p:cNvPr id="16" name="Image 2" descr="preencoded.png">    </p:cNvPr>
          <p:cNvPicPr>
            <a:picLocks noChangeAspect="1"/>
          </p:cNvPicPr>
          <p:nvPr/>
        </p:nvPicPr>
        <p:blipFill>
          <a:blip r:embed="rId3"/>
          <a:stretch>
            <a:fillRect/>
          </a:stretch>
        </p:blipFill>
        <p:spPr>
          <a:xfrm>
            <a:off x="794796" y="3766596"/>
            <a:ext cx="385511" cy="385511"/>
          </a:xfrm>
          <a:prstGeom prst="rect">
            <a:avLst/>
          </a:prstGeom>
        </p:spPr>
      </p:pic>
      <p:sp>
        <p:nvSpPr>
          <p:cNvPr id="17" name="Text 12"/>
          <p:cNvSpPr/>
          <p:nvPr/>
        </p:nvSpPr>
        <p:spPr>
          <a:xfrm>
            <a:off x="1417320" y="3383280"/>
            <a:ext cx="2834640" cy="292608"/>
          </a:xfrm>
          <a:prstGeom prst="rect">
            <a:avLst/>
          </a:prstGeom>
          <a:noFill/>
          <a:ln/>
        </p:spPr>
        <p:txBody>
          <a:bodyPr wrap="square" lIns="0" tIns="0" rIns="0" bIns="0" rtlCol="0" anchor="t"/>
          <a:lstStyle/>
          <a:p>
            <a:pPr algn="l" indent="0" marL="0">
              <a:buNone/>
            </a:pPr>
            <a:r>
              <a:rPr lang="en-US" sz="1350" b="1" dirty="0">
                <a:solidFill>
                  <a:srgbClr val="1B2A4A"/>
                </a:solidFill>
                <a:latin typeface="Calibri" pitchFamily="34" charset="0"/>
                <a:ea typeface="Calibri" pitchFamily="34" charset="-122"/>
                <a:cs typeface="Calibri" pitchFamily="34" charset="-120"/>
              </a:rPr>
              <a:t>Industria</a:t>
            </a:r>
            <a:endParaRPr lang="en-US" sz="1350" dirty="0"/>
          </a:p>
        </p:txBody>
      </p:sp>
      <p:sp>
        <p:nvSpPr>
          <p:cNvPr id="18" name="Text 13"/>
          <p:cNvSpPr/>
          <p:nvPr/>
        </p:nvSpPr>
        <p:spPr>
          <a:xfrm>
            <a:off x="1417320" y="3721608"/>
            <a:ext cx="2834640" cy="868680"/>
          </a:xfrm>
          <a:prstGeom prst="rect">
            <a:avLst/>
          </a:prstGeom>
          <a:noFill/>
          <a:ln/>
        </p:spPr>
        <p:txBody>
          <a:bodyPr wrap="square" lIns="0" tIns="0" rIns="0" bIns="0" rtlCol="0" anchor="t"/>
          <a:lstStyle/>
          <a:p>
            <a:pPr algn="l" indent="0" marL="0">
              <a:lnSpc>
                <a:spcPct val="112000"/>
              </a:lnSpc>
              <a:buNone/>
            </a:pPr>
            <a:r>
              <a:rPr lang="en-US" sz="1030" dirty="0">
                <a:solidFill>
                  <a:srgbClr val="33415C"/>
                </a:solidFill>
                <a:latin typeface="Calibri" pitchFamily="34" charset="0"/>
                <a:ea typeface="Calibri" pitchFamily="34" charset="-122"/>
                <a:cs typeface="Calibri" pitchFamily="34" charset="-120"/>
              </a:rPr>
              <a:t>Configuración de productos (herencia de XCON) y mantenimiento predictivo</a:t>
            </a:r>
            <a:endParaRPr lang="en-US" sz="1030" dirty="0"/>
          </a:p>
        </p:txBody>
      </p:sp>
      <p:sp>
        <p:nvSpPr>
          <p:cNvPr id="19" name="Shape 14"/>
          <p:cNvSpPr/>
          <p:nvPr/>
        </p:nvSpPr>
        <p:spPr>
          <a:xfrm>
            <a:off x="4709160" y="3218688"/>
            <a:ext cx="3931920" cy="1481328"/>
          </a:xfrm>
          <a:prstGeom prst="roundRect">
            <a:avLst>
              <a:gd name="adj" fmla="val 4938"/>
            </a:avLst>
          </a:prstGeom>
          <a:solidFill>
            <a:srgbClr val="F1F4F9"/>
          </a:solidFill>
          <a:ln/>
          <a:effectLst>
            <a:outerShdw sx="100000" sy="100000" kx="0" ky="0" algn="bl" rotWithShape="0" blurRad="88900" dist="25400" dir="5400000">
              <a:srgbClr val="1B2A4A">
                <a:alpha val="10000"/>
              </a:srgbClr>
            </a:outerShdw>
          </a:effectLst>
        </p:spPr>
      </p:sp>
      <p:sp>
        <p:nvSpPr>
          <p:cNvPr id="20" name="Shape 15"/>
          <p:cNvSpPr/>
          <p:nvPr/>
        </p:nvSpPr>
        <p:spPr>
          <a:xfrm>
            <a:off x="4910328" y="3675888"/>
            <a:ext cx="566928" cy="566928"/>
          </a:xfrm>
          <a:prstGeom prst="ellipse">
            <a:avLst/>
          </a:prstGeom>
          <a:solidFill>
            <a:srgbClr val="E0A458"/>
          </a:solidFill>
          <a:ln/>
        </p:spPr>
      </p:sp>
      <p:pic>
        <p:nvPicPr>
          <p:cNvPr id="21" name="Image 3" descr="preencoded.png">    </p:cNvPr>
          <p:cNvPicPr>
            <a:picLocks noChangeAspect="1"/>
          </p:cNvPicPr>
          <p:nvPr/>
        </p:nvPicPr>
        <p:blipFill>
          <a:blip r:embed="rId4"/>
          <a:stretch>
            <a:fillRect/>
          </a:stretch>
        </p:blipFill>
        <p:spPr>
          <a:xfrm>
            <a:off x="5001036" y="3766596"/>
            <a:ext cx="385511" cy="385511"/>
          </a:xfrm>
          <a:prstGeom prst="rect">
            <a:avLst/>
          </a:prstGeom>
        </p:spPr>
      </p:pic>
      <p:sp>
        <p:nvSpPr>
          <p:cNvPr id="22" name="Text 16"/>
          <p:cNvSpPr/>
          <p:nvPr/>
        </p:nvSpPr>
        <p:spPr>
          <a:xfrm>
            <a:off x="5623560" y="3383280"/>
            <a:ext cx="2834640" cy="292608"/>
          </a:xfrm>
          <a:prstGeom prst="rect">
            <a:avLst/>
          </a:prstGeom>
          <a:noFill/>
          <a:ln/>
        </p:spPr>
        <p:txBody>
          <a:bodyPr wrap="square" lIns="0" tIns="0" rIns="0" bIns="0" rtlCol="0" anchor="t"/>
          <a:lstStyle/>
          <a:p>
            <a:pPr algn="l" indent="0" marL="0">
              <a:buNone/>
            </a:pPr>
            <a:r>
              <a:rPr lang="en-US" sz="1350" b="1" dirty="0">
                <a:solidFill>
                  <a:srgbClr val="1B2A4A"/>
                </a:solidFill>
                <a:latin typeface="Calibri" pitchFamily="34" charset="0"/>
                <a:ea typeface="Calibri" pitchFamily="34" charset="-122"/>
                <a:cs typeface="Calibri" pitchFamily="34" charset="-120"/>
              </a:rPr>
              <a:t>Ciberseguridad</a:t>
            </a:r>
            <a:endParaRPr lang="en-US" sz="1350" dirty="0"/>
          </a:p>
        </p:txBody>
      </p:sp>
      <p:sp>
        <p:nvSpPr>
          <p:cNvPr id="23" name="Text 17"/>
          <p:cNvSpPr/>
          <p:nvPr/>
        </p:nvSpPr>
        <p:spPr>
          <a:xfrm>
            <a:off x="5623560" y="3721608"/>
            <a:ext cx="2834640" cy="868680"/>
          </a:xfrm>
          <a:prstGeom prst="rect">
            <a:avLst/>
          </a:prstGeom>
          <a:noFill/>
          <a:ln/>
        </p:spPr>
        <p:txBody>
          <a:bodyPr wrap="square" lIns="0" tIns="0" rIns="0" bIns="0" rtlCol="0" anchor="t"/>
          <a:lstStyle/>
          <a:p>
            <a:pPr algn="l" indent="0" marL="0">
              <a:lnSpc>
                <a:spcPct val="112000"/>
              </a:lnSpc>
              <a:buNone/>
            </a:pPr>
            <a:r>
              <a:rPr lang="en-US" sz="1030" dirty="0">
                <a:solidFill>
                  <a:srgbClr val="33415C"/>
                </a:solidFill>
                <a:latin typeface="Calibri" pitchFamily="34" charset="0"/>
                <a:ea typeface="Calibri" pitchFamily="34" charset="-122"/>
                <a:cs typeface="Calibri" pitchFamily="34" charset="-120"/>
              </a:rPr>
              <a:t>Detección de intrusos (IDS) y reglas de respuesta automatizada a incidentes</a:t>
            </a:r>
            <a:endParaRPr lang="en-US" sz="1030" dirty="0"/>
          </a:p>
        </p:txBody>
      </p:sp>
      <p:sp>
        <p:nvSpPr>
          <p:cNvPr id="24" name="Text 18"/>
          <p:cNvSpPr/>
          <p:nvPr/>
        </p:nvSpPr>
        <p:spPr>
          <a:xfrm>
            <a:off x="8366760" y="4864608"/>
            <a:ext cx="457200" cy="228600"/>
          </a:xfrm>
          <a:prstGeom prst="rect">
            <a:avLst/>
          </a:prstGeom>
          <a:noFill/>
          <a:ln/>
        </p:spPr>
        <p:txBody>
          <a:bodyPr wrap="square" lIns="0" tIns="0" rIns="0" bIns="0" rtlCol="0" anchor="ctr"/>
          <a:lstStyle/>
          <a:p>
            <a:pPr algn="r" indent="0" marL="0">
              <a:buNone/>
            </a:pPr>
            <a:r>
              <a:rPr lang="en-US" sz="900" dirty="0">
                <a:solidFill>
                  <a:srgbClr val="667186"/>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7772400" cy="274320"/>
          </a:xfrm>
          <a:prstGeom prst="rect">
            <a:avLst/>
          </a:prstGeom>
          <a:noFill/>
          <a:ln/>
        </p:spPr>
        <p:txBody>
          <a:bodyPr wrap="square" lIns="0" tIns="0" rIns="0" bIns="0" rtlCol="0" anchor="ctr"/>
          <a:lstStyle/>
          <a:p>
            <a:pPr indent="0" marL="0">
              <a:buNone/>
            </a:pPr>
            <a:r>
              <a:rPr lang="en-US" sz="1200" b="1" spc="200" kern="0" dirty="0">
                <a:solidFill>
                  <a:srgbClr val="E0A458"/>
                </a:solidFill>
                <a:latin typeface="Calibri" pitchFamily="34" charset="0"/>
                <a:ea typeface="Calibri" pitchFamily="34" charset="-122"/>
                <a:cs typeface="Calibri" pitchFamily="34" charset="-120"/>
              </a:rPr>
              <a:t>10 · CONTEXTO EN LA IA</a:t>
            </a:r>
            <a:endParaRPr lang="en-US" sz="1200" dirty="0"/>
          </a:p>
        </p:txBody>
      </p:sp>
      <p:sp>
        <p:nvSpPr>
          <p:cNvPr id="3" name="Text 1"/>
          <p:cNvSpPr/>
          <p:nvPr/>
        </p:nvSpPr>
        <p:spPr>
          <a:xfrm>
            <a:off x="502920" y="566928"/>
            <a:ext cx="8138160" cy="658368"/>
          </a:xfrm>
          <a:prstGeom prst="rect">
            <a:avLst/>
          </a:prstGeom>
          <a:noFill/>
          <a:ln/>
        </p:spPr>
        <p:txBody>
          <a:bodyPr wrap="square" lIns="0" tIns="0" rIns="0" bIns="0" rtlCol="0" anchor="ctr"/>
          <a:lstStyle/>
          <a:p>
            <a:pPr indent="0" marL="0">
              <a:buNone/>
            </a:pPr>
            <a:r>
              <a:rPr lang="en-US" sz="2900" b="1" dirty="0">
                <a:solidFill>
                  <a:srgbClr val="1B2A4A"/>
                </a:solidFill>
                <a:latin typeface="Cambria" pitchFamily="34" charset="0"/>
                <a:ea typeface="Cambria" pitchFamily="34" charset="-122"/>
                <a:cs typeface="Cambria" pitchFamily="34" charset="-120"/>
              </a:rPr>
              <a:t>Sistemas Expertos e Inteligencia Artificial</a:t>
            </a:r>
            <a:endParaRPr lang="en-US" sz="2900" dirty="0"/>
          </a:p>
        </p:txBody>
      </p:sp>
      <p:sp>
        <p:nvSpPr>
          <p:cNvPr id="4" name="Text 2"/>
          <p:cNvSpPr/>
          <p:nvPr/>
        </p:nvSpPr>
        <p:spPr>
          <a:xfrm>
            <a:off x="502920" y="1325880"/>
            <a:ext cx="8138160" cy="868680"/>
          </a:xfrm>
          <a:prstGeom prst="rect">
            <a:avLst/>
          </a:prstGeom>
          <a:noFill/>
          <a:ln/>
        </p:spPr>
        <p:txBody>
          <a:bodyPr wrap="square" lIns="0" tIns="0" rIns="0" bIns="0" rtlCol="0" anchor="t"/>
          <a:lstStyle/>
          <a:p>
            <a:pPr marL="228600" indent="-228600">
              <a:lnSpc>
                <a:spcPct val="105000"/>
              </a:lnSpc>
              <a:spcAft>
                <a:spcPts val="600"/>
              </a:spcAft>
              <a:buSzPct val="100000"/>
              <a:buChar char="•"/>
            </a:pPr>
            <a:r>
              <a:rPr lang="en-US" sz="1300" dirty="0">
                <a:solidFill>
                  <a:srgbClr val="33415C"/>
                </a:solidFill>
                <a:latin typeface="Calibri" pitchFamily="34" charset="0"/>
                <a:ea typeface="Calibri" pitchFamily="34" charset="-122"/>
                <a:cs typeface="Calibri" pitchFamily="34" charset="-120"/>
              </a:rPr>
              <a:t>Los Sistemas Expertos son la rama simbólica de la IA: conocimiento explícito + reglas, no aprendizaje a partir de datos</a:t>
            </a:r>
            <a:endParaRPr lang="en-US" sz="1300" dirty="0"/>
          </a:p>
          <a:p>
            <a:pPr marL="228600" indent="-228600">
              <a:lnSpc>
                <a:spcPct val="105000"/>
              </a:lnSpc>
              <a:spcAft>
                <a:spcPts val="600"/>
              </a:spcAft>
              <a:buSzPct val="100000"/>
              <a:buChar char="•"/>
            </a:pPr>
            <a:r>
              <a:rPr lang="en-US" sz="1300" dirty="0">
                <a:solidFill>
                  <a:srgbClr val="33415C"/>
                </a:solidFill>
                <a:latin typeface="Calibri" pitchFamily="34" charset="0"/>
                <a:ea typeface="Calibri" pitchFamily="34" charset="-122"/>
                <a:cs typeface="Calibri" pitchFamily="34" charset="-120"/>
              </a:rPr>
              <a:t>La IA moderna no los eliminó: los combina en arquitecturas híbridas neuro-simbólicas, y retoma su idea de explicabilidad</a:t>
            </a:r>
            <a:endParaRPr lang="en-US" sz="1300" dirty="0"/>
          </a:p>
        </p:txBody>
      </p:sp>
      <p:sp>
        <p:nvSpPr>
          <p:cNvPr id="5" name="Shape 3"/>
          <p:cNvSpPr/>
          <p:nvPr/>
        </p:nvSpPr>
        <p:spPr>
          <a:xfrm>
            <a:off x="3108960" y="2148840"/>
            <a:ext cx="2926080" cy="548640"/>
          </a:xfrm>
          <a:prstGeom prst="roundRect">
            <a:avLst>
              <a:gd name="adj" fmla="val 13333"/>
            </a:avLst>
          </a:prstGeom>
          <a:solidFill>
            <a:srgbClr val="1B2A4A"/>
          </a:solidFill>
          <a:ln/>
        </p:spPr>
      </p:sp>
      <p:sp>
        <p:nvSpPr>
          <p:cNvPr id="6" name="Text 4"/>
          <p:cNvSpPr/>
          <p:nvPr/>
        </p:nvSpPr>
        <p:spPr>
          <a:xfrm>
            <a:off x="3108960" y="2148840"/>
            <a:ext cx="2926080" cy="54864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Inteligencia Artificial</a:t>
            </a:r>
            <a:endParaRPr lang="en-US" sz="1300" dirty="0"/>
          </a:p>
        </p:txBody>
      </p:sp>
      <p:sp>
        <p:nvSpPr>
          <p:cNvPr id="7" name="Shape 5"/>
          <p:cNvSpPr/>
          <p:nvPr/>
        </p:nvSpPr>
        <p:spPr>
          <a:xfrm>
            <a:off x="502920" y="3200400"/>
            <a:ext cx="3383280" cy="777240"/>
          </a:xfrm>
          <a:prstGeom prst="roundRect">
            <a:avLst>
              <a:gd name="adj" fmla="val 9412"/>
            </a:avLst>
          </a:prstGeom>
          <a:solidFill>
            <a:srgbClr val="F1F4F9"/>
          </a:solidFill>
          <a:ln/>
          <a:effectLst>
            <a:outerShdw sx="100000" sy="100000" kx="0" ky="0" algn="bl" rotWithShape="0" blurRad="88900" dist="25400" dir="5400000">
              <a:srgbClr val="1B2A4A">
                <a:alpha val="10000"/>
              </a:srgbClr>
            </a:outerShdw>
          </a:effectLst>
        </p:spPr>
      </p:sp>
      <p:sp>
        <p:nvSpPr>
          <p:cNvPr id="8" name="Text 6"/>
          <p:cNvSpPr/>
          <p:nvPr/>
        </p:nvSpPr>
        <p:spPr>
          <a:xfrm>
            <a:off x="640080" y="3291840"/>
            <a:ext cx="3108960" cy="256032"/>
          </a:xfrm>
          <a:prstGeom prst="rect">
            <a:avLst/>
          </a:prstGeom>
          <a:noFill/>
          <a:ln/>
        </p:spPr>
        <p:txBody>
          <a:bodyPr wrap="square" lIns="0" tIns="0" rIns="0" bIns="0" rtlCol="0" anchor="t"/>
          <a:lstStyle/>
          <a:p>
            <a:pPr algn="l" indent="0" marL="0">
              <a:buNone/>
            </a:pPr>
            <a:r>
              <a:rPr lang="en-US" sz="1200" b="1" dirty="0">
                <a:solidFill>
                  <a:srgbClr val="1B2A4A"/>
                </a:solidFill>
                <a:latin typeface="Calibri" pitchFamily="34" charset="0"/>
                <a:ea typeface="Calibri" pitchFamily="34" charset="-122"/>
                <a:cs typeface="Calibri" pitchFamily="34" charset="-120"/>
              </a:rPr>
              <a:t>IA Simbólica</a:t>
            </a:r>
            <a:endParaRPr lang="en-US" sz="1200" dirty="0"/>
          </a:p>
        </p:txBody>
      </p:sp>
      <p:sp>
        <p:nvSpPr>
          <p:cNvPr id="9" name="Text 7"/>
          <p:cNvSpPr/>
          <p:nvPr/>
        </p:nvSpPr>
        <p:spPr>
          <a:xfrm>
            <a:off x="640080" y="3566160"/>
            <a:ext cx="3108960" cy="365760"/>
          </a:xfrm>
          <a:prstGeom prst="rect">
            <a:avLst/>
          </a:prstGeom>
          <a:noFill/>
          <a:ln/>
        </p:spPr>
        <p:txBody>
          <a:bodyPr wrap="square" lIns="0" tIns="0" rIns="0" bIns="0" rtlCol="0" anchor="t"/>
          <a:lstStyle/>
          <a:p>
            <a:pPr algn="l" indent="0" marL="0">
              <a:buNone/>
            </a:pPr>
            <a:r>
              <a:rPr lang="en-US" sz="950" i="1" dirty="0">
                <a:solidFill>
                  <a:srgbClr val="667186"/>
                </a:solidFill>
                <a:latin typeface="Calibri" pitchFamily="34" charset="0"/>
                <a:ea typeface="Calibri" pitchFamily="34" charset="-122"/>
                <a:cs typeface="Calibri" pitchFamily="34" charset="-120"/>
              </a:rPr>
              <a:t>Sistemas Expertos · reglas explícitas</a:t>
            </a:r>
            <a:endParaRPr lang="en-US" sz="950" dirty="0"/>
          </a:p>
        </p:txBody>
      </p:sp>
      <p:sp>
        <p:nvSpPr>
          <p:cNvPr id="10" name="Shape 8"/>
          <p:cNvSpPr/>
          <p:nvPr/>
        </p:nvSpPr>
        <p:spPr>
          <a:xfrm>
            <a:off x="5257800" y="3200400"/>
            <a:ext cx="3383280" cy="777240"/>
          </a:xfrm>
          <a:prstGeom prst="roundRect">
            <a:avLst>
              <a:gd name="adj" fmla="val 9412"/>
            </a:avLst>
          </a:prstGeom>
          <a:solidFill>
            <a:srgbClr val="F1F4F9"/>
          </a:solidFill>
          <a:ln/>
          <a:effectLst>
            <a:outerShdw sx="100000" sy="100000" kx="0" ky="0" algn="bl" rotWithShape="0" blurRad="88900" dist="25400" dir="5400000">
              <a:srgbClr val="1B2A4A">
                <a:alpha val="10000"/>
              </a:srgbClr>
            </a:outerShdw>
          </a:effectLst>
        </p:spPr>
      </p:sp>
      <p:sp>
        <p:nvSpPr>
          <p:cNvPr id="11" name="Text 9"/>
          <p:cNvSpPr/>
          <p:nvPr/>
        </p:nvSpPr>
        <p:spPr>
          <a:xfrm>
            <a:off x="5394960" y="3291840"/>
            <a:ext cx="3108960" cy="256032"/>
          </a:xfrm>
          <a:prstGeom prst="rect">
            <a:avLst/>
          </a:prstGeom>
          <a:noFill/>
          <a:ln/>
        </p:spPr>
        <p:txBody>
          <a:bodyPr wrap="square" lIns="0" tIns="0" rIns="0" bIns="0" rtlCol="0" anchor="t"/>
          <a:lstStyle/>
          <a:p>
            <a:pPr algn="l" indent="0" marL="0">
              <a:buNone/>
            </a:pPr>
            <a:r>
              <a:rPr lang="en-US" sz="1200" b="1" dirty="0">
                <a:solidFill>
                  <a:srgbClr val="1B2A4A"/>
                </a:solidFill>
                <a:latin typeface="Calibri" pitchFamily="34" charset="0"/>
                <a:ea typeface="Calibri" pitchFamily="34" charset="-122"/>
                <a:cs typeface="Calibri" pitchFamily="34" charset="-120"/>
              </a:rPr>
              <a:t>IA basada en datos</a:t>
            </a:r>
            <a:endParaRPr lang="en-US" sz="1200" dirty="0"/>
          </a:p>
        </p:txBody>
      </p:sp>
      <p:sp>
        <p:nvSpPr>
          <p:cNvPr id="12" name="Text 10"/>
          <p:cNvSpPr/>
          <p:nvPr/>
        </p:nvSpPr>
        <p:spPr>
          <a:xfrm>
            <a:off x="5394960" y="3566160"/>
            <a:ext cx="3108960" cy="365760"/>
          </a:xfrm>
          <a:prstGeom prst="rect">
            <a:avLst/>
          </a:prstGeom>
          <a:noFill/>
          <a:ln/>
        </p:spPr>
        <p:txBody>
          <a:bodyPr wrap="square" lIns="0" tIns="0" rIns="0" bIns="0" rtlCol="0" anchor="t"/>
          <a:lstStyle/>
          <a:p>
            <a:pPr algn="l" indent="0" marL="0">
              <a:buNone/>
            </a:pPr>
            <a:r>
              <a:rPr lang="en-US" sz="950" i="1" dirty="0">
                <a:solidFill>
                  <a:srgbClr val="667186"/>
                </a:solidFill>
                <a:latin typeface="Calibri" pitchFamily="34" charset="0"/>
                <a:ea typeface="Calibri" pitchFamily="34" charset="-122"/>
                <a:cs typeface="Calibri" pitchFamily="34" charset="-120"/>
              </a:rPr>
              <a:t>Machine Learning · Redes Neuronales · LLMs</a:t>
            </a:r>
            <a:endParaRPr lang="en-US" sz="950" dirty="0"/>
          </a:p>
        </p:txBody>
      </p:sp>
      <p:sp>
        <p:nvSpPr>
          <p:cNvPr id="13" name="Shape 11"/>
          <p:cNvSpPr/>
          <p:nvPr/>
        </p:nvSpPr>
        <p:spPr>
          <a:xfrm>
            <a:off x="3840480" y="2697480"/>
            <a:ext cx="-1645920" cy="502920"/>
          </a:xfrm>
          <a:prstGeom prst="line">
            <a:avLst/>
          </a:prstGeom>
          <a:noFill/>
          <a:ln w="19050">
            <a:solidFill>
              <a:srgbClr val="3D5A80"/>
            </a:solidFill>
            <a:prstDash val="solid"/>
          </a:ln>
        </p:spPr>
      </p:sp>
      <p:sp>
        <p:nvSpPr>
          <p:cNvPr id="14" name="Shape 12"/>
          <p:cNvSpPr/>
          <p:nvPr/>
        </p:nvSpPr>
        <p:spPr>
          <a:xfrm>
            <a:off x="5303520" y="2697480"/>
            <a:ext cx="1645920" cy="502920"/>
          </a:xfrm>
          <a:prstGeom prst="line">
            <a:avLst/>
          </a:prstGeom>
          <a:noFill/>
          <a:ln w="19050">
            <a:solidFill>
              <a:srgbClr val="3D5A80"/>
            </a:solidFill>
            <a:prstDash val="solid"/>
          </a:ln>
        </p:spPr>
      </p:sp>
      <p:sp>
        <p:nvSpPr>
          <p:cNvPr id="15" name="Shape 13"/>
          <p:cNvSpPr/>
          <p:nvPr/>
        </p:nvSpPr>
        <p:spPr>
          <a:xfrm>
            <a:off x="2926080" y="4361688"/>
            <a:ext cx="3291840" cy="502920"/>
          </a:xfrm>
          <a:prstGeom prst="roundRect">
            <a:avLst>
              <a:gd name="adj" fmla="val 14545"/>
            </a:avLst>
          </a:prstGeom>
          <a:solidFill>
            <a:srgbClr val="E0A458"/>
          </a:solidFill>
          <a:ln/>
        </p:spPr>
      </p:sp>
      <p:sp>
        <p:nvSpPr>
          <p:cNvPr id="16" name="Text 14"/>
          <p:cNvSpPr/>
          <p:nvPr/>
        </p:nvSpPr>
        <p:spPr>
          <a:xfrm>
            <a:off x="2926080" y="4361688"/>
            <a:ext cx="3291840" cy="502920"/>
          </a:xfrm>
          <a:prstGeom prst="rect">
            <a:avLst/>
          </a:prstGeom>
          <a:noFill/>
          <a:ln/>
        </p:spPr>
        <p:txBody>
          <a:bodyPr wrap="square" lIns="0" tIns="0" rIns="0" bIns="0" rtlCol="0" anchor="ctr"/>
          <a:lstStyle/>
          <a:p>
            <a:pPr algn="ctr" indent="0" marL="0">
              <a:buNone/>
            </a:pPr>
            <a:r>
              <a:rPr lang="en-US" sz="1200" b="1" dirty="0">
                <a:solidFill>
                  <a:srgbClr val="1B2A4A"/>
                </a:solidFill>
                <a:latin typeface="Calibri" pitchFamily="34" charset="0"/>
                <a:ea typeface="Calibri" pitchFamily="34" charset="-122"/>
                <a:cs typeface="Calibri" pitchFamily="34" charset="-120"/>
              </a:rPr>
              <a:t>Sistemas híbridos modernos</a:t>
            </a:r>
            <a:endParaRPr lang="en-US" sz="1200" dirty="0"/>
          </a:p>
        </p:txBody>
      </p:sp>
      <p:sp>
        <p:nvSpPr>
          <p:cNvPr id="17" name="Shape 15"/>
          <p:cNvSpPr/>
          <p:nvPr/>
        </p:nvSpPr>
        <p:spPr>
          <a:xfrm>
            <a:off x="2194560" y="3977640"/>
            <a:ext cx="2377440" cy="384048"/>
          </a:xfrm>
          <a:prstGeom prst="line">
            <a:avLst/>
          </a:prstGeom>
          <a:noFill/>
          <a:ln w="19050">
            <a:solidFill>
              <a:srgbClr val="3D5A80"/>
            </a:solidFill>
            <a:prstDash val="solid"/>
          </a:ln>
        </p:spPr>
      </p:sp>
      <p:sp>
        <p:nvSpPr>
          <p:cNvPr id="18" name="Shape 16"/>
          <p:cNvSpPr/>
          <p:nvPr/>
        </p:nvSpPr>
        <p:spPr>
          <a:xfrm>
            <a:off x="6949440" y="3977640"/>
            <a:ext cx="-2377440" cy="384048"/>
          </a:xfrm>
          <a:prstGeom prst="line">
            <a:avLst/>
          </a:prstGeom>
          <a:noFill/>
          <a:ln w="19050">
            <a:solidFill>
              <a:srgbClr val="3D5A80"/>
            </a:solidFill>
            <a:prstDash val="solid"/>
          </a:ln>
        </p:spPr>
      </p:sp>
      <p:sp>
        <p:nvSpPr>
          <p:cNvPr id="19" name="Text 17"/>
          <p:cNvSpPr/>
          <p:nvPr/>
        </p:nvSpPr>
        <p:spPr>
          <a:xfrm>
            <a:off x="8366760" y="4864608"/>
            <a:ext cx="457200" cy="228600"/>
          </a:xfrm>
          <a:prstGeom prst="rect">
            <a:avLst/>
          </a:prstGeom>
          <a:noFill/>
          <a:ln/>
        </p:spPr>
        <p:txBody>
          <a:bodyPr wrap="square" lIns="0" tIns="0" rIns="0" bIns="0" rtlCol="0" anchor="ctr"/>
          <a:lstStyle/>
          <a:p>
            <a:pPr algn="r" indent="0" marL="0">
              <a:buNone/>
            </a:pPr>
            <a:r>
              <a:rPr lang="en-US" sz="900" dirty="0">
                <a:solidFill>
                  <a:srgbClr val="667186"/>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B2A4A"/>
        </a:solidFill>
      </p:bgPr>
    </p:bg>
    <p:spTree>
      <p:nvGrpSpPr>
        <p:cNvPr id="1" name=""/>
        <p:cNvGrpSpPr/>
        <p:nvPr/>
      </p:nvGrpSpPr>
      <p:grpSpPr>
        <a:xfrm>
          <a:off x="0" y="0"/>
          <a:ext cx="0" cy="0"/>
          <a:chOff x="0" y="0"/>
          <a:chExt cx="0" cy="0"/>
        </a:xfrm>
      </p:grpSpPr>
      <p:sp>
        <p:nvSpPr>
          <p:cNvPr id="2" name="Shape 0"/>
          <p:cNvSpPr/>
          <p:nvPr/>
        </p:nvSpPr>
        <p:spPr>
          <a:xfrm>
            <a:off x="-1280160" y="-1280160"/>
            <a:ext cx="3291840" cy="3291840"/>
          </a:xfrm>
          <a:prstGeom prst="ellipse">
            <a:avLst/>
          </a:prstGeom>
          <a:solidFill>
            <a:srgbClr val="24365C"/>
          </a:solidFill>
          <a:ln/>
        </p:spPr>
      </p:sp>
      <p:sp>
        <p:nvSpPr>
          <p:cNvPr id="3" name="Shape 1"/>
          <p:cNvSpPr/>
          <p:nvPr/>
        </p:nvSpPr>
        <p:spPr>
          <a:xfrm>
            <a:off x="7589520" y="3474720"/>
            <a:ext cx="3108960" cy="3108960"/>
          </a:xfrm>
          <a:prstGeom prst="ellipse">
            <a:avLst/>
          </a:prstGeom>
          <a:solidFill>
            <a:srgbClr val="24365C"/>
          </a:solidFill>
          <a:ln/>
        </p:spPr>
      </p:sp>
      <p:sp>
        <p:nvSpPr>
          <p:cNvPr id="4" name="Text 2"/>
          <p:cNvSpPr/>
          <p:nvPr/>
        </p:nvSpPr>
        <p:spPr>
          <a:xfrm>
            <a:off x="548640" y="457200"/>
            <a:ext cx="3657600" cy="274320"/>
          </a:xfrm>
          <a:prstGeom prst="rect">
            <a:avLst/>
          </a:prstGeom>
          <a:noFill/>
          <a:ln/>
        </p:spPr>
        <p:txBody>
          <a:bodyPr wrap="square" lIns="0" tIns="0" rIns="0" bIns="0" rtlCol="0" anchor="t"/>
          <a:lstStyle/>
          <a:p>
            <a:pPr algn="l" indent="0" marL="0">
              <a:buNone/>
            </a:pPr>
            <a:r>
              <a:rPr lang="en-US" sz="1200" b="1" spc="200" kern="0" dirty="0">
                <a:solidFill>
                  <a:srgbClr val="E0A458"/>
                </a:solidFill>
                <a:latin typeface="Calibri" pitchFamily="34" charset="0"/>
                <a:ea typeface="Calibri" pitchFamily="34" charset="-122"/>
                <a:cs typeface="Calibri" pitchFamily="34" charset="-120"/>
              </a:rPr>
              <a:t>CIERRE</a:t>
            </a:r>
            <a:endParaRPr lang="en-US" sz="1200" dirty="0"/>
          </a:p>
        </p:txBody>
      </p:sp>
      <p:sp>
        <p:nvSpPr>
          <p:cNvPr id="5" name="Text 3"/>
          <p:cNvSpPr/>
          <p:nvPr/>
        </p:nvSpPr>
        <p:spPr>
          <a:xfrm>
            <a:off x="548640" y="731520"/>
            <a:ext cx="5486400" cy="731520"/>
          </a:xfrm>
          <a:prstGeom prst="rect">
            <a:avLst/>
          </a:prstGeom>
          <a:noFill/>
          <a:ln/>
        </p:spPr>
        <p:txBody>
          <a:bodyPr wrap="square" lIns="0" tIns="0" rIns="0" bIns="0" rtlCol="0" anchor="t"/>
          <a:lstStyle/>
          <a:p>
            <a:pPr algn="l" indent="0" marL="0">
              <a:buNone/>
            </a:pPr>
            <a:r>
              <a:rPr lang="en-US" sz="3400" b="1" dirty="0">
                <a:solidFill>
                  <a:srgbClr val="FFFFFF"/>
                </a:solidFill>
                <a:latin typeface="Cambria" pitchFamily="34" charset="0"/>
                <a:ea typeface="Cambria" pitchFamily="34" charset="-122"/>
                <a:cs typeface="Cambria" pitchFamily="34" charset="-120"/>
              </a:rPr>
              <a:t>Conclusiones</a:t>
            </a:r>
            <a:endParaRPr lang="en-US" sz="3400" dirty="0"/>
          </a:p>
        </p:txBody>
      </p:sp>
      <p:sp>
        <p:nvSpPr>
          <p:cNvPr id="6" name="Shape 4"/>
          <p:cNvSpPr/>
          <p:nvPr/>
        </p:nvSpPr>
        <p:spPr>
          <a:xfrm>
            <a:off x="548640" y="1783080"/>
            <a:ext cx="329184" cy="329184"/>
          </a:xfrm>
          <a:prstGeom prst="ellipse">
            <a:avLst/>
          </a:prstGeom>
          <a:solidFill>
            <a:srgbClr val="E0A458"/>
          </a:solidFill>
          <a:ln/>
        </p:spPr>
      </p:sp>
      <p:pic>
        <p:nvPicPr>
          <p:cNvPr id="7" name="Image 0" descr="preencoded.png">    </p:cNvPr>
          <p:cNvPicPr>
            <a:picLocks noChangeAspect="1"/>
          </p:cNvPicPr>
          <p:nvPr/>
        </p:nvPicPr>
        <p:blipFill>
          <a:blip r:embed="rId1"/>
          <a:stretch>
            <a:fillRect/>
          </a:stretch>
        </p:blipFill>
        <p:spPr>
          <a:xfrm>
            <a:off x="601309" y="1835749"/>
            <a:ext cx="223845" cy="223845"/>
          </a:xfrm>
          <a:prstGeom prst="rect">
            <a:avLst/>
          </a:prstGeom>
        </p:spPr>
      </p:pic>
      <p:sp>
        <p:nvSpPr>
          <p:cNvPr id="8" name="Text 5"/>
          <p:cNvSpPr/>
          <p:nvPr/>
        </p:nvSpPr>
        <p:spPr>
          <a:xfrm>
            <a:off x="1051560" y="1737360"/>
            <a:ext cx="7498080" cy="640080"/>
          </a:xfrm>
          <a:prstGeom prst="rect">
            <a:avLst/>
          </a:prstGeom>
          <a:noFill/>
          <a:ln/>
        </p:spPr>
        <p:txBody>
          <a:bodyPr wrap="square" lIns="0" tIns="0" rIns="0" bIns="0" rtlCol="0" anchor="ctr"/>
          <a:lstStyle/>
          <a:p>
            <a:pPr algn="l" indent="0" marL="0">
              <a:lnSpc>
                <a:spcPct val="110000"/>
              </a:lnSpc>
              <a:buNone/>
            </a:pPr>
            <a:r>
              <a:rPr lang="en-US" sz="1350" dirty="0">
                <a:solidFill>
                  <a:srgbClr val="FFFFFF"/>
                </a:solidFill>
                <a:latin typeface="Calibri" pitchFamily="34" charset="0"/>
                <a:ea typeface="Calibri" pitchFamily="34" charset="-122"/>
                <a:cs typeface="Calibri" pitchFamily="34" charset="-120"/>
              </a:rPr>
              <a:t>Los Sistemas Expertos demostraron que el conocimiento humano puede codificarse y automatizarse en decisiones confiables</a:t>
            </a:r>
            <a:endParaRPr lang="en-US" sz="1350" dirty="0"/>
          </a:p>
        </p:txBody>
      </p:sp>
      <p:sp>
        <p:nvSpPr>
          <p:cNvPr id="9" name="Shape 6"/>
          <p:cNvSpPr/>
          <p:nvPr/>
        </p:nvSpPr>
        <p:spPr>
          <a:xfrm>
            <a:off x="548640" y="2496312"/>
            <a:ext cx="329184" cy="329184"/>
          </a:xfrm>
          <a:prstGeom prst="ellipse">
            <a:avLst/>
          </a:prstGeom>
          <a:solidFill>
            <a:srgbClr val="E0A458"/>
          </a:solidFill>
          <a:ln/>
        </p:spPr>
      </p:sp>
      <p:pic>
        <p:nvPicPr>
          <p:cNvPr id="10" name="Image 1" descr="preencoded.png">    </p:cNvPr>
          <p:cNvPicPr>
            <a:picLocks noChangeAspect="1"/>
          </p:cNvPicPr>
          <p:nvPr/>
        </p:nvPicPr>
        <p:blipFill>
          <a:blip r:embed="rId2"/>
          <a:stretch>
            <a:fillRect/>
          </a:stretch>
        </p:blipFill>
        <p:spPr>
          <a:xfrm>
            <a:off x="601309" y="2548981"/>
            <a:ext cx="223845" cy="223845"/>
          </a:xfrm>
          <a:prstGeom prst="rect">
            <a:avLst/>
          </a:prstGeom>
        </p:spPr>
      </p:pic>
      <p:sp>
        <p:nvSpPr>
          <p:cNvPr id="11" name="Text 7"/>
          <p:cNvSpPr/>
          <p:nvPr/>
        </p:nvSpPr>
        <p:spPr>
          <a:xfrm>
            <a:off x="1051560" y="2450592"/>
            <a:ext cx="7498080" cy="640080"/>
          </a:xfrm>
          <a:prstGeom prst="rect">
            <a:avLst/>
          </a:prstGeom>
          <a:noFill/>
          <a:ln/>
        </p:spPr>
        <p:txBody>
          <a:bodyPr wrap="square" lIns="0" tIns="0" rIns="0" bIns="0" rtlCol="0" anchor="ctr"/>
          <a:lstStyle/>
          <a:p>
            <a:pPr algn="l" indent="0" marL="0">
              <a:lnSpc>
                <a:spcPct val="110000"/>
              </a:lnSpc>
              <a:buNone/>
            </a:pPr>
            <a:r>
              <a:rPr lang="en-US" sz="1350" dirty="0">
                <a:solidFill>
                  <a:srgbClr val="FFFFFF"/>
                </a:solidFill>
                <a:latin typeface="Calibri" pitchFamily="34" charset="0"/>
                <a:ea typeface="Calibri" pitchFamily="34" charset="-122"/>
                <a:cs typeface="Calibri" pitchFamily="34" charset="-120"/>
              </a:rPr>
              <a:t>Sentaron las bases conceptuales —reglas, inferencia, explicabilidad— que la IA moderna sigue utilizando</a:t>
            </a:r>
            <a:endParaRPr lang="en-US" sz="1350" dirty="0"/>
          </a:p>
        </p:txBody>
      </p:sp>
      <p:sp>
        <p:nvSpPr>
          <p:cNvPr id="12" name="Shape 8"/>
          <p:cNvSpPr/>
          <p:nvPr/>
        </p:nvSpPr>
        <p:spPr>
          <a:xfrm>
            <a:off x="548640" y="3209544"/>
            <a:ext cx="329184" cy="329184"/>
          </a:xfrm>
          <a:prstGeom prst="ellipse">
            <a:avLst/>
          </a:prstGeom>
          <a:solidFill>
            <a:srgbClr val="E0A458"/>
          </a:solidFill>
          <a:ln/>
        </p:spPr>
      </p:sp>
      <p:pic>
        <p:nvPicPr>
          <p:cNvPr id="13" name="Image 2" descr="preencoded.png">    </p:cNvPr>
          <p:cNvPicPr>
            <a:picLocks noChangeAspect="1"/>
          </p:cNvPicPr>
          <p:nvPr/>
        </p:nvPicPr>
        <p:blipFill>
          <a:blip r:embed="rId3"/>
          <a:stretch>
            <a:fillRect/>
          </a:stretch>
        </p:blipFill>
        <p:spPr>
          <a:xfrm>
            <a:off x="601309" y="3262213"/>
            <a:ext cx="223845" cy="223845"/>
          </a:xfrm>
          <a:prstGeom prst="rect">
            <a:avLst/>
          </a:prstGeom>
        </p:spPr>
      </p:pic>
      <p:sp>
        <p:nvSpPr>
          <p:cNvPr id="14" name="Text 9"/>
          <p:cNvSpPr/>
          <p:nvPr/>
        </p:nvSpPr>
        <p:spPr>
          <a:xfrm>
            <a:off x="1051560" y="3163824"/>
            <a:ext cx="7498080" cy="640080"/>
          </a:xfrm>
          <a:prstGeom prst="rect">
            <a:avLst/>
          </a:prstGeom>
          <a:noFill/>
          <a:ln/>
        </p:spPr>
        <p:txBody>
          <a:bodyPr wrap="square" lIns="0" tIns="0" rIns="0" bIns="0" rtlCol="0" anchor="ctr"/>
          <a:lstStyle/>
          <a:p>
            <a:pPr algn="l" indent="0" marL="0">
              <a:lnSpc>
                <a:spcPct val="110000"/>
              </a:lnSpc>
              <a:buNone/>
            </a:pPr>
            <a:r>
              <a:rPr lang="en-US" sz="1350" dirty="0">
                <a:solidFill>
                  <a:srgbClr val="FFFFFF"/>
                </a:solidFill>
                <a:latin typeface="Calibri" pitchFamily="34" charset="0"/>
                <a:ea typeface="Calibri" pitchFamily="34" charset="-122"/>
                <a:cs typeface="Calibri" pitchFamily="34" charset="-120"/>
              </a:rPr>
              <a:t>Sus aplicaciones en medicina, finanzas, industria y ciberseguridad siguen vigentes, ahora combinadas con aprendizaje automático</a:t>
            </a:r>
            <a:endParaRPr lang="en-US" sz="1350" dirty="0"/>
          </a:p>
        </p:txBody>
      </p:sp>
      <p:sp>
        <p:nvSpPr>
          <p:cNvPr id="15" name="Shape 10"/>
          <p:cNvSpPr/>
          <p:nvPr/>
        </p:nvSpPr>
        <p:spPr>
          <a:xfrm>
            <a:off x="548640" y="3922776"/>
            <a:ext cx="329184" cy="329184"/>
          </a:xfrm>
          <a:prstGeom prst="ellipse">
            <a:avLst/>
          </a:prstGeom>
          <a:solidFill>
            <a:srgbClr val="E0A458"/>
          </a:solidFill>
          <a:ln/>
        </p:spPr>
      </p:sp>
      <p:pic>
        <p:nvPicPr>
          <p:cNvPr id="16" name="Image 3" descr="preencoded.png">    </p:cNvPr>
          <p:cNvPicPr>
            <a:picLocks noChangeAspect="1"/>
          </p:cNvPicPr>
          <p:nvPr/>
        </p:nvPicPr>
        <p:blipFill>
          <a:blip r:embed="rId4"/>
          <a:stretch>
            <a:fillRect/>
          </a:stretch>
        </p:blipFill>
        <p:spPr>
          <a:xfrm>
            <a:off x="601309" y="3975445"/>
            <a:ext cx="223845" cy="223845"/>
          </a:xfrm>
          <a:prstGeom prst="rect">
            <a:avLst/>
          </a:prstGeom>
        </p:spPr>
      </p:pic>
      <p:sp>
        <p:nvSpPr>
          <p:cNvPr id="17" name="Text 11"/>
          <p:cNvSpPr/>
          <p:nvPr/>
        </p:nvSpPr>
        <p:spPr>
          <a:xfrm>
            <a:off x="1051560" y="3877056"/>
            <a:ext cx="7498080" cy="640080"/>
          </a:xfrm>
          <a:prstGeom prst="rect">
            <a:avLst/>
          </a:prstGeom>
          <a:noFill/>
          <a:ln/>
        </p:spPr>
        <p:txBody>
          <a:bodyPr wrap="square" lIns="0" tIns="0" rIns="0" bIns="0" rtlCol="0" anchor="ctr"/>
          <a:lstStyle/>
          <a:p>
            <a:pPr algn="l" indent="0" marL="0">
              <a:lnSpc>
                <a:spcPct val="110000"/>
              </a:lnSpc>
              <a:buNone/>
            </a:pPr>
            <a:r>
              <a:rPr lang="en-US" sz="1350" dirty="0">
                <a:solidFill>
                  <a:srgbClr val="FFFFFF"/>
                </a:solidFill>
                <a:latin typeface="Calibri" pitchFamily="34" charset="0"/>
                <a:ea typeface="Calibri" pitchFamily="34" charset="-122"/>
                <a:cs typeface="Calibri" pitchFamily="34" charset="-120"/>
              </a:rPr>
              <a:t>Entenderlos es clave para comprender la evolución completa de la Inteligencia Artificial</a:t>
            </a:r>
            <a:endParaRPr lang="en-US" sz="1350" dirty="0"/>
          </a:p>
        </p:txBody>
      </p:sp>
      <p:sp>
        <p:nvSpPr>
          <p:cNvPr id="18" name="Text 12"/>
          <p:cNvSpPr/>
          <p:nvPr/>
        </p:nvSpPr>
        <p:spPr>
          <a:xfrm>
            <a:off x="0" y="4709160"/>
            <a:ext cx="9144000" cy="320040"/>
          </a:xfrm>
          <a:prstGeom prst="rect">
            <a:avLst/>
          </a:prstGeom>
          <a:noFill/>
          <a:ln/>
        </p:spPr>
        <p:txBody>
          <a:bodyPr wrap="square" lIns="0" tIns="0" rIns="0" bIns="0" rtlCol="0" anchor="t"/>
          <a:lstStyle/>
          <a:p>
            <a:pPr algn="ctr" indent="0" marL="0">
              <a:buNone/>
            </a:pPr>
            <a:r>
              <a:rPr lang="en-US" sz="1300" i="1" dirty="0">
                <a:solidFill>
                  <a:srgbClr val="9FB1D1"/>
                </a:solidFill>
                <a:latin typeface="Calibri" pitchFamily="34" charset="0"/>
                <a:ea typeface="Calibri" pitchFamily="34" charset="-122"/>
                <a:cs typeface="Calibri" pitchFamily="34" charset="-120"/>
              </a:rPr>
              <a:t>Gracias por su atención.</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Sistemas Expertos</dc:title>
  <dc:subject>PptxGenJS Presentation</dc:subject>
  <dc:creator>Presentación Académica</dc:creator>
  <cp:lastModifiedBy>Presentación Académica</cp:lastModifiedBy>
  <cp:revision>1</cp:revision>
  <dcterms:created xsi:type="dcterms:W3CDTF">2026-06-26T22:21:19Z</dcterms:created>
  <dcterms:modified xsi:type="dcterms:W3CDTF">2026-06-26T22:21:19Z</dcterms:modified>
</cp:coreProperties>
</file>